
<file path=[Content_Types].xml><?xml version="1.0" encoding="utf-8"?>
<Types xmlns="http://schemas.openxmlformats.org/package/2006/content-types">
  <Default Extension="rels" ContentType="application/vnd.openxmlformats-package.relationships+xml"/>
  <Override PartName="/ppt/slideLayouts/slideLayout1.xml" ContentType="application/vnd.openxmlformats-officedocument.presentationml.slideLayout+xml"/>
  <Default Extension="png" ContentType="image/png"/>
  <Default Extension="jpeg" ContentType="image/jpeg"/>
  <Default Extension="xml" ContentType="application/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8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12.xml" ContentType="application/vnd.openxmlformats-officedocument.presentationml.slide+xml"/>
  <Default Extension="bin" ContentType="application/vnd.openxmlformats-officedocument.presentationml.printerSettings"/>
  <Override PartName="/ppt/slides/slide10.xml" ContentType="application/vnd.openxmlformats-officedocument.presentationml.slide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Default Extension="gif" ContentType="image/gif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Layouts/slideLayout3.xml" ContentType="application/vnd.openxmlformats-officedocument.presentationml.slideLayout+xml"/>
  <Override PartName="/ppt/slides/slide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8" r:id="rId6"/>
    <p:sldId id="270" r:id="rId7"/>
    <p:sldId id="260" r:id="rId8"/>
    <p:sldId id="261" r:id="rId9"/>
    <p:sldId id="264" r:id="rId10"/>
    <p:sldId id="266" r:id="rId11"/>
    <p:sldId id="265" r:id="rId12"/>
    <p:sldId id="274" r:id="rId13"/>
    <p:sldId id="271" r:id="rId14"/>
    <p:sldId id="273" r:id="rId15"/>
    <p:sldId id="267" r:id="rId16"/>
    <p:sldId id="27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 snapToObjects="1">
      <p:cViewPr varScale="1">
        <p:scale>
          <a:sx n="106" d="100"/>
          <a:sy n="106" d="100"/>
        </p:scale>
        <p:origin x="-960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printerSettings" Target="printerSettings/printerSettings1.bin"/><Relationship Id="rId1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448CDA3F-6CD5-4246-B8C9-3CF00A2DD4DE}" type="datetimeFigureOut">
              <a:rPr lang="en-US" smtClean="0"/>
              <a:pPr/>
              <a:t>12/2/09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8F62128A-6E6D-2F49-9524-259A2BFED2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48CDA3F-6CD5-4246-B8C9-3CF00A2DD4DE}" type="datetimeFigureOut">
              <a:rPr lang="en-US" smtClean="0"/>
              <a:pPr/>
              <a:t>12/2/09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8F62128A-6E6D-2F49-9524-259A2BFED28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448CDA3F-6CD5-4246-B8C9-3CF00A2DD4DE}" type="datetimeFigureOut">
              <a:rPr lang="en-US" smtClean="0"/>
              <a:pPr/>
              <a:t>12/2/09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8F62128A-6E6D-2F49-9524-259A2BFED2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DA3F-6CD5-4246-B8C9-3CF00A2DD4DE}" type="datetimeFigureOut">
              <a:rPr lang="en-US" smtClean="0"/>
              <a:pPr/>
              <a:t>12/2/09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2128A-6E6D-2F49-9524-259A2BFED28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DA3F-6CD5-4246-B8C9-3CF00A2DD4DE}" type="datetimeFigureOut">
              <a:rPr lang="en-US" smtClean="0"/>
              <a:pPr/>
              <a:t>12/2/09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2128A-6E6D-2F49-9524-259A2BFED28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48CDA3F-6CD5-4246-B8C9-3CF00A2DD4DE}" type="datetimeFigureOut">
              <a:rPr lang="en-US" smtClean="0"/>
              <a:pPr/>
              <a:t>12/2/09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8F62128A-6E6D-2F49-9524-259A2BFED28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DA3F-6CD5-4246-B8C9-3CF00A2DD4DE}" type="datetimeFigureOut">
              <a:rPr lang="en-US" smtClean="0"/>
              <a:pPr/>
              <a:t>12/2/09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2128A-6E6D-2F49-9524-259A2BFED2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448CDA3F-6CD5-4246-B8C9-3CF00A2DD4DE}" type="datetimeFigureOut">
              <a:rPr lang="en-US" smtClean="0"/>
              <a:pPr/>
              <a:t>12/2/09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8F62128A-6E6D-2F49-9524-259A2BFED28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48CDA3F-6CD5-4246-B8C9-3CF00A2DD4DE}" type="datetimeFigureOut">
              <a:rPr lang="en-US" smtClean="0"/>
              <a:pPr/>
              <a:t>12/2/09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8F62128A-6E6D-2F49-9524-259A2BFED28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DA3F-6CD5-4246-B8C9-3CF00A2DD4DE}" type="datetimeFigureOut">
              <a:rPr lang="en-US" smtClean="0"/>
              <a:pPr/>
              <a:t>12/2/09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2128A-6E6D-2F49-9524-259A2BFED2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DA3F-6CD5-4246-B8C9-3CF00A2DD4DE}" type="datetimeFigureOut">
              <a:rPr lang="en-US" smtClean="0"/>
              <a:pPr/>
              <a:t>12/2/09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62128A-6E6D-2F49-9524-259A2BFED28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48CDA3F-6CD5-4246-B8C9-3CF00A2DD4DE}" type="datetimeFigureOut">
              <a:rPr lang="en-US" smtClean="0"/>
              <a:pPr/>
              <a:t>12/2/09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8F62128A-6E6D-2F49-9524-259A2BFED28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score.org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federalreserve.gov/Pubs/oss/oss3/nssbftoc.htm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The Effect of Credit Availability on </a:t>
            </a:r>
            <a:r>
              <a:rPr lang="en-US" smtClean="0"/>
              <a:t>Small Business </a:t>
            </a:r>
            <a:r>
              <a:rPr lang="en-US" dirty="0" smtClean="0"/>
              <a:t>Success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r>
              <a:rPr lang="en-US" dirty="0" smtClean="0"/>
              <a:t>By: James Chiu</a:t>
            </a:r>
          </a:p>
          <a:p>
            <a:r>
              <a:rPr lang="en-US" dirty="0" smtClean="0"/>
              <a:t>Econ 234 – Das</a:t>
            </a:r>
          </a:p>
          <a:p>
            <a:r>
              <a:rPr lang="en-US" dirty="0" smtClean="0"/>
              <a:t>Fall 2009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Table of Contents	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</a:p>
          <a:p>
            <a:r>
              <a:rPr lang="en-US" dirty="0" smtClean="0"/>
              <a:t>Literature Review</a:t>
            </a:r>
          </a:p>
          <a:p>
            <a:r>
              <a:rPr lang="en-US" dirty="0" smtClean="0"/>
              <a:t>Data</a:t>
            </a:r>
          </a:p>
          <a:p>
            <a:r>
              <a:rPr lang="en-US" dirty="0" smtClean="0"/>
              <a:t>Conceptual Framework/Model</a:t>
            </a:r>
          </a:p>
          <a:p>
            <a:r>
              <a:rPr lang="en-US" dirty="0" smtClean="0"/>
              <a:t>Technical Analysis </a:t>
            </a:r>
          </a:p>
          <a:p>
            <a:r>
              <a:rPr lang="en-US" dirty="0" smtClean="0"/>
              <a:t>Future Work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There are approximately 29.6 million small businesses in the United States, which comprise 99.7% of all employer firms in the country</a:t>
            </a:r>
          </a:p>
          <a:p>
            <a:pPr lvl="1"/>
            <a:r>
              <a:rPr lang="en-US" dirty="0" smtClean="0"/>
              <a:t>(</a:t>
            </a:r>
            <a:r>
              <a:rPr lang="en-US" dirty="0" smtClean="0">
                <a:hlinkClick r:id="rId2"/>
              </a:rPr>
              <a:t>www.score.org</a:t>
            </a:r>
            <a:r>
              <a:rPr lang="en-US" dirty="0" smtClean="0"/>
              <a:t>)</a:t>
            </a:r>
          </a:p>
          <a:p>
            <a:r>
              <a:rPr lang="en-US" dirty="0" smtClean="0"/>
              <a:t>When attempting to start or run a small business it is necessary to have a large amount of capital in order to finance such an undertaking. </a:t>
            </a:r>
          </a:p>
          <a:p>
            <a:r>
              <a:rPr lang="en-US" dirty="0" smtClean="0"/>
              <a:t>In my research, I hope to find whether there is any correlation between the sources of this capital in relation to the success of the small business.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Literature Review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Berger, Allen N. (1998). The Economics of Small Business Finance: The Roles of Private Equity and Debt Markets in the Finance Growth Cycle</a:t>
            </a:r>
            <a:r>
              <a:rPr lang="en-US" i="1" dirty="0" smtClean="0"/>
              <a:t>. Journal of Banking and Finance,</a:t>
            </a:r>
            <a:r>
              <a:rPr lang="en-US" dirty="0" smtClean="0"/>
              <a:t> Vol. 22. </a:t>
            </a:r>
          </a:p>
          <a:p>
            <a:r>
              <a:rPr lang="en-US" dirty="0" smtClean="0"/>
              <a:t>Ou, Charles. Williams, Victoria. (2009). Lending to Small Businesses by the Financial Institutions in the United States.</a:t>
            </a:r>
          </a:p>
          <a:p>
            <a:r>
              <a:rPr lang="en-US" dirty="0" smtClean="0"/>
              <a:t>Haynes, George W. Brown, James R. (2009). An Examination of Financial Patterns Using the Survey of Small Business Finances.</a:t>
            </a:r>
          </a:p>
          <a:p>
            <a:r>
              <a:rPr lang="en-US" dirty="0" smtClean="0"/>
              <a:t>Haynes, George W. Brown, James R. (2009). How Strong is the Link Between Internal Finance and Small Firm Growth? Evidence from the Survey of Small Business Finances.</a:t>
            </a:r>
          </a:p>
          <a:p>
            <a:r>
              <a:rPr lang="en-US" dirty="0" smtClean="0"/>
              <a:t>Cole, Rebel A. (2009)Who Needs Credit and Who Gets Credit? Evidence from the Surveys of Small Business Finances.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467600" cy="1143000"/>
          </a:xfrm>
        </p:spPr>
        <p:txBody>
          <a:bodyPr>
            <a:noAutofit/>
          </a:bodyPr>
          <a:lstStyle/>
          <a:p>
            <a:r>
              <a:rPr lang="en-US" sz="2000" dirty="0" smtClean="0"/>
              <a:t>Berger, Allen N. (1998). The Economics of Small Business Finance: The Roles of Private Equity and Debt Markets in the Finance Growth Cycle</a:t>
            </a:r>
            <a:r>
              <a:rPr lang="en-US" sz="2000" i="1" dirty="0" smtClean="0"/>
              <a:t>. 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Firms viewed through a financial growth cycle in which different capital structures are optimal at different points in the cycle.</a:t>
            </a:r>
          </a:p>
          <a:p>
            <a:r>
              <a:rPr lang="en-US" dirty="0" smtClean="0"/>
              <a:t>Capital structure varies with age and firm size</a:t>
            </a:r>
            <a:endParaRPr lang="en-US" dirty="0"/>
          </a:p>
        </p:txBody>
      </p:sp>
      <p:pic>
        <p:nvPicPr>
          <p:cNvPr id="5" name="Picture 4" descr="Screen shot 2009-12-02 at 3.44.32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06158"/>
            <a:ext cx="7467600" cy="27197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George W. Haynes, James R. Brown,</a:t>
            </a:r>
            <a:br>
              <a:rPr lang="en-US" sz="2000" dirty="0" smtClean="0"/>
            </a:br>
            <a:r>
              <a:rPr lang="en-US" sz="2000" dirty="0" smtClean="0"/>
              <a:t>An Examination of Financial Patterns Using the Survey of Small Business Finances</a:t>
            </a:r>
            <a:endParaRPr lang="en-US" sz="2000" dirty="0"/>
          </a:p>
        </p:txBody>
      </p:sp>
      <p:pic>
        <p:nvPicPr>
          <p:cNvPr id="4" name="Content Placeholder 3" descr="Screen shot 2009-12-02 at 9.28.36 AM.png"/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 t="-5887" b="-5887"/>
          <a:stretch>
            <a:fillRect/>
          </a:stretch>
        </p:blipFill>
        <p:spPr>
          <a:xfrm>
            <a:off x="457200" y="1417638"/>
            <a:ext cx="7467600" cy="3763962"/>
          </a:xfrm>
        </p:spPr>
      </p:pic>
      <p:pic>
        <p:nvPicPr>
          <p:cNvPr id="5" name="Picture 4" descr="Screen shot 2009-12-02 at 9.54.44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953000"/>
            <a:ext cx="7391400" cy="11841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2003 Survey of Small Business Finances (SSBF)</a:t>
            </a:r>
            <a:endParaRPr lang="en-US" dirty="0" smtClean="0"/>
          </a:p>
          <a:p>
            <a:r>
              <a:rPr lang="en-US" dirty="0" smtClean="0"/>
              <a:t>Collects information on small businesses (fewer than 500 employees) in the United States</a:t>
            </a:r>
            <a:r>
              <a:rPr lang="en-US" dirty="0" smtClean="0"/>
              <a:t>.</a:t>
            </a:r>
          </a:p>
          <a:p>
            <a:r>
              <a:rPr lang="en-US" smtClean="0"/>
              <a:t>21,200 Observations</a:t>
            </a:r>
            <a:endParaRPr lang="en-US" smtClean="0"/>
          </a:p>
          <a:p>
            <a:r>
              <a:rPr lang="en-US" dirty="0" smtClean="0"/>
              <a:t>Owner characteristics</a:t>
            </a:r>
          </a:p>
          <a:p>
            <a:r>
              <a:rPr lang="en-US" dirty="0" smtClean="0"/>
              <a:t>Firm size</a:t>
            </a:r>
          </a:p>
          <a:p>
            <a:r>
              <a:rPr lang="en-US" dirty="0" smtClean="0"/>
              <a:t>Use of financial services </a:t>
            </a:r>
          </a:p>
          <a:p>
            <a:r>
              <a:rPr lang="en-US" dirty="0" smtClean="0"/>
              <a:t>The income and balance sheets of the firm</a:t>
            </a:r>
          </a:p>
          <a:p>
            <a:endParaRPr lang="en-US" dirty="0" smtClean="0"/>
          </a:p>
          <a:p>
            <a:r>
              <a:rPr lang="en-US" dirty="0" smtClean="0">
                <a:hlinkClick r:id="rId2"/>
              </a:rPr>
              <a:t>http://www.federalreserve.gov/Pubs/oss/oss3/nssbftoc.htm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Conceptual Framework/Model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Linear Regression</a:t>
            </a:r>
          </a:p>
          <a:p>
            <a:r>
              <a:rPr lang="en-US" dirty="0" smtClean="0"/>
              <a:t>Y = β</a:t>
            </a:r>
            <a:r>
              <a:rPr lang="en-US" sz="1600" dirty="0" smtClean="0"/>
              <a:t>0</a:t>
            </a:r>
            <a:r>
              <a:rPr lang="en-US" dirty="0" smtClean="0"/>
              <a:t> + β</a:t>
            </a:r>
            <a:r>
              <a:rPr lang="en-US" sz="1600" dirty="0" smtClean="0"/>
              <a:t>1</a:t>
            </a:r>
            <a:r>
              <a:rPr lang="en-US" dirty="0" smtClean="0"/>
              <a:t>X</a:t>
            </a:r>
            <a:r>
              <a:rPr lang="en-US" sz="1600" dirty="0" smtClean="0"/>
              <a:t>1</a:t>
            </a:r>
            <a:r>
              <a:rPr lang="en-US" dirty="0" smtClean="0"/>
              <a:t> + β</a:t>
            </a:r>
            <a:r>
              <a:rPr lang="en-US" sz="1600" dirty="0" smtClean="0"/>
              <a:t>2</a:t>
            </a:r>
            <a:r>
              <a:rPr lang="en-US" dirty="0" smtClean="0"/>
              <a:t>X</a:t>
            </a:r>
            <a:r>
              <a:rPr lang="en-US" sz="1600" dirty="0" smtClean="0"/>
              <a:t>2</a:t>
            </a:r>
            <a:r>
              <a:rPr lang="en-US" dirty="0" smtClean="0"/>
              <a:t> + β</a:t>
            </a:r>
            <a:r>
              <a:rPr lang="en-US" sz="1600" dirty="0" smtClean="0"/>
              <a:t>3</a:t>
            </a:r>
            <a:r>
              <a:rPr lang="en-US" dirty="0" smtClean="0"/>
              <a:t>X</a:t>
            </a:r>
            <a:r>
              <a:rPr lang="en-US" sz="1600" dirty="0" smtClean="0"/>
              <a:t>3</a:t>
            </a:r>
            <a:r>
              <a:rPr lang="en-US" dirty="0" smtClean="0"/>
              <a:t> +</a:t>
            </a:r>
            <a:r>
              <a:rPr lang="en-US" dirty="0" err="1" smtClean="0"/>
              <a:t>ε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Y = Measure of Small Business Success</a:t>
            </a:r>
          </a:p>
          <a:p>
            <a:pPr lvl="1"/>
            <a:r>
              <a:rPr lang="en-US" dirty="0" smtClean="0"/>
              <a:t>(i.e. Log Sales)</a:t>
            </a:r>
          </a:p>
          <a:p>
            <a:r>
              <a:rPr lang="en-US" dirty="0" smtClean="0"/>
              <a:t>X</a:t>
            </a:r>
            <a:r>
              <a:rPr lang="en-US" sz="1600" dirty="0" smtClean="0"/>
              <a:t>0 </a:t>
            </a:r>
            <a:r>
              <a:rPr lang="en-US" dirty="0" smtClean="0"/>
              <a:t>= Intercept</a:t>
            </a:r>
          </a:p>
          <a:p>
            <a:r>
              <a:rPr lang="en-US" dirty="0" smtClean="0"/>
              <a:t>X</a:t>
            </a:r>
            <a:r>
              <a:rPr lang="en-US" sz="1600" dirty="0" smtClean="0"/>
              <a:t>1</a:t>
            </a:r>
            <a:r>
              <a:rPr lang="en-US" dirty="0" smtClean="0"/>
              <a:t> = Credit Variables</a:t>
            </a:r>
          </a:p>
          <a:p>
            <a:r>
              <a:rPr lang="en-US" dirty="0" smtClean="0"/>
              <a:t>X</a:t>
            </a:r>
            <a:r>
              <a:rPr lang="en-US" sz="1600" dirty="0" smtClean="0"/>
              <a:t>2</a:t>
            </a:r>
            <a:r>
              <a:rPr lang="en-US" dirty="0" smtClean="0"/>
              <a:t> = Owner Characteristics</a:t>
            </a:r>
          </a:p>
          <a:p>
            <a:r>
              <a:rPr lang="en-US" dirty="0" smtClean="0"/>
              <a:t>X</a:t>
            </a:r>
            <a:r>
              <a:rPr lang="en-US" sz="1600" dirty="0" smtClean="0"/>
              <a:t>3</a:t>
            </a:r>
            <a:r>
              <a:rPr lang="en-US" dirty="0" smtClean="0"/>
              <a:t> = Firm Characteristics</a:t>
            </a:r>
          </a:p>
          <a:p>
            <a:r>
              <a:rPr lang="en-US" dirty="0" smtClean="0"/>
              <a:t>ε= Error Term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Credit Variables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873752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Checking</a:t>
            </a:r>
          </a:p>
          <a:p>
            <a:r>
              <a:rPr lang="en-US" dirty="0" smtClean="0"/>
              <a:t>Savings</a:t>
            </a:r>
          </a:p>
          <a:p>
            <a:r>
              <a:rPr lang="en-US" dirty="0" smtClean="0"/>
              <a:t>Owner’s Personal Credit Cards</a:t>
            </a:r>
          </a:p>
          <a:p>
            <a:r>
              <a:rPr lang="en-US" dirty="0" smtClean="0"/>
              <a:t>Business Credit Cards</a:t>
            </a:r>
          </a:p>
          <a:p>
            <a:r>
              <a:rPr lang="en-US" dirty="0" smtClean="0"/>
              <a:t>Any Lines of Credit</a:t>
            </a:r>
          </a:p>
          <a:p>
            <a:r>
              <a:rPr lang="en-US" dirty="0" smtClean="0"/>
              <a:t>Mortgage</a:t>
            </a:r>
          </a:p>
          <a:p>
            <a:r>
              <a:rPr lang="en-US" dirty="0" smtClean="0"/>
              <a:t>Motor Vehicle Loans</a:t>
            </a:r>
          </a:p>
          <a:p>
            <a:r>
              <a:rPr lang="en-US" dirty="0" smtClean="0"/>
              <a:t>Equipment Loans</a:t>
            </a:r>
          </a:p>
          <a:p>
            <a:r>
              <a:rPr lang="en-US" dirty="0" smtClean="0"/>
              <a:t>Capital Leases</a:t>
            </a:r>
          </a:p>
          <a:p>
            <a:r>
              <a:rPr lang="en-US" dirty="0" smtClean="0"/>
              <a:t>Other Loans</a:t>
            </a:r>
          </a:p>
          <a:p>
            <a:r>
              <a:rPr lang="en-US" dirty="0" smtClean="0"/>
              <a:t>Trade Credit</a:t>
            </a:r>
          </a:p>
          <a:p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267200" y="1600200"/>
            <a:ext cx="365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r>
              <a:rPr lang="en-US" sz="2400" dirty="0" smtClean="0"/>
              <a:t>Primary Institution</a:t>
            </a:r>
          </a:p>
          <a:p>
            <a:pPr marL="731520" lvl="1" indent="-274320" defTabSz="91440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dirty="0" smtClean="0"/>
              <a:t>Commercial Bank</a:t>
            </a:r>
          </a:p>
          <a:p>
            <a:pPr marL="731520" lvl="1" indent="-274320" defTabSz="91440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Savings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Bank</a:t>
            </a:r>
          </a:p>
          <a:p>
            <a:pPr marL="731520" lvl="1" indent="-274320" defTabSz="91440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baseline="0" dirty="0" smtClean="0"/>
              <a:t>Savings</a:t>
            </a:r>
            <a:r>
              <a:rPr lang="en-US" sz="2400" dirty="0" smtClean="0"/>
              <a:t> and Loan</a:t>
            </a:r>
          </a:p>
          <a:p>
            <a:pPr marL="731520" lvl="1" indent="-274320" defTabSz="91440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Credit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Union</a:t>
            </a:r>
          </a:p>
          <a:p>
            <a:pPr marL="731520" lvl="1" indent="-274320" defTabSz="91440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baseline="0" dirty="0" smtClean="0"/>
              <a:t>Finance</a:t>
            </a:r>
            <a:r>
              <a:rPr lang="en-US" sz="2400" dirty="0" smtClean="0"/>
              <a:t> Company</a:t>
            </a:r>
          </a:p>
          <a:p>
            <a:pPr marL="731520" lvl="1" indent="-274320" defTabSz="91440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Insurance</a:t>
            </a: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Company</a:t>
            </a:r>
          </a:p>
          <a:p>
            <a:pPr marL="731520" lvl="1" indent="-274320" defTabSz="914400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</a:pPr>
            <a:r>
              <a:rPr lang="en-US" sz="2400" baseline="0" dirty="0" smtClean="0"/>
              <a:t>Brokerage</a:t>
            </a:r>
            <a:r>
              <a:rPr lang="en-US" sz="2400" dirty="0" smtClean="0"/>
              <a:t> Company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Owner 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Courier New"/>
              <a:buChar char="o"/>
            </a:pPr>
            <a:r>
              <a:rPr lang="en-US" dirty="0" smtClean="0"/>
              <a:t>Female</a:t>
            </a:r>
          </a:p>
          <a:p>
            <a:pPr>
              <a:buFont typeface="Courier New"/>
              <a:buChar char="o"/>
            </a:pPr>
            <a:r>
              <a:rPr lang="en-US" dirty="0" smtClean="0"/>
              <a:t>Log Age</a:t>
            </a:r>
          </a:p>
          <a:p>
            <a:pPr>
              <a:buFont typeface="Courier New"/>
              <a:buChar char="o"/>
            </a:pPr>
            <a:r>
              <a:rPr lang="en-US" dirty="0" smtClean="0"/>
              <a:t>Log Experience</a:t>
            </a:r>
          </a:p>
          <a:p>
            <a:pPr>
              <a:buFont typeface="Courier New"/>
              <a:buChar char="o"/>
            </a:pPr>
            <a:r>
              <a:rPr lang="en-US" dirty="0" smtClean="0"/>
              <a:t>Manage</a:t>
            </a:r>
          </a:p>
          <a:p>
            <a:pPr>
              <a:buFont typeface="Courier New"/>
              <a:buChar char="o"/>
            </a:pPr>
            <a:r>
              <a:rPr lang="en-US" dirty="0" smtClean="0"/>
              <a:t>Education</a:t>
            </a:r>
          </a:p>
          <a:p>
            <a:pPr lvl="1"/>
            <a:r>
              <a:rPr lang="en-US" dirty="0" smtClean="0"/>
              <a:t>Less than high school degree</a:t>
            </a:r>
          </a:p>
          <a:p>
            <a:pPr lvl="1"/>
            <a:r>
              <a:rPr lang="en-US" dirty="0" smtClean="0"/>
              <a:t>High school graduate or equivalent (GED)</a:t>
            </a:r>
          </a:p>
          <a:p>
            <a:pPr lvl="1"/>
            <a:r>
              <a:rPr lang="en-US" dirty="0" smtClean="0"/>
              <a:t>Some college but no degree granted</a:t>
            </a:r>
          </a:p>
          <a:p>
            <a:pPr lvl="1"/>
            <a:r>
              <a:rPr lang="en-US" dirty="0" smtClean="0"/>
              <a:t>Associate degree occupational/academic program</a:t>
            </a:r>
          </a:p>
          <a:p>
            <a:pPr lvl="1"/>
            <a:r>
              <a:rPr lang="en-US" dirty="0" smtClean="0"/>
              <a:t>Trade school/vocational program</a:t>
            </a:r>
          </a:p>
          <a:p>
            <a:pPr lvl="1"/>
            <a:r>
              <a:rPr lang="en-US" dirty="0" smtClean="0"/>
              <a:t>College degree (BA, BS, AB, etc.)</a:t>
            </a:r>
          </a:p>
          <a:p>
            <a:pPr lvl="1"/>
            <a:r>
              <a:rPr lang="en-US" dirty="0" smtClean="0"/>
              <a:t>Post graduate degree (MBA,MS,MA,Phd,JD,MD,DDS,etc.)</a:t>
            </a:r>
          </a:p>
          <a:p>
            <a:pPr>
              <a:buFont typeface="Courier New"/>
              <a:buChar char="o"/>
            </a:pPr>
            <a:r>
              <a:rPr lang="en-US" dirty="0" smtClean="0"/>
              <a:t>Hispanic</a:t>
            </a:r>
          </a:p>
          <a:p>
            <a:pPr>
              <a:buFont typeface="Courier New"/>
              <a:buChar char="o"/>
            </a:pPr>
            <a:r>
              <a:rPr lang="en-US" dirty="0" smtClean="0"/>
              <a:t>White</a:t>
            </a:r>
          </a:p>
          <a:p>
            <a:pPr>
              <a:buFont typeface="Courier New"/>
              <a:buChar char="o"/>
            </a:pPr>
            <a:r>
              <a:rPr lang="en-US" dirty="0" smtClean="0"/>
              <a:t>Black</a:t>
            </a:r>
          </a:p>
          <a:p>
            <a:pPr>
              <a:buFont typeface="Courier New"/>
              <a:buChar char="o"/>
            </a:pPr>
            <a:r>
              <a:rPr lang="en-US" dirty="0" smtClean="0"/>
              <a:t>Asian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Firm Characteristics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Log Firm Age</a:t>
            </a:r>
          </a:p>
          <a:p>
            <a:r>
              <a:rPr lang="en-US" dirty="0" smtClean="0"/>
              <a:t>Log Total Employees</a:t>
            </a:r>
          </a:p>
          <a:p>
            <a:r>
              <a:rPr lang="en-US" dirty="0" smtClean="0"/>
              <a:t>Credit Risk</a:t>
            </a:r>
          </a:p>
          <a:p>
            <a:pPr lvl="1"/>
            <a:r>
              <a:rPr lang="en-US" dirty="0" smtClean="0"/>
              <a:t>Dun and Bradstreet Rank Credit Score - 1 most risky; 6 least risky</a:t>
            </a:r>
          </a:p>
          <a:p>
            <a:pPr lvl="1"/>
            <a:r>
              <a:rPr lang="en-US" dirty="0" smtClean="0"/>
              <a:t>1: 0-10</a:t>
            </a:r>
          </a:p>
          <a:p>
            <a:pPr lvl="1"/>
            <a:r>
              <a:rPr lang="en-US" dirty="0" smtClean="0"/>
              <a:t>2: 11-25</a:t>
            </a:r>
          </a:p>
          <a:p>
            <a:pPr lvl="1"/>
            <a:r>
              <a:rPr lang="en-US" dirty="0" smtClean="0"/>
              <a:t>3: 26-50</a:t>
            </a:r>
          </a:p>
          <a:p>
            <a:pPr lvl="1"/>
            <a:r>
              <a:rPr lang="en-US" dirty="0" smtClean="0"/>
              <a:t>4: 51-75</a:t>
            </a:r>
          </a:p>
          <a:p>
            <a:pPr lvl="1"/>
            <a:r>
              <a:rPr lang="en-US" dirty="0" smtClean="0"/>
              <a:t>5: 76-90</a:t>
            </a:r>
          </a:p>
          <a:p>
            <a:pPr lvl="1"/>
            <a:r>
              <a:rPr lang="en-US" dirty="0" smtClean="0"/>
              <a:t>6: 91-100</a:t>
            </a:r>
          </a:p>
          <a:p>
            <a:r>
              <a:rPr lang="en-US" dirty="0" smtClean="0"/>
              <a:t>Bankruptcy</a:t>
            </a:r>
          </a:p>
          <a:p>
            <a:r>
              <a:rPr lang="en-US" dirty="0" smtClean="0"/>
              <a:t>Metropolitan Location</a:t>
            </a:r>
          </a:p>
          <a:p>
            <a:pPr lvl="1"/>
            <a:r>
              <a:rPr lang="en-US" dirty="0" smtClean="0"/>
              <a:t>Urban </a:t>
            </a:r>
          </a:p>
          <a:p>
            <a:pPr lvl="1"/>
            <a:r>
              <a:rPr lang="en-US" dirty="0" smtClean="0"/>
              <a:t>Rural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shot 2009-12-02 at 12.14.23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0"/>
            <a:ext cx="76961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creen shot 2009-12-02 at 12.08.04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4800"/>
            <a:ext cx="8001000" cy="5410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 shot 2009-12-02 at 12.05.32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0"/>
            <a:ext cx="7620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Work for Paper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Remove Variables to measure how much each variable of credit effects the R</a:t>
            </a:r>
            <a:r>
              <a:rPr lang="en-US" baseline="30000" dirty="0" smtClean="0"/>
              <a:t>2</a:t>
            </a:r>
          </a:p>
          <a:p>
            <a:r>
              <a:rPr lang="en-US" dirty="0" smtClean="0"/>
              <a:t>Decomposition</a:t>
            </a:r>
          </a:p>
          <a:p>
            <a:pPr lvl="1"/>
            <a:r>
              <a:rPr lang="en-US" dirty="0" smtClean="0"/>
              <a:t>Break Down by Industry</a:t>
            </a:r>
          </a:p>
          <a:p>
            <a:pPr lvl="2"/>
            <a:r>
              <a:rPr lang="en-US" dirty="0" smtClean="0"/>
              <a:t>Account for Seasonal Effects</a:t>
            </a:r>
          </a:p>
          <a:p>
            <a:pPr lvl="1"/>
            <a:r>
              <a:rPr lang="en-US" dirty="0" smtClean="0"/>
              <a:t>Separate by Firm Size</a:t>
            </a:r>
          </a:p>
          <a:p>
            <a:pPr lvl="2"/>
            <a:r>
              <a:rPr lang="en-US" dirty="0" smtClean="0"/>
              <a:t>Account for Business Growth Cycle 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Questions/Comments?</a:t>
            </a:r>
            <a:endParaRPr lang="en-US" dirty="0"/>
          </a:p>
        </p:txBody>
      </p:sp>
      <p:pic>
        <p:nvPicPr>
          <p:cNvPr id="6" name="Content Placeholder 5" descr="Peanuts.gif"/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 t="-93060" b="-93060"/>
          <a:stretch>
            <a:fillRect/>
          </a:stretch>
        </p:blipFill>
        <p:spPr/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Oriel.thmx</Template>
  <TotalTime>2898</TotalTime>
  <Words>682</Words>
  <Application>Microsoft Macintosh PowerPoint</Application>
  <PresentationFormat>On-screen Show (4:3)</PresentationFormat>
  <Paragraphs>110</Paragraphs>
  <Slides>16</Slides>
  <Notes>0</Notes>
  <HiddenSlides>0</HiddenSlides>
  <MMClips>0</MMClips>
  <ScaleCrop>false</ScaleCrop>
  <HeadingPairs>
    <vt:vector size="4" baseType="variant">
      <vt:variant>
        <vt:lpstr>Design Template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Oriel</vt:lpstr>
      <vt:lpstr>The Effect of Credit Availability on Small Business Success</vt:lpstr>
      <vt:lpstr>Table of Contents </vt:lpstr>
      <vt:lpstr>Introduction</vt:lpstr>
      <vt:lpstr>Literature Review</vt:lpstr>
      <vt:lpstr>Berger, Allen N. (1998). The Economics of Small Business Finance: The Roles of Private Equity and Debt Markets in the Finance Growth Cycle. </vt:lpstr>
      <vt:lpstr>  George W. Haynes, James R. Brown, An Examination of Financial Patterns Using the Survey of Small Business Finances</vt:lpstr>
      <vt:lpstr>Data</vt:lpstr>
      <vt:lpstr>Conceptual Framework/Model</vt:lpstr>
      <vt:lpstr>Credit Variables </vt:lpstr>
      <vt:lpstr>Owner Characteristics</vt:lpstr>
      <vt:lpstr>Firm Characteristics</vt:lpstr>
      <vt:lpstr>Slide 12</vt:lpstr>
      <vt:lpstr>Slide 13</vt:lpstr>
      <vt:lpstr>Slide 14</vt:lpstr>
      <vt:lpstr>Future Work for Paper</vt:lpstr>
      <vt:lpstr>Questions/Comments?</vt:lpstr>
    </vt:vector>
  </TitlesOfParts>
  <Company>UCSC Student</Company>
  <LinksUpToDate>false</LinksUpToDate>
  <SharedDoc>false</SharedDoc>
  <HyperlinksChanged>false</HyperlinksChanged>
  <AppVersion>12.0256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Effect of Credit Availability on Small Business Success</dc:title>
  <dc:creator>JC</dc:creator>
  <cp:lastModifiedBy>JC</cp:lastModifiedBy>
  <cp:revision>19</cp:revision>
  <dcterms:created xsi:type="dcterms:W3CDTF">2009-12-02T21:12:14Z</dcterms:created>
  <dcterms:modified xsi:type="dcterms:W3CDTF">2009-12-02T21:41:18Z</dcterms:modified>
</cp:coreProperties>
</file>