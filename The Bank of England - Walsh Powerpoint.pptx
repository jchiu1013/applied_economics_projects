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rawings/drawing1.xml" ContentType="application/vnd.openxmlformats-officedocument.drawingml.chartshape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9" r:id="rId4"/>
    <p:sldId id="260" r:id="rId5"/>
    <p:sldId id="274" r:id="rId6"/>
    <p:sldId id="275" r:id="rId7"/>
    <p:sldId id="276" r:id="rId8"/>
    <p:sldId id="300" r:id="rId9"/>
    <p:sldId id="261" r:id="rId10"/>
    <p:sldId id="262" r:id="rId11"/>
    <p:sldId id="301" r:id="rId12"/>
    <p:sldId id="263" r:id="rId13"/>
    <p:sldId id="264" r:id="rId14"/>
    <p:sldId id="265" r:id="rId15"/>
    <p:sldId id="266" r:id="rId16"/>
    <p:sldId id="267" r:id="rId17"/>
    <p:sldId id="269" r:id="rId18"/>
    <p:sldId id="302" r:id="rId19"/>
    <p:sldId id="303" r:id="rId20"/>
    <p:sldId id="304" r:id="rId21"/>
    <p:sldId id="271" r:id="rId22"/>
    <p:sldId id="272" r:id="rId23"/>
    <p:sldId id="273" r:id="rId24"/>
    <p:sldId id="277" r:id="rId25"/>
    <p:sldId id="278" r:id="rId26"/>
    <p:sldId id="279" r:id="rId27"/>
    <p:sldId id="280" r:id="rId28"/>
    <p:sldId id="283" r:id="rId29"/>
    <p:sldId id="306" r:id="rId30"/>
    <p:sldId id="296" r:id="rId31"/>
    <p:sldId id="294" r:id="rId32"/>
    <p:sldId id="307" r:id="rId33"/>
    <p:sldId id="297" r:id="rId34"/>
    <p:sldId id="310" r:id="rId35"/>
    <p:sldId id="309" r:id="rId36"/>
    <p:sldId id="308" r:id="rId37"/>
    <p:sldId id="288" r:id="rId38"/>
    <p:sldId id="286" r:id="rId39"/>
    <p:sldId id="287" r:id="rId40"/>
    <p:sldId id="292" r:id="rId41"/>
    <p:sldId id="299" r:id="rId42"/>
    <p:sldId id="293" r:id="rId43"/>
    <p:sldId id="298" r:id="rId44"/>
    <p:sldId id="305" r:id="rId45"/>
    <p:sldId id="290" r:id="rId46"/>
    <p:sldId id="291" r:id="rId47"/>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660" autoAdjust="0"/>
  </p:normalViewPr>
  <p:slideViewPr>
    <p:cSldViewPr snapToObjects="1">
      <p:cViewPr varScale="1">
        <p:scale>
          <a:sx n="104" d="100"/>
          <a:sy n="104" d="100"/>
        </p:scale>
        <p:origin x="-174" y="-90"/>
      </p:cViewPr>
      <p:guideLst>
        <p:guide orient="horz" pos="2160"/>
        <p:guide pos="2880"/>
      </p:guideLst>
    </p:cSldViewPr>
  </p:slideViewPr>
  <p:outlineViewPr>
    <p:cViewPr>
      <p:scale>
        <a:sx n="33" d="100"/>
        <a:sy n="33" d="100"/>
      </p:scale>
      <p:origin x="0" y="16984"/>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nijozefczyk:Desktop:UK%20project.xlsx"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Macintosh%20HD:Users:nijozefczyk:Desktop:UK%20projec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manualLayout>
          <c:layoutTarget val="inner"/>
          <c:xMode val="edge"/>
          <c:yMode val="edge"/>
          <c:x val="8.1221375424402331E-2"/>
          <c:y val="5.0925925925925937E-2"/>
          <c:w val="0.72340298345734233"/>
          <c:h val="0.89814814814814847"/>
        </c:manualLayout>
      </c:layout>
      <c:scatterChart>
        <c:scatterStyle val="smoothMarker"/>
        <c:ser>
          <c:idx val="0"/>
          <c:order val="0"/>
          <c:tx>
            <c:strRef>
              <c:f>Sheet1!$B$1</c:f>
              <c:strCache>
                <c:ptCount val="1"/>
                <c:pt idx="0">
                  <c:v>Inflation</c:v>
                </c:pt>
              </c:strCache>
            </c:strRef>
          </c:tx>
          <c:marker>
            <c:symbol val="none"/>
          </c:marker>
          <c:xVal>
            <c:strRef>
              <c:f>Sheet1!$A$2:$A$82</c:f>
              <c:strCache>
                <c:ptCount val="81"/>
                <c:pt idx="0">
                  <c:v>1989 Q1</c:v>
                </c:pt>
                <c:pt idx="1">
                  <c:v>1989 Q2</c:v>
                </c:pt>
                <c:pt idx="2">
                  <c:v>1989 Q3</c:v>
                </c:pt>
                <c:pt idx="3">
                  <c:v>1989 Q4</c:v>
                </c:pt>
                <c:pt idx="4">
                  <c:v>1990 Q1</c:v>
                </c:pt>
                <c:pt idx="5">
                  <c:v>1990 Q2</c:v>
                </c:pt>
                <c:pt idx="6">
                  <c:v>1990 Q3</c:v>
                </c:pt>
                <c:pt idx="7">
                  <c:v>1990 Q4</c:v>
                </c:pt>
                <c:pt idx="8">
                  <c:v>1991 Q1</c:v>
                </c:pt>
                <c:pt idx="9">
                  <c:v>1991 Q2</c:v>
                </c:pt>
                <c:pt idx="10">
                  <c:v>1991 Q3</c:v>
                </c:pt>
                <c:pt idx="11">
                  <c:v>1991 Q4</c:v>
                </c:pt>
                <c:pt idx="12">
                  <c:v>1992 Q1</c:v>
                </c:pt>
                <c:pt idx="13">
                  <c:v>1992 Q2</c:v>
                </c:pt>
                <c:pt idx="14">
                  <c:v>1992 Q3</c:v>
                </c:pt>
                <c:pt idx="15">
                  <c:v>1992 Q4</c:v>
                </c:pt>
                <c:pt idx="16">
                  <c:v>1993 Q1</c:v>
                </c:pt>
                <c:pt idx="17">
                  <c:v>1993 Q2</c:v>
                </c:pt>
                <c:pt idx="18">
                  <c:v>1993 Q3</c:v>
                </c:pt>
                <c:pt idx="19">
                  <c:v>1993 Q4</c:v>
                </c:pt>
                <c:pt idx="20">
                  <c:v>1994 Q1</c:v>
                </c:pt>
                <c:pt idx="21">
                  <c:v>1994 Q2</c:v>
                </c:pt>
                <c:pt idx="22">
                  <c:v>1994 Q3</c:v>
                </c:pt>
                <c:pt idx="23">
                  <c:v>1994 Q4</c:v>
                </c:pt>
                <c:pt idx="24">
                  <c:v>1995 Q1</c:v>
                </c:pt>
                <c:pt idx="25">
                  <c:v>1995 Q2</c:v>
                </c:pt>
                <c:pt idx="26">
                  <c:v>1995 Q3</c:v>
                </c:pt>
                <c:pt idx="27">
                  <c:v>1995 Q4</c:v>
                </c:pt>
                <c:pt idx="28">
                  <c:v>1996 Q1</c:v>
                </c:pt>
                <c:pt idx="29">
                  <c:v>1996 Q2</c:v>
                </c:pt>
                <c:pt idx="30">
                  <c:v>1996 Q3</c:v>
                </c:pt>
                <c:pt idx="31">
                  <c:v>1996 Q4</c:v>
                </c:pt>
                <c:pt idx="32">
                  <c:v>1997 Q1</c:v>
                </c:pt>
                <c:pt idx="33">
                  <c:v>1997 Q2</c:v>
                </c:pt>
                <c:pt idx="34">
                  <c:v>1997 Q3</c:v>
                </c:pt>
                <c:pt idx="35">
                  <c:v>1997 Q4</c:v>
                </c:pt>
                <c:pt idx="36">
                  <c:v>1998 Q1</c:v>
                </c:pt>
                <c:pt idx="37">
                  <c:v>1998 Q2</c:v>
                </c:pt>
                <c:pt idx="38">
                  <c:v>1998 Q3</c:v>
                </c:pt>
                <c:pt idx="39">
                  <c:v>1998 Q4</c:v>
                </c:pt>
                <c:pt idx="40">
                  <c:v>1999 Q1</c:v>
                </c:pt>
                <c:pt idx="41">
                  <c:v>1999 Q2</c:v>
                </c:pt>
                <c:pt idx="42">
                  <c:v>1999 Q3</c:v>
                </c:pt>
                <c:pt idx="43">
                  <c:v>1999 Q4</c:v>
                </c:pt>
                <c:pt idx="44">
                  <c:v>2000 Q1</c:v>
                </c:pt>
                <c:pt idx="45">
                  <c:v>2000 Q2</c:v>
                </c:pt>
                <c:pt idx="46">
                  <c:v>2000 Q3</c:v>
                </c:pt>
                <c:pt idx="47">
                  <c:v>2000 Q4</c:v>
                </c:pt>
                <c:pt idx="48">
                  <c:v>2001 Q1</c:v>
                </c:pt>
                <c:pt idx="49">
                  <c:v>2001 Q2</c:v>
                </c:pt>
                <c:pt idx="50">
                  <c:v>2001 Q3</c:v>
                </c:pt>
                <c:pt idx="51">
                  <c:v>2001 Q4</c:v>
                </c:pt>
                <c:pt idx="52">
                  <c:v>2002 Q1</c:v>
                </c:pt>
                <c:pt idx="53">
                  <c:v>2002 Q2</c:v>
                </c:pt>
                <c:pt idx="54">
                  <c:v>2002 Q3</c:v>
                </c:pt>
                <c:pt idx="55">
                  <c:v>2002 Q4</c:v>
                </c:pt>
                <c:pt idx="56">
                  <c:v>2003 Q1</c:v>
                </c:pt>
                <c:pt idx="57">
                  <c:v>2003 Q2</c:v>
                </c:pt>
                <c:pt idx="58">
                  <c:v>2003 Q3</c:v>
                </c:pt>
                <c:pt idx="59">
                  <c:v>2003 Q4</c:v>
                </c:pt>
                <c:pt idx="60">
                  <c:v>2004 Q1</c:v>
                </c:pt>
                <c:pt idx="61">
                  <c:v>2004 Q2</c:v>
                </c:pt>
                <c:pt idx="62">
                  <c:v>2004 Q3</c:v>
                </c:pt>
                <c:pt idx="63">
                  <c:v>2004 Q4</c:v>
                </c:pt>
                <c:pt idx="64">
                  <c:v>2005 Q1</c:v>
                </c:pt>
                <c:pt idx="65">
                  <c:v>2005 Q2</c:v>
                </c:pt>
                <c:pt idx="66">
                  <c:v>2005 Q3</c:v>
                </c:pt>
                <c:pt idx="67">
                  <c:v>2005 Q4</c:v>
                </c:pt>
                <c:pt idx="68">
                  <c:v>2006 Q1</c:v>
                </c:pt>
                <c:pt idx="69">
                  <c:v>2006 Q2</c:v>
                </c:pt>
                <c:pt idx="70">
                  <c:v>2006 Q3</c:v>
                </c:pt>
                <c:pt idx="71">
                  <c:v>2006 Q4</c:v>
                </c:pt>
                <c:pt idx="72">
                  <c:v>2007 Q1</c:v>
                </c:pt>
                <c:pt idx="73">
                  <c:v>2007 Q2</c:v>
                </c:pt>
                <c:pt idx="74">
                  <c:v>2007 Q3</c:v>
                </c:pt>
                <c:pt idx="75">
                  <c:v>2007 Q4</c:v>
                </c:pt>
                <c:pt idx="76">
                  <c:v>2008 Q1</c:v>
                </c:pt>
                <c:pt idx="77">
                  <c:v>2008 Q2</c:v>
                </c:pt>
                <c:pt idx="78">
                  <c:v>2008 Q3</c:v>
                </c:pt>
                <c:pt idx="79">
                  <c:v>2008 Q4</c:v>
                </c:pt>
                <c:pt idx="80">
                  <c:v>2009 Q1</c:v>
                </c:pt>
              </c:strCache>
            </c:strRef>
          </c:xVal>
          <c:yVal>
            <c:numRef>
              <c:f>Sheet1!$B$2:$B$82</c:f>
              <c:numCache>
                <c:formatCode>General</c:formatCode>
                <c:ptCount val="81"/>
                <c:pt idx="0">
                  <c:v>5</c:v>
                </c:pt>
                <c:pt idx="1">
                  <c:v>5.3</c:v>
                </c:pt>
                <c:pt idx="2">
                  <c:v>5.0999999999999996</c:v>
                </c:pt>
                <c:pt idx="3">
                  <c:v>5.5</c:v>
                </c:pt>
                <c:pt idx="4">
                  <c:v>5.9</c:v>
                </c:pt>
                <c:pt idx="5">
                  <c:v>6.7</c:v>
                </c:pt>
                <c:pt idx="6">
                  <c:v>7.6</c:v>
                </c:pt>
                <c:pt idx="7">
                  <c:v>7.9</c:v>
                </c:pt>
                <c:pt idx="8">
                  <c:v>7</c:v>
                </c:pt>
                <c:pt idx="9">
                  <c:v>8.4</c:v>
                </c:pt>
                <c:pt idx="10">
                  <c:v>7.7</c:v>
                </c:pt>
                <c:pt idx="11">
                  <c:v>7</c:v>
                </c:pt>
                <c:pt idx="12">
                  <c:v>7</c:v>
                </c:pt>
                <c:pt idx="13">
                  <c:v>4.3</c:v>
                </c:pt>
                <c:pt idx="14">
                  <c:v>3.3</c:v>
                </c:pt>
                <c:pt idx="15">
                  <c:v>2.7</c:v>
                </c:pt>
                <c:pt idx="16">
                  <c:v>2.4</c:v>
                </c:pt>
                <c:pt idx="17">
                  <c:v>2.4</c:v>
                </c:pt>
                <c:pt idx="18">
                  <c:v>2.8</c:v>
                </c:pt>
                <c:pt idx="19">
                  <c:v>2.4</c:v>
                </c:pt>
                <c:pt idx="20">
                  <c:v>2.5</c:v>
                </c:pt>
                <c:pt idx="21">
                  <c:v>2</c:v>
                </c:pt>
                <c:pt idx="22">
                  <c:v>1.7000000000000006</c:v>
                </c:pt>
                <c:pt idx="23">
                  <c:v>1.8</c:v>
                </c:pt>
                <c:pt idx="24">
                  <c:v>2.5</c:v>
                </c:pt>
                <c:pt idx="25">
                  <c:v>2.4</c:v>
                </c:pt>
                <c:pt idx="26">
                  <c:v>2.8</c:v>
                </c:pt>
                <c:pt idx="27">
                  <c:v>2.9</c:v>
                </c:pt>
                <c:pt idx="28">
                  <c:v>2.7</c:v>
                </c:pt>
                <c:pt idx="29">
                  <c:v>2.4</c:v>
                </c:pt>
                <c:pt idx="30">
                  <c:v>2.2999999999999998</c:v>
                </c:pt>
                <c:pt idx="31">
                  <c:v>2.5</c:v>
                </c:pt>
                <c:pt idx="32">
                  <c:v>1.9000000000000001</c:v>
                </c:pt>
                <c:pt idx="33">
                  <c:v>1.6</c:v>
                </c:pt>
                <c:pt idx="34">
                  <c:v>1.9000000000000001</c:v>
                </c:pt>
                <c:pt idx="35">
                  <c:v>1.8</c:v>
                </c:pt>
                <c:pt idx="36">
                  <c:v>1.6</c:v>
                </c:pt>
                <c:pt idx="37">
                  <c:v>1.8</c:v>
                </c:pt>
                <c:pt idx="38">
                  <c:v>1.4</c:v>
                </c:pt>
                <c:pt idx="39">
                  <c:v>1.4</c:v>
                </c:pt>
                <c:pt idx="40">
                  <c:v>1.6</c:v>
                </c:pt>
                <c:pt idx="41">
                  <c:v>1.4</c:v>
                </c:pt>
                <c:pt idx="42">
                  <c:v>1.2</c:v>
                </c:pt>
                <c:pt idx="43">
                  <c:v>1.1000000000000001</c:v>
                </c:pt>
                <c:pt idx="44">
                  <c:v>0.8</c:v>
                </c:pt>
                <c:pt idx="45">
                  <c:v>0.60000000000000064</c:v>
                </c:pt>
                <c:pt idx="46">
                  <c:v>0.8</c:v>
                </c:pt>
                <c:pt idx="47">
                  <c:v>1</c:v>
                </c:pt>
                <c:pt idx="48">
                  <c:v>0.9</c:v>
                </c:pt>
                <c:pt idx="49">
                  <c:v>1.5</c:v>
                </c:pt>
                <c:pt idx="50">
                  <c:v>1.5</c:v>
                </c:pt>
                <c:pt idx="51">
                  <c:v>1</c:v>
                </c:pt>
                <c:pt idx="52">
                  <c:v>1.5</c:v>
                </c:pt>
                <c:pt idx="53">
                  <c:v>0.9</c:v>
                </c:pt>
                <c:pt idx="54">
                  <c:v>1</c:v>
                </c:pt>
                <c:pt idx="55">
                  <c:v>1.5</c:v>
                </c:pt>
                <c:pt idx="56">
                  <c:v>1.5</c:v>
                </c:pt>
                <c:pt idx="57">
                  <c:v>1.3</c:v>
                </c:pt>
                <c:pt idx="58">
                  <c:v>1.4</c:v>
                </c:pt>
                <c:pt idx="59">
                  <c:v>1.3</c:v>
                </c:pt>
                <c:pt idx="60">
                  <c:v>1.3</c:v>
                </c:pt>
                <c:pt idx="61">
                  <c:v>1.4</c:v>
                </c:pt>
                <c:pt idx="62">
                  <c:v>1.3</c:v>
                </c:pt>
                <c:pt idx="63">
                  <c:v>1.4</c:v>
                </c:pt>
                <c:pt idx="64">
                  <c:v>1.7000000000000006</c:v>
                </c:pt>
                <c:pt idx="65">
                  <c:v>2</c:v>
                </c:pt>
                <c:pt idx="66">
                  <c:v>2.4</c:v>
                </c:pt>
                <c:pt idx="67">
                  <c:v>2.1</c:v>
                </c:pt>
                <c:pt idx="68">
                  <c:v>1.9000000000000001</c:v>
                </c:pt>
                <c:pt idx="69">
                  <c:v>2.2999999999999998</c:v>
                </c:pt>
                <c:pt idx="70">
                  <c:v>2.4</c:v>
                </c:pt>
                <c:pt idx="71">
                  <c:v>2.7</c:v>
                </c:pt>
                <c:pt idx="72">
                  <c:v>2.9</c:v>
                </c:pt>
                <c:pt idx="73">
                  <c:v>2.6</c:v>
                </c:pt>
                <c:pt idx="74">
                  <c:v>1.8</c:v>
                </c:pt>
                <c:pt idx="75">
                  <c:v>2.1</c:v>
                </c:pt>
                <c:pt idx="76">
                  <c:v>2.4</c:v>
                </c:pt>
                <c:pt idx="77">
                  <c:v>3.4</c:v>
                </c:pt>
                <c:pt idx="78">
                  <c:v>4.8</c:v>
                </c:pt>
                <c:pt idx="79">
                  <c:v>3.9</c:v>
                </c:pt>
              </c:numCache>
            </c:numRef>
          </c:yVal>
          <c:smooth val="1"/>
        </c:ser>
        <c:ser>
          <c:idx val="1"/>
          <c:order val="1"/>
          <c:tx>
            <c:strRef>
              <c:f>Sheet1!$C$1</c:f>
              <c:strCache>
                <c:ptCount val="1"/>
                <c:pt idx="0">
                  <c:v>Bank rate</c:v>
                </c:pt>
              </c:strCache>
            </c:strRef>
          </c:tx>
          <c:marker>
            <c:symbol val="none"/>
          </c:marker>
          <c:xVal>
            <c:strRef>
              <c:f>Sheet1!$A$2:$A$82</c:f>
              <c:strCache>
                <c:ptCount val="81"/>
                <c:pt idx="0">
                  <c:v>1989 Q1</c:v>
                </c:pt>
                <c:pt idx="1">
                  <c:v>1989 Q2</c:v>
                </c:pt>
                <c:pt idx="2">
                  <c:v>1989 Q3</c:v>
                </c:pt>
                <c:pt idx="3">
                  <c:v>1989 Q4</c:v>
                </c:pt>
                <c:pt idx="4">
                  <c:v>1990 Q1</c:v>
                </c:pt>
                <c:pt idx="5">
                  <c:v>1990 Q2</c:v>
                </c:pt>
                <c:pt idx="6">
                  <c:v>1990 Q3</c:v>
                </c:pt>
                <c:pt idx="7">
                  <c:v>1990 Q4</c:v>
                </c:pt>
                <c:pt idx="8">
                  <c:v>1991 Q1</c:v>
                </c:pt>
                <c:pt idx="9">
                  <c:v>1991 Q2</c:v>
                </c:pt>
                <c:pt idx="10">
                  <c:v>1991 Q3</c:v>
                </c:pt>
                <c:pt idx="11">
                  <c:v>1991 Q4</c:v>
                </c:pt>
                <c:pt idx="12">
                  <c:v>1992 Q1</c:v>
                </c:pt>
                <c:pt idx="13">
                  <c:v>1992 Q2</c:v>
                </c:pt>
                <c:pt idx="14">
                  <c:v>1992 Q3</c:v>
                </c:pt>
                <c:pt idx="15">
                  <c:v>1992 Q4</c:v>
                </c:pt>
                <c:pt idx="16">
                  <c:v>1993 Q1</c:v>
                </c:pt>
                <c:pt idx="17">
                  <c:v>1993 Q2</c:v>
                </c:pt>
                <c:pt idx="18">
                  <c:v>1993 Q3</c:v>
                </c:pt>
                <c:pt idx="19">
                  <c:v>1993 Q4</c:v>
                </c:pt>
                <c:pt idx="20">
                  <c:v>1994 Q1</c:v>
                </c:pt>
                <c:pt idx="21">
                  <c:v>1994 Q2</c:v>
                </c:pt>
                <c:pt idx="22">
                  <c:v>1994 Q3</c:v>
                </c:pt>
                <c:pt idx="23">
                  <c:v>1994 Q4</c:v>
                </c:pt>
                <c:pt idx="24">
                  <c:v>1995 Q1</c:v>
                </c:pt>
                <c:pt idx="25">
                  <c:v>1995 Q2</c:v>
                </c:pt>
                <c:pt idx="26">
                  <c:v>1995 Q3</c:v>
                </c:pt>
                <c:pt idx="27">
                  <c:v>1995 Q4</c:v>
                </c:pt>
                <c:pt idx="28">
                  <c:v>1996 Q1</c:v>
                </c:pt>
                <c:pt idx="29">
                  <c:v>1996 Q2</c:v>
                </c:pt>
                <c:pt idx="30">
                  <c:v>1996 Q3</c:v>
                </c:pt>
                <c:pt idx="31">
                  <c:v>1996 Q4</c:v>
                </c:pt>
                <c:pt idx="32">
                  <c:v>1997 Q1</c:v>
                </c:pt>
                <c:pt idx="33">
                  <c:v>1997 Q2</c:v>
                </c:pt>
                <c:pt idx="34">
                  <c:v>1997 Q3</c:v>
                </c:pt>
                <c:pt idx="35">
                  <c:v>1997 Q4</c:v>
                </c:pt>
                <c:pt idx="36">
                  <c:v>1998 Q1</c:v>
                </c:pt>
                <c:pt idx="37">
                  <c:v>1998 Q2</c:v>
                </c:pt>
                <c:pt idx="38">
                  <c:v>1998 Q3</c:v>
                </c:pt>
                <c:pt idx="39">
                  <c:v>1998 Q4</c:v>
                </c:pt>
                <c:pt idx="40">
                  <c:v>1999 Q1</c:v>
                </c:pt>
                <c:pt idx="41">
                  <c:v>1999 Q2</c:v>
                </c:pt>
                <c:pt idx="42">
                  <c:v>1999 Q3</c:v>
                </c:pt>
                <c:pt idx="43">
                  <c:v>1999 Q4</c:v>
                </c:pt>
                <c:pt idx="44">
                  <c:v>2000 Q1</c:v>
                </c:pt>
                <c:pt idx="45">
                  <c:v>2000 Q2</c:v>
                </c:pt>
                <c:pt idx="46">
                  <c:v>2000 Q3</c:v>
                </c:pt>
                <c:pt idx="47">
                  <c:v>2000 Q4</c:v>
                </c:pt>
                <c:pt idx="48">
                  <c:v>2001 Q1</c:v>
                </c:pt>
                <c:pt idx="49">
                  <c:v>2001 Q2</c:v>
                </c:pt>
                <c:pt idx="50">
                  <c:v>2001 Q3</c:v>
                </c:pt>
                <c:pt idx="51">
                  <c:v>2001 Q4</c:v>
                </c:pt>
                <c:pt idx="52">
                  <c:v>2002 Q1</c:v>
                </c:pt>
                <c:pt idx="53">
                  <c:v>2002 Q2</c:v>
                </c:pt>
                <c:pt idx="54">
                  <c:v>2002 Q3</c:v>
                </c:pt>
                <c:pt idx="55">
                  <c:v>2002 Q4</c:v>
                </c:pt>
                <c:pt idx="56">
                  <c:v>2003 Q1</c:v>
                </c:pt>
                <c:pt idx="57">
                  <c:v>2003 Q2</c:v>
                </c:pt>
                <c:pt idx="58">
                  <c:v>2003 Q3</c:v>
                </c:pt>
                <c:pt idx="59">
                  <c:v>2003 Q4</c:v>
                </c:pt>
                <c:pt idx="60">
                  <c:v>2004 Q1</c:v>
                </c:pt>
                <c:pt idx="61">
                  <c:v>2004 Q2</c:v>
                </c:pt>
                <c:pt idx="62">
                  <c:v>2004 Q3</c:v>
                </c:pt>
                <c:pt idx="63">
                  <c:v>2004 Q4</c:v>
                </c:pt>
                <c:pt idx="64">
                  <c:v>2005 Q1</c:v>
                </c:pt>
                <c:pt idx="65">
                  <c:v>2005 Q2</c:v>
                </c:pt>
                <c:pt idx="66">
                  <c:v>2005 Q3</c:v>
                </c:pt>
                <c:pt idx="67">
                  <c:v>2005 Q4</c:v>
                </c:pt>
                <c:pt idx="68">
                  <c:v>2006 Q1</c:v>
                </c:pt>
                <c:pt idx="69">
                  <c:v>2006 Q2</c:v>
                </c:pt>
                <c:pt idx="70">
                  <c:v>2006 Q3</c:v>
                </c:pt>
                <c:pt idx="71">
                  <c:v>2006 Q4</c:v>
                </c:pt>
                <c:pt idx="72">
                  <c:v>2007 Q1</c:v>
                </c:pt>
                <c:pt idx="73">
                  <c:v>2007 Q2</c:v>
                </c:pt>
                <c:pt idx="74">
                  <c:v>2007 Q3</c:v>
                </c:pt>
                <c:pt idx="75">
                  <c:v>2007 Q4</c:v>
                </c:pt>
                <c:pt idx="76">
                  <c:v>2008 Q1</c:v>
                </c:pt>
                <c:pt idx="77">
                  <c:v>2008 Q2</c:v>
                </c:pt>
                <c:pt idx="78">
                  <c:v>2008 Q3</c:v>
                </c:pt>
                <c:pt idx="79">
                  <c:v>2008 Q4</c:v>
                </c:pt>
                <c:pt idx="80">
                  <c:v>2009 Q1</c:v>
                </c:pt>
              </c:strCache>
            </c:strRef>
          </c:xVal>
          <c:yVal>
            <c:numRef>
              <c:f>Sheet1!$C$2:$C$82</c:f>
              <c:numCache>
                <c:formatCode>General</c:formatCode>
                <c:ptCount val="81"/>
                <c:pt idx="0">
                  <c:v>12.88</c:v>
                </c:pt>
                <c:pt idx="1">
                  <c:v>12.88</c:v>
                </c:pt>
                <c:pt idx="2">
                  <c:v>13.75</c:v>
                </c:pt>
                <c:pt idx="3">
                  <c:v>14.88</c:v>
                </c:pt>
                <c:pt idx="4">
                  <c:v>14.88</c:v>
                </c:pt>
                <c:pt idx="5">
                  <c:v>14.88</c:v>
                </c:pt>
                <c:pt idx="6">
                  <c:v>14.88</c:v>
                </c:pt>
                <c:pt idx="7">
                  <c:v>13.88</c:v>
                </c:pt>
                <c:pt idx="8">
                  <c:v>13.88</c:v>
                </c:pt>
                <c:pt idx="9">
                  <c:v>11.88</c:v>
                </c:pt>
                <c:pt idx="10">
                  <c:v>10.88</c:v>
                </c:pt>
                <c:pt idx="11">
                  <c:v>10.38</c:v>
                </c:pt>
                <c:pt idx="12">
                  <c:v>10.38</c:v>
                </c:pt>
                <c:pt idx="13">
                  <c:v>10.38</c:v>
                </c:pt>
                <c:pt idx="14">
                  <c:v>9.8800000000000008</c:v>
                </c:pt>
                <c:pt idx="15">
                  <c:v>7.88</c:v>
                </c:pt>
                <c:pt idx="16">
                  <c:v>5.88</c:v>
                </c:pt>
                <c:pt idx="17">
                  <c:v>5.88</c:v>
                </c:pt>
                <c:pt idx="18">
                  <c:v>5.88</c:v>
                </c:pt>
                <c:pt idx="19">
                  <c:v>5.88</c:v>
                </c:pt>
                <c:pt idx="20">
                  <c:v>5.38</c:v>
                </c:pt>
                <c:pt idx="21">
                  <c:v>5.13</c:v>
                </c:pt>
                <c:pt idx="22">
                  <c:v>5.13</c:v>
                </c:pt>
                <c:pt idx="23">
                  <c:v>5.63</c:v>
                </c:pt>
                <c:pt idx="24">
                  <c:v>6.13</c:v>
                </c:pt>
                <c:pt idx="25">
                  <c:v>6.63</c:v>
                </c:pt>
                <c:pt idx="26">
                  <c:v>6.63</c:v>
                </c:pt>
                <c:pt idx="27">
                  <c:v>6.63</c:v>
                </c:pt>
                <c:pt idx="28">
                  <c:v>6.13</c:v>
                </c:pt>
                <c:pt idx="29">
                  <c:v>5.94</c:v>
                </c:pt>
                <c:pt idx="30">
                  <c:v>5.6899999999999986</c:v>
                </c:pt>
                <c:pt idx="31">
                  <c:v>5.94</c:v>
                </c:pt>
                <c:pt idx="32">
                  <c:v>5.94</c:v>
                </c:pt>
                <c:pt idx="33">
                  <c:v>5.94</c:v>
                </c:pt>
                <c:pt idx="34">
                  <c:v>6.75</c:v>
                </c:pt>
                <c:pt idx="35">
                  <c:v>7.25</c:v>
                </c:pt>
                <c:pt idx="36">
                  <c:v>7.25</c:v>
                </c:pt>
                <c:pt idx="37">
                  <c:v>7.25</c:v>
                </c:pt>
                <c:pt idx="38">
                  <c:v>7.5</c:v>
                </c:pt>
                <c:pt idx="39">
                  <c:v>7.25</c:v>
                </c:pt>
                <c:pt idx="40">
                  <c:v>6</c:v>
                </c:pt>
                <c:pt idx="41">
                  <c:v>5.25</c:v>
                </c:pt>
                <c:pt idx="42">
                  <c:v>5</c:v>
                </c:pt>
                <c:pt idx="43">
                  <c:v>5.25</c:v>
                </c:pt>
                <c:pt idx="44">
                  <c:v>5.75</c:v>
                </c:pt>
                <c:pt idx="45">
                  <c:v>5.75</c:v>
                </c:pt>
                <c:pt idx="46">
                  <c:v>5.75</c:v>
                </c:pt>
                <c:pt idx="47">
                  <c:v>5.75</c:v>
                </c:pt>
                <c:pt idx="48">
                  <c:v>5.75</c:v>
                </c:pt>
                <c:pt idx="49">
                  <c:v>5.5</c:v>
                </c:pt>
                <c:pt idx="50">
                  <c:v>5.25</c:v>
                </c:pt>
                <c:pt idx="51">
                  <c:v>4.5</c:v>
                </c:pt>
                <c:pt idx="52">
                  <c:v>4</c:v>
                </c:pt>
                <c:pt idx="53">
                  <c:v>4</c:v>
                </c:pt>
                <c:pt idx="54">
                  <c:v>4</c:v>
                </c:pt>
                <c:pt idx="55">
                  <c:v>4</c:v>
                </c:pt>
                <c:pt idx="56">
                  <c:v>4</c:v>
                </c:pt>
                <c:pt idx="57">
                  <c:v>3.75</c:v>
                </c:pt>
                <c:pt idx="58">
                  <c:v>3.5</c:v>
                </c:pt>
                <c:pt idx="59">
                  <c:v>3.5</c:v>
                </c:pt>
                <c:pt idx="60">
                  <c:v>3.75</c:v>
                </c:pt>
                <c:pt idx="61">
                  <c:v>4</c:v>
                </c:pt>
                <c:pt idx="62">
                  <c:v>4.5</c:v>
                </c:pt>
                <c:pt idx="63">
                  <c:v>4.75</c:v>
                </c:pt>
                <c:pt idx="64">
                  <c:v>4.75</c:v>
                </c:pt>
                <c:pt idx="65">
                  <c:v>4.75</c:v>
                </c:pt>
                <c:pt idx="66">
                  <c:v>4.75</c:v>
                </c:pt>
                <c:pt idx="67">
                  <c:v>4.5</c:v>
                </c:pt>
                <c:pt idx="68">
                  <c:v>4.5</c:v>
                </c:pt>
                <c:pt idx="69">
                  <c:v>4.5</c:v>
                </c:pt>
                <c:pt idx="70">
                  <c:v>4.5</c:v>
                </c:pt>
                <c:pt idx="71">
                  <c:v>4.75</c:v>
                </c:pt>
                <c:pt idx="72">
                  <c:v>5.25</c:v>
                </c:pt>
                <c:pt idx="73">
                  <c:v>5.25</c:v>
                </c:pt>
                <c:pt idx="74">
                  <c:v>5.75</c:v>
                </c:pt>
                <c:pt idx="75">
                  <c:v>5.75</c:v>
                </c:pt>
                <c:pt idx="76">
                  <c:v>5.5</c:v>
                </c:pt>
                <c:pt idx="77">
                  <c:v>5.25</c:v>
                </c:pt>
                <c:pt idx="78">
                  <c:v>5</c:v>
                </c:pt>
                <c:pt idx="79">
                  <c:v>4.5</c:v>
                </c:pt>
                <c:pt idx="80">
                  <c:v>1.5</c:v>
                </c:pt>
              </c:numCache>
            </c:numRef>
          </c:yVal>
          <c:smooth val="1"/>
        </c:ser>
        <c:ser>
          <c:idx val="2"/>
          <c:order val="2"/>
          <c:tx>
            <c:strRef>
              <c:f>Sheet1!$D$1</c:f>
              <c:strCache>
                <c:ptCount val="1"/>
                <c:pt idx="0">
                  <c:v>GDP</c:v>
                </c:pt>
              </c:strCache>
            </c:strRef>
          </c:tx>
          <c:marker>
            <c:symbol val="none"/>
          </c:marker>
          <c:xVal>
            <c:strRef>
              <c:f>Sheet1!$A$2:$A$82</c:f>
              <c:strCache>
                <c:ptCount val="81"/>
                <c:pt idx="0">
                  <c:v>1989 Q1</c:v>
                </c:pt>
                <c:pt idx="1">
                  <c:v>1989 Q2</c:v>
                </c:pt>
                <c:pt idx="2">
                  <c:v>1989 Q3</c:v>
                </c:pt>
                <c:pt idx="3">
                  <c:v>1989 Q4</c:v>
                </c:pt>
                <c:pt idx="4">
                  <c:v>1990 Q1</c:v>
                </c:pt>
                <c:pt idx="5">
                  <c:v>1990 Q2</c:v>
                </c:pt>
                <c:pt idx="6">
                  <c:v>1990 Q3</c:v>
                </c:pt>
                <c:pt idx="7">
                  <c:v>1990 Q4</c:v>
                </c:pt>
                <c:pt idx="8">
                  <c:v>1991 Q1</c:v>
                </c:pt>
                <c:pt idx="9">
                  <c:v>1991 Q2</c:v>
                </c:pt>
                <c:pt idx="10">
                  <c:v>1991 Q3</c:v>
                </c:pt>
                <c:pt idx="11">
                  <c:v>1991 Q4</c:v>
                </c:pt>
                <c:pt idx="12">
                  <c:v>1992 Q1</c:v>
                </c:pt>
                <c:pt idx="13">
                  <c:v>1992 Q2</c:v>
                </c:pt>
                <c:pt idx="14">
                  <c:v>1992 Q3</c:v>
                </c:pt>
                <c:pt idx="15">
                  <c:v>1992 Q4</c:v>
                </c:pt>
                <c:pt idx="16">
                  <c:v>1993 Q1</c:v>
                </c:pt>
                <c:pt idx="17">
                  <c:v>1993 Q2</c:v>
                </c:pt>
                <c:pt idx="18">
                  <c:v>1993 Q3</c:v>
                </c:pt>
                <c:pt idx="19">
                  <c:v>1993 Q4</c:v>
                </c:pt>
                <c:pt idx="20">
                  <c:v>1994 Q1</c:v>
                </c:pt>
                <c:pt idx="21">
                  <c:v>1994 Q2</c:v>
                </c:pt>
                <c:pt idx="22">
                  <c:v>1994 Q3</c:v>
                </c:pt>
                <c:pt idx="23">
                  <c:v>1994 Q4</c:v>
                </c:pt>
                <c:pt idx="24">
                  <c:v>1995 Q1</c:v>
                </c:pt>
                <c:pt idx="25">
                  <c:v>1995 Q2</c:v>
                </c:pt>
                <c:pt idx="26">
                  <c:v>1995 Q3</c:v>
                </c:pt>
                <c:pt idx="27">
                  <c:v>1995 Q4</c:v>
                </c:pt>
                <c:pt idx="28">
                  <c:v>1996 Q1</c:v>
                </c:pt>
                <c:pt idx="29">
                  <c:v>1996 Q2</c:v>
                </c:pt>
                <c:pt idx="30">
                  <c:v>1996 Q3</c:v>
                </c:pt>
                <c:pt idx="31">
                  <c:v>1996 Q4</c:v>
                </c:pt>
                <c:pt idx="32">
                  <c:v>1997 Q1</c:v>
                </c:pt>
                <c:pt idx="33">
                  <c:v>1997 Q2</c:v>
                </c:pt>
                <c:pt idx="34">
                  <c:v>1997 Q3</c:v>
                </c:pt>
                <c:pt idx="35">
                  <c:v>1997 Q4</c:v>
                </c:pt>
                <c:pt idx="36">
                  <c:v>1998 Q1</c:v>
                </c:pt>
                <c:pt idx="37">
                  <c:v>1998 Q2</c:v>
                </c:pt>
                <c:pt idx="38">
                  <c:v>1998 Q3</c:v>
                </c:pt>
                <c:pt idx="39">
                  <c:v>1998 Q4</c:v>
                </c:pt>
                <c:pt idx="40">
                  <c:v>1999 Q1</c:v>
                </c:pt>
                <c:pt idx="41">
                  <c:v>1999 Q2</c:v>
                </c:pt>
                <c:pt idx="42">
                  <c:v>1999 Q3</c:v>
                </c:pt>
                <c:pt idx="43">
                  <c:v>1999 Q4</c:v>
                </c:pt>
                <c:pt idx="44">
                  <c:v>2000 Q1</c:v>
                </c:pt>
                <c:pt idx="45">
                  <c:v>2000 Q2</c:v>
                </c:pt>
                <c:pt idx="46">
                  <c:v>2000 Q3</c:v>
                </c:pt>
                <c:pt idx="47">
                  <c:v>2000 Q4</c:v>
                </c:pt>
                <c:pt idx="48">
                  <c:v>2001 Q1</c:v>
                </c:pt>
                <c:pt idx="49">
                  <c:v>2001 Q2</c:v>
                </c:pt>
                <c:pt idx="50">
                  <c:v>2001 Q3</c:v>
                </c:pt>
                <c:pt idx="51">
                  <c:v>2001 Q4</c:v>
                </c:pt>
                <c:pt idx="52">
                  <c:v>2002 Q1</c:v>
                </c:pt>
                <c:pt idx="53">
                  <c:v>2002 Q2</c:v>
                </c:pt>
                <c:pt idx="54">
                  <c:v>2002 Q3</c:v>
                </c:pt>
                <c:pt idx="55">
                  <c:v>2002 Q4</c:v>
                </c:pt>
                <c:pt idx="56">
                  <c:v>2003 Q1</c:v>
                </c:pt>
                <c:pt idx="57">
                  <c:v>2003 Q2</c:v>
                </c:pt>
                <c:pt idx="58">
                  <c:v>2003 Q3</c:v>
                </c:pt>
                <c:pt idx="59">
                  <c:v>2003 Q4</c:v>
                </c:pt>
                <c:pt idx="60">
                  <c:v>2004 Q1</c:v>
                </c:pt>
                <c:pt idx="61">
                  <c:v>2004 Q2</c:v>
                </c:pt>
                <c:pt idx="62">
                  <c:v>2004 Q3</c:v>
                </c:pt>
                <c:pt idx="63">
                  <c:v>2004 Q4</c:v>
                </c:pt>
                <c:pt idx="64">
                  <c:v>2005 Q1</c:v>
                </c:pt>
                <c:pt idx="65">
                  <c:v>2005 Q2</c:v>
                </c:pt>
                <c:pt idx="66">
                  <c:v>2005 Q3</c:v>
                </c:pt>
                <c:pt idx="67">
                  <c:v>2005 Q4</c:v>
                </c:pt>
                <c:pt idx="68">
                  <c:v>2006 Q1</c:v>
                </c:pt>
                <c:pt idx="69">
                  <c:v>2006 Q2</c:v>
                </c:pt>
                <c:pt idx="70">
                  <c:v>2006 Q3</c:v>
                </c:pt>
                <c:pt idx="71">
                  <c:v>2006 Q4</c:v>
                </c:pt>
                <c:pt idx="72">
                  <c:v>2007 Q1</c:v>
                </c:pt>
                <c:pt idx="73">
                  <c:v>2007 Q2</c:v>
                </c:pt>
                <c:pt idx="74">
                  <c:v>2007 Q3</c:v>
                </c:pt>
                <c:pt idx="75">
                  <c:v>2007 Q4</c:v>
                </c:pt>
                <c:pt idx="76">
                  <c:v>2008 Q1</c:v>
                </c:pt>
                <c:pt idx="77">
                  <c:v>2008 Q2</c:v>
                </c:pt>
                <c:pt idx="78">
                  <c:v>2008 Q3</c:v>
                </c:pt>
                <c:pt idx="79">
                  <c:v>2008 Q4</c:v>
                </c:pt>
                <c:pt idx="80">
                  <c:v>2009 Q1</c:v>
                </c:pt>
              </c:strCache>
            </c:strRef>
          </c:xVal>
          <c:yVal>
            <c:numRef>
              <c:f>Sheet1!$D$2:$D$82</c:f>
              <c:numCache>
                <c:formatCode>General</c:formatCode>
                <c:ptCount val="81"/>
                <c:pt idx="0">
                  <c:v>0.4</c:v>
                </c:pt>
                <c:pt idx="1">
                  <c:v>0.60000000000000064</c:v>
                </c:pt>
                <c:pt idx="2">
                  <c:v>0.1</c:v>
                </c:pt>
                <c:pt idx="3">
                  <c:v>0.1</c:v>
                </c:pt>
                <c:pt idx="4">
                  <c:v>0.8</c:v>
                </c:pt>
                <c:pt idx="5">
                  <c:v>0.5</c:v>
                </c:pt>
                <c:pt idx="6">
                  <c:v>-1.2</c:v>
                </c:pt>
                <c:pt idx="7">
                  <c:v>-0.60000000000000064</c:v>
                </c:pt>
                <c:pt idx="8">
                  <c:v>-0.1</c:v>
                </c:pt>
                <c:pt idx="9">
                  <c:v>-0.30000000000000032</c:v>
                </c:pt>
                <c:pt idx="10">
                  <c:v>-0.4</c:v>
                </c:pt>
                <c:pt idx="11">
                  <c:v>0.1</c:v>
                </c:pt>
                <c:pt idx="12">
                  <c:v>0.1</c:v>
                </c:pt>
                <c:pt idx="13">
                  <c:v>-0.2</c:v>
                </c:pt>
                <c:pt idx="14">
                  <c:v>0.5</c:v>
                </c:pt>
                <c:pt idx="15">
                  <c:v>0.60000000000000064</c:v>
                </c:pt>
                <c:pt idx="16">
                  <c:v>0.60000000000000064</c:v>
                </c:pt>
                <c:pt idx="17">
                  <c:v>0.5</c:v>
                </c:pt>
                <c:pt idx="18">
                  <c:v>0.9</c:v>
                </c:pt>
                <c:pt idx="19">
                  <c:v>0.9</c:v>
                </c:pt>
                <c:pt idx="20">
                  <c:v>1.1000000000000001</c:v>
                </c:pt>
                <c:pt idx="21">
                  <c:v>1.4</c:v>
                </c:pt>
                <c:pt idx="22">
                  <c:v>1.4</c:v>
                </c:pt>
                <c:pt idx="23">
                  <c:v>0.70000000000000062</c:v>
                </c:pt>
                <c:pt idx="24">
                  <c:v>0.30000000000000032</c:v>
                </c:pt>
                <c:pt idx="25">
                  <c:v>0.5</c:v>
                </c:pt>
                <c:pt idx="26">
                  <c:v>1.1000000000000001</c:v>
                </c:pt>
                <c:pt idx="27">
                  <c:v>0.4</c:v>
                </c:pt>
                <c:pt idx="28">
                  <c:v>0.9</c:v>
                </c:pt>
                <c:pt idx="29">
                  <c:v>0.5</c:v>
                </c:pt>
                <c:pt idx="30">
                  <c:v>0.70000000000000062</c:v>
                </c:pt>
                <c:pt idx="31">
                  <c:v>0.8</c:v>
                </c:pt>
                <c:pt idx="32">
                  <c:v>0.8</c:v>
                </c:pt>
                <c:pt idx="33">
                  <c:v>0.8</c:v>
                </c:pt>
                <c:pt idx="34">
                  <c:v>1</c:v>
                </c:pt>
                <c:pt idx="35">
                  <c:v>1.2</c:v>
                </c:pt>
                <c:pt idx="36">
                  <c:v>0.8</c:v>
                </c:pt>
                <c:pt idx="37">
                  <c:v>0.60000000000000064</c:v>
                </c:pt>
                <c:pt idx="38">
                  <c:v>0.8</c:v>
                </c:pt>
                <c:pt idx="39">
                  <c:v>1</c:v>
                </c:pt>
                <c:pt idx="40">
                  <c:v>0.60000000000000064</c:v>
                </c:pt>
                <c:pt idx="41">
                  <c:v>0.8</c:v>
                </c:pt>
                <c:pt idx="42">
                  <c:v>1.3</c:v>
                </c:pt>
                <c:pt idx="43">
                  <c:v>1.1000000000000001</c:v>
                </c:pt>
                <c:pt idx="44">
                  <c:v>1.1000000000000001</c:v>
                </c:pt>
                <c:pt idx="45">
                  <c:v>1</c:v>
                </c:pt>
                <c:pt idx="46">
                  <c:v>0.5</c:v>
                </c:pt>
                <c:pt idx="47">
                  <c:v>0.5</c:v>
                </c:pt>
                <c:pt idx="48">
                  <c:v>1.1000000000000001</c:v>
                </c:pt>
                <c:pt idx="49">
                  <c:v>0.2</c:v>
                </c:pt>
                <c:pt idx="50">
                  <c:v>0.5</c:v>
                </c:pt>
                <c:pt idx="51">
                  <c:v>0.4</c:v>
                </c:pt>
                <c:pt idx="52">
                  <c:v>0.70000000000000062</c:v>
                </c:pt>
                <c:pt idx="53">
                  <c:v>0.4</c:v>
                </c:pt>
                <c:pt idx="54">
                  <c:v>0.70000000000000062</c:v>
                </c:pt>
                <c:pt idx="55">
                  <c:v>0.60000000000000064</c:v>
                </c:pt>
                <c:pt idx="56">
                  <c:v>0.60000000000000064</c:v>
                </c:pt>
                <c:pt idx="57">
                  <c:v>0.9</c:v>
                </c:pt>
                <c:pt idx="58">
                  <c:v>0.8</c:v>
                </c:pt>
                <c:pt idx="59">
                  <c:v>0.9</c:v>
                </c:pt>
                <c:pt idx="60">
                  <c:v>0.4</c:v>
                </c:pt>
                <c:pt idx="61">
                  <c:v>0.9</c:v>
                </c:pt>
                <c:pt idx="62">
                  <c:v>0.2</c:v>
                </c:pt>
                <c:pt idx="63">
                  <c:v>0.70000000000000062</c:v>
                </c:pt>
                <c:pt idx="64">
                  <c:v>0.4</c:v>
                </c:pt>
                <c:pt idx="65">
                  <c:v>0.60000000000000064</c:v>
                </c:pt>
                <c:pt idx="66">
                  <c:v>0.4</c:v>
                </c:pt>
                <c:pt idx="67">
                  <c:v>0.5</c:v>
                </c:pt>
                <c:pt idx="68">
                  <c:v>1.1000000000000001</c:v>
                </c:pt>
                <c:pt idx="69">
                  <c:v>0.70000000000000062</c:v>
                </c:pt>
                <c:pt idx="70">
                  <c:v>0.5</c:v>
                </c:pt>
                <c:pt idx="71">
                  <c:v>0.9</c:v>
                </c:pt>
                <c:pt idx="72">
                  <c:v>0.8</c:v>
                </c:pt>
                <c:pt idx="73">
                  <c:v>0.9</c:v>
                </c:pt>
                <c:pt idx="74">
                  <c:v>0.8</c:v>
                </c:pt>
                <c:pt idx="75">
                  <c:v>0.60000000000000064</c:v>
                </c:pt>
                <c:pt idx="76">
                  <c:v>0.4</c:v>
                </c:pt>
                <c:pt idx="77">
                  <c:v>0</c:v>
                </c:pt>
                <c:pt idx="78">
                  <c:v>-0.60000000000000064</c:v>
                </c:pt>
                <c:pt idx="79">
                  <c:v>-1.5</c:v>
                </c:pt>
              </c:numCache>
            </c:numRef>
          </c:yVal>
          <c:smooth val="1"/>
        </c:ser>
        <c:axId val="32141312"/>
        <c:axId val="32142848"/>
      </c:scatterChart>
      <c:valAx>
        <c:axId val="32141312"/>
        <c:scaling>
          <c:orientation val="minMax"/>
        </c:scaling>
        <c:axPos val="b"/>
        <c:tickLblPos val="nextTo"/>
        <c:txPr>
          <a:bodyPr/>
          <a:lstStyle/>
          <a:p>
            <a:pPr>
              <a:defRPr sz="400"/>
            </a:pPr>
            <a:endParaRPr lang="en-US"/>
          </a:p>
        </c:txPr>
        <c:crossAx val="32142848"/>
        <c:crosses val="autoZero"/>
        <c:crossBetween val="midCat"/>
      </c:valAx>
      <c:valAx>
        <c:axId val="32142848"/>
        <c:scaling>
          <c:orientation val="minMax"/>
        </c:scaling>
        <c:axPos val="l"/>
        <c:majorGridlines/>
        <c:numFmt formatCode="General" sourceLinked="1"/>
        <c:tickLblPos val="nextTo"/>
        <c:txPr>
          <a:bodyPr/>
          <a:lstStyle/>
          <a:p>
            <a:pPr>
              <a:defRPr b="1" i="0"/>
            </a:pPr>
            <a:endParaRPr lang="en-US"/>
          </a:p>
        </c:txPr>
        <c:crossAx val="32141312"/>
        <c:crosses val="autoZero"/>
        <c:crossBetween val="midCat"/>
      </c:valAx>
    </c:plotArea>
    <c:legend>
      <c:legendPos val="r"/>
      <c:layout>
        <c:manualLayout>
          <c:xMode val="edge"/>
          <c:yMode val="edge"/>
          <c:x val="0.82219300712410992"/>
          <c:y val="0.29267631868597133"/>
          <c:w val="0.14953318335208127"/>
          <c:h val="0.33669016171365773"/>
        </c:manualLayout>
      </c:layout>
    </c:legend>
    <c:plotVisOnly val="1"/>
  </c:chart>
  <c:externalData r:id="rId1"/>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style val="18"/>
  <c:chart>
    <c:plotArea>
      <c:layout/>
      <c:lineChart>
        <c:grouping val="stacked"/>
        <c:ser>
          <c:idx val="0"/>
          <c:order val="0"/>
          <c:marker>
            <c:symbol val="none"/>
          </c:marker>
          <c:val>
            <c:numRef>
              <c:f>Sheet1!$D$46:$D$81</c:f>
              <c:numCache>
                <c:formatCode>General</c:formatCode>
                <c:ptCount val="36"/>
                <c:pt idx="0">
                  <c:v>1.1000000000000001</c:v>
                </c:pt>
                <c:pt idx="1">
                  <c:v>1</c:v>
                </c:pt>
                <c:pt idx="2">
                  <c:v>0.5</c:v>
                </c:pt>
                <c:pt idx="3">
                  <c:v>0.5</c:v>
                </c:pt>
                <c:pt idx="4">
                  <c:v>1.1000000000000001</c:v>
                </c:pt>
                <c:pt idx="5">
                  <c:v>0.2</c:v>
                </c:pt>
                <c:pt idx="6">
                  <c:v>0.5</c:v>
                </c:pt>
                <c:pt idx="7">
                  <c:v>0.4</c:v>
                </c:pt>
                <c:pt idx="8">
                  <c:v>0.70000000000000062</c:v>
                </c:pt>
                <c:pt idx="9">
                  <c:v>0.4</c:v>
                </c:pt>
                <c:pt idx="10">
                  <c:v>0.70000000000000062</c:v>
                </c:pt>
                <c:pt idx="11">
                  <c:v>0.60000000000000064</c:v>
                </c:pt>
                <c:pt idx="12">
                  <c:v>0.60000000000000064</c:v>
                </c:pt>
                <c:pt idx="13">
                  <c:v>0.9</c:v>
                </c:pt>
                <c:pt idx="14">
                  <c:v>0.8</c:v>
                </c:pt>
                <c:pt idx="15">
                  <c:v>0.9</c:v>
                </c:pt>
                <c:pt idx="16">
                  <c:v>0.4</c:v>
                </c:pt>
                <c:pt idx="17">
                  <c:v>0.9</c:v>
                </c:pt>
                <c:pt idx="18">
                  <c:v>0.2</c:v>
                </c:pt>
                <c:pt idx="19">
                  <c:v>0.70000000000000062</c:v>
                </c:pt>
                <c:pt idx="20">
                  <c:v>0.4</c:v>
                </c:pt>
                <c:pt idx="21">
                  <c:v>0.60000000000000064</c:v>
                </c:pt>
                <c:pt idx="22">
                  <c:v>0.4</c:v>
                </c:pt>
                <c:pt idx="23">
                  <c:v>0.5</c:v>
                </c:pt>
                <c:pt idx="24">
                  <c:v>1.1000000000000001</c:v>
                </c:pt>
                <c:pt idx="25">
                  <c:v>0.70000000000000062</c:v>
                </c:pt>
                <c:pt idx="26">
                  <c:v>0.5</c:v>
                </c:pt>
                <c:pt idx="27">
                  <c:v>0.9</c:v>
                </c:pt>
                <c:pt idx="28">
                  <c:v>0.8</c:v>
                </c:pt>
                <c:pt idx="29">
                  <c:v>0.9</c:v>
                </c:pt>
                <c:pt idx="30">
                  <c:v>0.8</c:v>
                </c:pt>
                <c:pt idx="31">
                  <c:v>0.60000000000000064</c:v>
                </c:pt>
                <c:pt idx="32">
                  <c:v>0.4</c:v>
                </c:pt>
                <c:pt idx="33">
                  <c:v>0</c:v>
                </c:pt>
                <c:pt idx="34">
                  <c:v>-0.60000000000000064</c:v>
                </c:pt>
                <c:pt idx="35">
                  <c:v>-1.5</c:v>
                </c:pt>
              </c:numCache>
            </c:numRef>
          </c:val>
        </c:ser>
        <c:marker val="1"/>
        <c:axId val="35999104"/>
        <c:axId val="36173312"/>
      </c:lineChart>
      <c:catAx>
        <c:axId val="35999104"/>
        <c:scaling>
          <c:orientation val="minMax"/>
        </c:scaling>
        <c:axPos val="b"/>
        <c:tickLblPos val="nextTo"/>
        <c:txPr>
          <a:bodyPr/>
          <a:lstStyle/>
          <a:p>
            <a:pPr>
              <a:defRPr sz="400"/>
            </a:pPr>
            <a:endParaRPr lang="en-US"/>
          </a:p>
        </c:txPr>
        <c:crossAx val="36173312"/>
        <c:crosses val="autoZero"/>
        <c:auto val="1"/>
        <c:lblAlgn val="ctr"/>
        <c:lblOffset val="100"/>
      </c:catAx>
      <c:valAx>
        <c:axId val="36173312"/>
        <c:scaling>
          <c:orientation val="minMax"/>
        </c:scaling>
        <c:axPos val="l"/>
        <c:majorGridlines/>
        <c:numFmt formatCode="General" sourceLinked="1"/>
        <c:tickLblPos val="nextTo"/>
        <c:crossAx val="35999104"/>
        <c:crosses val="autoZero"/>
        <c:crossBetween val="between"/>
      </c:valAx>
    </c:plotArea>
    <c:plotVisOnly val="1"/>
  </c:chart>
  <c:externalData r:id="rId1"/>
  <c:userShapes r:id="rId2"/>
</c:chartSpace>
</file>

<file path=ppt/drawings/drawing1.xml><?xml version="1.0" encoding="utf-8"?>
<c:userShapes xmlns:c="http://schemas.openxmlformats.org/drawingml/2006/chart">
  <cdr:relSizeAnchor xmlns:cdr="http://schemas.openxmlformats.org/drawingml/2006/chartDrawing">
    <cdr:from>
      <cdr:x>0.88158</cdr:x>
      <cdr:y>0.88679</cdr:y>
    </cdr:from>
    <cdr:to>
      <cdr:x>1</cdr:x>
      <cdr:y>0.95984</cdr:y>
    </cdr:to>
    <cdr:sp macro="" textlink="">
      <cdr:nvSpPr>
        <cdr:cNvPr id="2" name="TextBox 1"/>
        <cdr:cNvSpPr txBox="1"/>
      </cdr:nvSpPr>
      <cdr:spPr>
        <a:xfrm xmlns:a="http://schemas.openxmlformats.org/drawingml/2006/main">
          <a:off x="5791200" y="3175958"/>
          <a:ext cx="685800" cy="261610"/>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r>
            <a:rPr lang="en-US" sz="1100" b="1" dirty="0" smtClean="0">
              <a:latin typeface="Calibri (Body)"/>
              <a:cs typeface="Calibri (Body)"/>
            </a:rPr>
            <a:t> Dec.08</a:t>
          </a:r>
          <a:endParaRPr lang="en-US" sz="1100" b="1" dirty="0">
            <a:latin typeface="Calibri (Body)"/>
            <a:cs typeface="Calibri (Body)"/>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6FA8FD26-95D4-46B4-849B-3A4144D70900}" type="datetimeFigureOut">
              <a:rPr lang="en-US"/>
              <a:pPr>
                <a:defRPr/>
              </a:pPr>
              <a:t>3/11/2009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E60FC86B-3336-46E3-8B02-4004433AD79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684B3E2-BAA8-4ACB-8580-309132887662}" type="slidenum">
              <a:rPr lang="en-US">
                <a:cs typeface="Arial" charset="0"/>
              </a:rPr>
              <a:pPr fontAlgn="base">
                <a:spcBef>
                  <a:spcPct val="0"/>
                </a:spcBef>
                <a:spcAft>
                  <a:spcPct val="0"/>
                </a:spcAft>
                <a:defRPr/>
              </a:pPr>
              <a:t>6</a:t>
            </a:fld>
            <a:endParaRPr lang="en-US">
              <a:cs typeface="Arial" charset="0"/>
            </a:endParaRPr>
          </a:p>
        </p:txBody>
      </p:sp>
      <p:sp>
        <p:nvSpPr>
          <p:cNvPr id="20482" name="Rectangle 2"/>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p:spPr>
      </p:sp>
      <p:sp>
        <p:nvSpPr>
          <p:cNvPr id="204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6D481C5-1B04-4344-A447-4324A5F69253}" type="slidenum">
              <a:rPr lang="en-US">
                <a:cs typeface="Arial" charset="0"/>
              </a:rPr>
              <a:pPr fontAlgn="base">
                <a:spcBef>
                  <a:spcPct val="0"/>
                </a:spcBef>
                <a:spcAft>
                  <a:spcPct val="0"/>
                </a:spcAft>
                <a:defRPr/>
              </a:pPr>
              <a:t>7</a:t>
            </a:fld>
            <a:endParaRPr lang="en-US">
              <a:cs typeface="Arial" charset="0"/>
            </a:endParaRPr>
          </a:p>
        </p:txBody>
      </p:sp>
      <p:sp>
        <p:nvSpPr>
          <p:cNvPr id="22530" name="Rectangle 2"/>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p:spPr>
      </p:sp>
      <p:sp>
        <p:nvSpPr>
          <p:cNvPr id="22531" name="Rectangle 3"/>
          <p:cNvSpPr>
            <a:spLocks noGrp="1" noChangeArrowheads="1"/>
          </p:cNvSpPr>
          <p:nvPr>
            <p:ph type="body" idx="1"/>
          </p:nvPr>
        </p:nvSpPr>
        <p:spPr bwMode="auto">
          <a:xfrm>
            <a:off x="922338" y="4351338"/>
            <a:ext cx="4997450" cy="252412"/>
          </a:xfrm>
          <a:noFill/>
        </p:spPr>
        <p:txBody>
          <a:bodyPr wrap="square" numCol="1" anchor="t" anchorCtr="0" compatLnSpc="1">
            <a:prstTxWarp prst="textNoShape">
              <a:avLst/>
            </a:prstTxWarp>
          </a:bodyPr>
          <a:lstStyle/>
          <a:p>
            <a:pPr eaLnBrk="1" hangingPunct="1">
              <a:spcBef>
                <a:spcPct val="0"/>
              </a:spcBef>
            </a:pPr>
            <a:endParaRPr lang="en-GB"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bwMode="auto">
          <a:xfrm>
            <a:off x="1128713" y="701675"/>
            <a:ext cx="4584700" cy="3438525"/>
          </a:xfrm>
          <a:noFill/>
          <a:ln>
            <a:solidFill>
              <a:srgbClr val="000000"/>
            </a:solidFill>
            <a:miter lim="800000"/>
            <a:headEnd/>
            <a:tailEnd/>
          </a:ln>
        </p:spPr>
      </p:sp>
      <p:sp>
        <p:nvSpPr>
          <p:cNvPr id="64515" name="Rectangle 3"/>
          <p:cNvSpPr>
            <a:spLocks noGrp="1"/>
          </p:cNvSpPr>
          <p:nvPr>
            <p:ph type="body" idx="1"/>
          </p:nvPr>
        </p:nvSpPr>
        <p:spPr bwMode="auto">
          <a:xfrm>
            <a:off x="922338" y="4351338"/>
            <a:ext cx="4997450" cy="4140200"/>
          </a:xfrm>
          <a:noFill/>
        </p:spPr>
        <p:txBody>
          <a:bodyPr wrap="square" numCol="1" anchor="t" anchorCtr="0" compatLnSpc="1">
            <a:prstTxWarp prst="textNoShape">
              <a:avLst/>
            </a:prstTxWarp>
          </a:bodyPr>
          <a:lstStyle/>
          <a:p>
            <a:endParaRPr lang="en-GB"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bwMode="auto">
          <a:xfrm>
            <a:off x="1128713" y="701675"/>
            <a:ext cx="4584700" cy="3438525"/>
          </a:xfrm>
          <a:noFill/>
          <a:ln>
            <a:solidFill>
              <a:srgbClr val="000000"/>
            </a:solidFill>
            <a:miter lim="800000"/>
            <a:headEnd/>
            <a:tailEnd/>
          </a:ln>
        </p:spPr>
      </p:sp>
      <p:sp>
        <p:nvSpPr>
          <p:cNvPr id="66563" name="Rectangle 3"/>
          <p:cNvSpPr>
            <a:spLocks noGrp="1"/>
          </p:cNvSpPr>
          <p:nvPr>
            <p:ph type="body" idx="1"/>
          </p:nvPr>
        </p:nvSpPr>
        <p:spPr bwMode="auto">
          <a:xfrm>
            <a:off x="922338" y="4351338"/>
            <a:ext cx="4997450" cy="4140200"/>
          </a:xfrm>
          <a:noFill/>
        </p:spPr>
        <p:txBody>
          <a:bodyPr wrap="square" numCol="1" anchor="t" anchorCtr="0" compatLnSpc="1">
            <a:prstTxWarp prst="textNoShape">
              <a:avLst/>
            </a:prstTxWarp>
          </a:bodyPr>
          <a:lstStyle/>
          <a:p>
            <a:endParaRPr lang="en-GB"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6C63B03-4740-4EFA-983D-5909DFB080FA}" type="slidenum">
              <a:rPr lang="en-US">
                <a:cs typeface="Arial" charset="0"/>
              </a:rPr>
              <a:pPr fontAlgn="base">
                <a:spcBef>
                  <a:spcPct val="0"/>
                </a:spcBef>
                <a:spcAft>
                  <a:spcPct val="0"/>
                </a:spcAft>
                <a:defRPr/>
              </a:pPr>
              <a:t>26</a:t>
            </a:fld>
            <a:endParaRPr lang="en-US">
              <a:cs typeface="Arial" charset="0"/>
            </a:endParaRPr>
          </a:p>
        </p:txBody>
      </p:sp>
      <p:sp>
        <p:nvSpPr>
          <p:cNvPr id="41986" name="Rectangle 2"/>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p:spPr>
      </p:sp>
      <p:sp>
        <p:nvSpPr>
          <p:cNvPr id="41987" name="Rectangle 3"/>
          <p:cNvSpPr>
            <a:spLocks noGrp="1" noChangeArrowheads="1"/>
          </p:cNvSpPr>
          <p:nvPr>
            <p:ph type="body" idx="1"/>
          </p:nvPr>
        </p:nvSpPr>
        <p:spPr bwMode="auto">
          <a:xfrm>
            <a:off x="922338" y="4351338"/>
            <a:ext cx="4997450" cy="252412"/>
          </a:xfrm>
          <a:noFill/>
        </p:spPr>
        <p:txBody>
          <a:bodyPr wrap="square" numCol="1" anchor="t" anchorCtr="0" compatLnSpc="1">
            <a:prstTxWarp prst="textNoShape">
              <a:avLst/>
            </a:prstTxWarp>
          </a:bodyPr>
          <a:lstStyle/>
          <a:p>
            <a:pPr eaLnBrk="1" hangingPunct="1">
              <a:spcBef>
                <a:spcPct val="0"/>
              </a:spcBef>
            </a:pPr>
            <a:endParaRPr lang="en-GB"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7BC6E59-0F01-4778-B99F-5C2FBADC9FE4}" type="slidenum">
              <a:rPr lang="en-US">
                <a:cs typeface="Arial" charset="0"/>
              </a:rPr>
              <a:pPr fontAlgn="base">
                <a:spcBef>
                  <a:spcPct val="0"/>
                </a:spcBef>
                <a:spcAft>
                  <a:spcPct val="0"/>
                </a:spcAft>
                <a:defRPr/>
              </a:pPr>
              <a:t>30</a:t>
            </a:fld>
            <a:endParaRPr lang="en-US">
              <a:cs typeface="Arial" charset="0"/>
            </a:endParaRPr>
          </a:p>
        </p:txBody>
      </p:sp>
      <p:sp>
        <p:nvSpPr>
          <p:cNvPr id="50178" name="Rectangle 2"/>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p:spPr>
      </p:sp>
      <p:sp>
        <p:nvSpPr>
          <p:cNvPr id="50179" name="Rectangle 3"/>
          <p:cNvSpPr>
            <a:spLocks noGrp="1" noChangeArrowheads="1"/>
          </p:cNvSpPr>
          <p:nvPr>
            <p:ph type="body" idx="1"/>
          </p:nvPr>
        </p:nvSpPr>
        <p:spPr bwMode="auto">
          <a:xfrm>
            <a:off x="914400" y="4343400"/>
            <a:ext cx="5029200" cy="4114800"/>
          </a:xfrm>
          <a:noFill/>
        </p:spPr>
        <p:txBody>
          <a:bodyPr wrap="square" numCol="1" anchor="t" anchorCtr="0" compatLnSpc="1">
            <a:prstTxWarp prst="textNoShape">
              <a:avLst/>
            </a:prstTxWarp>
          </a:bodyPr>
          <a:lstStyle/>
          <a:p>
            <a:pPr eaLnBrk="1" hangingPunct="1">
              <a:spcBef>
                <a:spcPct val="0"/>
              </a:spcBef>
            </a:pPr>
            <a:endParaRPr lang="en-GB"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F7DA3F9-1ED4-4552-AA51-0B7439AF299D}" type="slidenum">
              <a:rPr lang="en-US">
                <a:cs typeface="Arial" charset="0"/>
              </a:rPr>
              <a:pPr fontAlgn="base">
                <a:spcBef>
                  <a:spcPct val="0"/>
                </a:spcBef>
                <a:spcAft>
                  <a:spcPct val="0"/>
                </a:spcAft>
                <a:defRPr/>
              </a:pPr>
              <a:t>31</a:t>
            </a:fld>
            <a:endParaRPr lang="en-US">
              <a:cs typeface="Arial" charset="0"/>
            </a:endParaRPr>
          </a:p>
        </p:txBody>
      </p:sp>
      <p:sp>
        <p:nvSpPr>
          <p:cNvPr id="46082" name="Rectangle 2"/>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p:spPr>
      </p:sp>
      <p:sp>
        <p:nvSpPr>
          <p:cNvPr id="46083" name="Rectangle 3"/>
          <p:cNvSpPr>
            <a:spLocks noGrp="1" noChangeArrowheads="1"/>
          </p:cNvSpPr>
          <p:nvPr>
            <p:ph type="body" idx="1"/>
          </p:nvPr>
        </p:nvSpPr>
        <p:spPr bwMode="auto">
          <a:xfrm>
            <a:off x="914400" y="4343400"/>
            <a:ext cx="5029200" cy="4114800"/>
          </a:xfrm>
          <a:noFill/>
        </p:spPr>
        <p:txBody>
          <a:bodyPr wrap="square" numCol="1" anchor="t" anchorCtr="0" compatLnSpc="1">
            <a:prstTxWarp prst="textNoShape">
              <a:avLst/>
            </a:prstTxWarp>
          </a:bodyPr>
          <a:lstStyle/>
          <a:p>
            <a:pPr eaLnBrk="1" hangingPunct="1">
              <a:spcBef>
                <a:spcPct val="0"/>
              </a:spcBef>
            </a:pPr>
            <a:endParaRPr lang="en-GB"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142FA9-CA56-4202-AB70-F00785E5BBA6}" type="slidenum">
              <a:rPr lang="en-US"/>
              <a:pPr/>
              <a:t>32</a:t>
            </a:fld>
            <a:endParaRPr lang="en-US"/>
          </a:p>
        </p:txBody>
      </p:sp>
      <p:sp>
        <p:nvSpPr>
          <p:cNvPr id="113666" name="Rectangle 2"/>
          <p:cNvSpPr>
            <a:spLocks noGrp="1" noRot="1" noChangeAspect="1" noChangeArrowheads="1" noTextEdit="1"/>
          </p:cNvSpPr>
          <p:nvPr>
            <p:ph type="sldImg"/>
          </p:nvPr>
        </p:nvSpPr>
        <p:spPr>
          <a:xfrm>
            <a:off x="1143000" y="685800"/>
            <a:ext cx="4572000" cy="3429000"/>
          </a:xfrm>
          <a:ln/>
        </p:spPr>
      </p:sp>
      <p:sp>
        <p:nvSpPr>
          <p:cNvPr id="11366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0871A29-04D7-4A49-B448-E6400E9AEE34}" type="slidenum">
              <a:rPr lang="en-US">
                <a:cs typeface="Arial" charset="0"/>
              </a:rPr>
              <a:pPr fontAlgn="base">
                <a:spcBef>
                  <a:spcPct val="0"/>
                </a:spcBef>
                <a:spcAft>
                  <a:spcPct val="0"/>
                </a:spcAft>
                <a:defRPr/>
              </a:pPr>
              <a:t>33</a:t>
            </a:fld>
            <a:endParaRPr lang="en-US">
              <a:cs typeface="Arial" charset="0"/>
            </a:endParaRPr>
          </a:p>
        </p:txBody>
      </p:sp>
      <p:sp>
        <p:nvSpPr>
          <p:cNvPr id="52226" name="Rectangle 2"/>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p:spPr>
      </p:sp>
      <p:sp>
        <p:nvSpPr>
          <p:cNvPr id="52227" name="Rectangle 3"/>
          <p:cNvSpPr>
            <a:spLocks noGrp="1" noChangeArrowheads="1"/>
          </p:cNvSpPr>
          <p:nvPr>
            <p:ph type="body" idx="1"/>
          </p:nvPr>
        </p:nvSpPr>
        <p:spPr bwMode="auto">
          <a:xfrm>
            <a:off x="914400" y="4343400"/>
            <a:ext cx="5029200" cy="4114800"/>
          </a:xfrm>
          <a:noFill/>
        </p:spPr>
        <p:txBody>
          <a:bodyPr wrap="square" numCol="1" anchor="t" anchorCtr="0" compatLnSpc="1">
            <a:prstTxWarp prst="textNoShape">
              <a:avLst/>
            </a:prstTxWarp>
          </a:bodyPr>
          <a:lstStyle/>
          <a:p>
            <a:pPr eaLnBrk="1" hangingPunct="1">
              <a:spcBef>
                <a:spcPct val="0"/>
              </a:spcBef>
            </a:pPr>
            <a:endParaRPr lang="en-GB"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ECBAD5-4F94-47CD-825D-BF4E4ECA1119}" type="slidenum">
              <a:rPr lang="en-US"/>
              <a:pPr/>
              <a:t>35</a:t>
            </a:fld>
            <a:endParaRPr lang="en-US"/>
          </a:p>
        </p:txBody>
      </p:sp>
      <p:sp>
        <p:nvSpPr>
          <p:cNvPr id="105474" name="Rectangle 2"/>
          <p:cNvSpPr>
            <a:spLocks noGrp="1" noRot="1" noChangeAspect="1" noChangeArrowheads="1" noTextEdit="1"/>
          </p:cNvSpPr>
          <p:nvPr>
            <p:ph type="sldImg"/>
          </p:nvPr>
        </p:nvSpPr>
        <p:spPr>
          <a:xfrm>
            <a:off x="1143000" y="685800"/>
            <a:ext cx="4572000" cy="3429000"/>
          </a:xfrm>
          <a:ln/>
        </p:spPr>
      </p:sp>
      <p:sp>
        <p:nvSpPr>
          <p:cNvPr id="10547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85C3F1-55C0-4B38-B6BC-FC82491ACF4F}" type="slidenum">
              <a:rPr lang="en-US"/>
              <a:pPr/>
              <a:t>36</a:t>
            </a:fld>
            <a:endParaRPr lang="en-US"/>
          </a:p>
        </p:txBody>
      </p:sp>
      <p:sp>
        <p:nvSpPr>
          <p:cNvPr id="123906" name="Rectangle 2"/>
          <p:cNvSpPr>
            <a:spLocks noGrp="1" noRot="1" noChangeAspect="1" noChangeArrowheads="1" noTextEdit="1"/>
          </p:cNvSpPr>
          <p:nvPr>
            <p:ph type="sldImg"/>
          </p:nvPr>
        </p:nvSpPr>
        <p:spPr>
          <a:xfrm>
            <a:off x="1143000" y="685800"/>
            <a:ext cx="4572000" cy="3429000"/>
          </a:xfrm>
          <a:ln/>
        </p:spPr>
      </p:sp>
      <p:sp>
        <p:nvSpPr>
          <p:cNvPr id="12390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txBox="1">
            <a:spLocks noGrp="1" noChangeArrowheads="1"/>
          </p:cNvSpPr>
          <p:nvPr/>
        </p:nvSpPr>
        <p:spPr bwMode="auto">
          <a:xfrm>
            <a:off x="3884613" y="8685213"/>
            <a:ext cx="2971800" cy="457200"/>
          </a:xfrm>
          <a:prstGeom prst="rect">
            <a:avLst/>
          </a:prstGeom>
          <a:noFill/>
          <a:ln>
            <a:miter lim="800000"/>
            <a:headEnd/>
            <a:tailEnd/>
          </a:ln>
        </p:spPr>
        <p:txBody>
          <a:bodyPr anchor="b"/>
          <a:lstStyle/>
          <a:p>
            <a:pPr algn="r">
              <a:defRPr/>
            </a:pPr>
            <a:fld id="{CA0109ED-56F8-47D7-8E6F-4425ED8150BA}" type="slidenum">
              <a:rPr lang="en-US" sz="1200">
                <a:latin typeface="+mn-lt"/>
              </a:rPr>
              <a:pPr algn="r">
                <a:defRPr/>
              </a:pPr>
              <a:t>44</a:t>
            </a:fld>
            <a:endParaRPr lang="en-US" sz="1200">
              <a:latin typeface="+mn-lt"/>
            </a:endParaRPr>
          </a:p>
        </p:txBody>
      </p:sp>
      <p:sp>
        <p:nvSpPr>
          <p:cNvPr id="68611" name="Rectangle 2"/>
          <p:cNvSpPr>
            <a:spLocks noGrp="1" noRot="1" noChangeAspect="1" noChangeArrowheads="1" noTextEdit="1"/>
          </p:cNvSpPr>
          <p:nvPr>
            <p:ph type="sldImg"/>
          </p:nvPr>
        </p:nvSpPr>
        <p:spPr bwMode="auto">
          <a:xfrm>
            <a:off x="1143000" y="685800"/>
            <a:ext cx="4572000" cy="3429000"/>
          </a:xfrm>
          <a:noFill/>
          <a:ln>
            <a:solidFill>
              <a:srgbClr val="000000"/>
            </a:solidFill>
            <a:miter lim="800000"/>
            <a:headEnd/>
            <a:tailEnd/>
          </a:ln>
        </p:spPr>
      </p:sp>
      <p:sp>
        <p:nvSpPr>
          <p:cNvPr id="68612" name="Rectangle 3"/>
          <p:cNvSpPr>
            <a:spLocks noGrp="1" noChangeArrowheads="1"/>
          </p:cNvSpPr>
          <p:nvPr>
            <p:ph type="body" idx="1"/>
          </p:nvPr>
        </p:nvSpPr>
        <p:spPr bwMode="auto">
          <a:xfrm>
            <a:off x="922338" y="4351338"/>
            <a:ext cx="4997450" cy="252412"/>
          </a:xfrm>
          <a:noFill/>
        </p:spPr>
        <p:txBody>
          <a:bodyPr wrap="square" numCol="1" anchor="t" anchorCtr="0" compatLnSpc="1">
            <a:prstTxWarp prst="textNoShape">
              <a:avLst/>
            </a:prstTxWarp>
          </a:bodyPr>
          <a:lstStyle/>
          <a:p>
            <a:pPr eaLnBrk="1" hangingPunct="1">
              <a:spcBef>
                <a:spcPct val="0"/>
              </a:spcBef>
            </a:pPr>
            <a:endParaRPr lang="en-GB"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AC387169-23C1-4331-9F6F-985E1D1833C7}" type="datetimeFigureOut">
              <a:rPr lang="en-US"/>
              <a:pPr>
                <a:defRPr/>
              </a:pPr>
              <a:t>3/11/2009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0BAB337-E806-494D-9C31-7287EAA08B5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711142C-E388-44B2-9AFE-2BC0424857C2}" type="datetimeFigureOut">
              <a:rPr lang="en-US"/>
              <a:pPr>
                <a:defRPr/>
              </a:pPr>
              <a:t>3/11/2009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7E4ADDB-E66E-40BB-A77E-6EAC7B87554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A7685B6-C451-4663-9324-09089B9C27C5}" type="datetimeFigureOut">
              <a:rPr lang="en-US"/>
              <a:pPr>
                <a:defRPr/>
              </a:pPr>
              <a:t>3/11/2009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557133B-CD4A-46AF-9A0E-35457E2B404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AD2997F-F1A8-479F-A5DF-8B5F31019C9A}" type="datetimeFigureOut">
              <a:rPr lang="en-US"/>
              <a:pPr>
                <a:defRPr/>
              </a:pPr>
              <a:t>3/11/2009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495CE6E-5700-4B27-96D5-DF5F6F32A71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4EAC0CF7-CB71-4F80-868D-07C3A78E48C8}" type="datetimeFigureOut">
              <a:rPr lang="en-US"/>
              <a:pPr>
                <a:defRPr/>
              </a:pPr>
              <a:t>3/11/2009</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B251DC5-CAC8-46A4-BAA5-267F641F20C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889876B7-9853-4B2B-B04E-81DF630F9A8A}" type="datetimeFigureOut">
              <a:rPr lang="en-US"/>
              <a:pPr>
                <a:defRPr/>
              </a:pPr>
              <a:t>3/11/2009</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B085128-CDD2-4C83-AA24-6BFF9A08DC0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2ACE03F-5C8F-407D-88D2-08381A1C6224}" type="datetimeFigureOut">
              <a:rPr lang="en-US"/>
              <a:pPr>
                <a:defRPr/>
              </a:pPr>
              <a:t>3/11/2009</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A71254D0-FA7D-4AF3-B150-DE8E0ADC4EA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CFBEFE6-8BEC-4888-8A46-C3871459038D}" type="datetimeFigureOut">
              <a:rPr lang="en-US"/>
              <a:pPr>
                <a:defRPr/>
              </a:pPr>
              <a:t>3/11/2009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E2F4554-F15D-423D-AAAE-53B19B42316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9833F74-60BC-4B9D-8D24-608A3A453669}" type="datetimeFigureOut">
              <a:rPr lang="en-US"/>
              <a:pPr>
                <a:defRPr/>
              </a:pPr>
              <a:t>3/11/2009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2E45D0B-359C-40F2-8A57-3586C2E718F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779E850-7D0A-4575-8EF6-BF20B3C52D1A}" type="datetimeFigureOut">
              <a:rPr lang="en-US"/>
              <a:pPr>
                <a:defRPr/>
              </a:pPr>
              <a:t>3/11/2009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3F7DEBA-E9E5-44FF-8D2F-4F859DB559D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26FD5C8-A656-41A1-97ED-92CE16021457}" type="datetimeFigureOut">
              <a:rPr lang="en-US"/>
              <a:pPr>
                <a:defRPr/>
              </a:pPr>
              <a:t>3/11/2009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DA47FD9-C15B-44D5-A6A9-C5D00B7C2D9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1"/>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D305D889-D3CF-478F-80CB-1D59FF3E6F20}" type="datetimeFigureOut">
              <a:rPr lang="en-US"/>
              <a:pPr>
                <a:defRPr/>
              </a:pPr>
              <a:t>3/11/2009</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29F9DA14-C116-4C95-A673-C99D3026474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bankofengland.co.uk/about/strategy/index.ht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statistics.gov.uk/statbase" TargetMode="Externa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hyperlink" Target="http://www.bankofengland.co.uk"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www.tradingeconomics.com/Economics/GDP-Growth.aspx?Symbol=GB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tradingeconomics.com/Economics/GDP-Growth.aspx?Symbol=GBP" TargetMode="External"/><Relationship Id="rId1" Type="http://schemas.openxmlformats.org/officeDocument/2006/relationships/slideLayout" Target="../slideLayouts/slideLayout2.xml"/><Relationship Id="rId4" Type="http://schemas.openxmlformats.org/officeDocument/2006/relationships/hyperlink" Target="http://www.x-rates.com/d/USD/GBP/graph120.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p:txBody>
          <a:bodyPr/>
          <a:lstStyle/>
          <a:p>
            <a:pPr eaLnBrk="1" hangingPunct="1"/>
            <a:endParaRPr lang="en-US" smtClean="0"/>
          </a:p>
        </p:txBody>
      </p:sp>
      <p:sp>
        <p:nvSpPr>
          <p:cNvPr id="3" name="Subtitle 2"/>
          <p:cNvSpPr>
            <a:spLocks noGrp="1"/>
          </p:cNvSpPr>
          <p:nvPr>
            <p:ph type="subTitle" idx="1"/>
          </p:nvPr>
        </p:nvSpPr>
        <p:spPr/>
        <p:txBody>
          <a:bodyPr rtlCol="0">
            <a:normAutofit/>
          </a:bodyPr>
          <a:lstStyle/>
          <a:p>
            <a:pPr eaLnBrk="1" fontAlgn="auto" hangingPunct="1">
              <a:spcAft>
                <a:spcPts val="0"/>
              </a:spcAft>
              <a:buFont typeface="Arial"/>
              <a:buNone/>
              <a:defRPr/>
            </a:pPr>
            <a:endParaRPr lang="en-US"/>
          </a:p>
        </p:txBody>
      </p:sp>
      <p:pic>
        <p:nvPicPr>
          <p:cNvPr id="14339" name="Picture 3" descr="bank-of-england.jpg"/>
          <p:cNvPicPr>
            <a:picLocks noChangeAspect="1"/>
          </p:cNvPicPr>
          <p:nvPr/>
        </p:nvPicPr>
        <p:blipFill>
          <a:blip r:embed="rId2"/>
          <a:srcRect/>
          <a:stretch>
            <a:fillRect/>
          </a:stretch>
        </p:blipFill>
        <p:spPr bwMode="auto">
          <a:xfrm>
            <a:off x="330200" y="152400"/>
            <a:ext cx="8585200" cy="5727700"/>
          </a:xfrm>
          <a:prstGeom prst="rect">
            <a:avLst/>
          </a:prstGeom>
          <a:noFill/>
          <a:ln w="9525">
            <a:noFill/>
            <a:miter lim="800000"/>
            <a:headEnd/>
            <a:tailEnd/>
          </a:ln>
        </p:spPr>
      </p:pic>
      <p:sp>
        <p:nvSpPr>
          <p:cNvPr id="14340" name="TextBox 5"/>
          <p:cNvSpPr txBox="1">
            <a:spLocks noChangeArrowheads="1"/>
          </p:cNvSpPr>
          <p:nvPr/>
        </p:nvSpPr>
        <p:spPr bwMode="auto">
          <a:xfrm>
            <a:off x="330200" y="5880101"/>
            <a:ext cx="4699000" cy="707886"/>
          </a:xfrm>
          <a:prstGeom prst="rect">
            <a:avLst/>
          </a:prstGeom>
          <a:noFill/>
          <a:ln w="9525">
            <a:noFill/>
            <a:miter lim="800000"/>
            <a:headEnd/>
            <a:tailEnd/>
          </a:ln>
        </p:spPr>
        <p:txBody>
          <a:bodyPr>
            <a:spAutoFit/>
          </a:bodyPr>
          <a:lstStyle/>
          <a:p>
            <a:r>
              <a:rPr lang="en-US" sz="4000" b="1">
                <a:latin typeface="Baskerville Old Face" pitchFamily="18" charset="0"/>
              </a:rPr>
              <a:t>The Bank of England</a:t>
            </a:r>
          </a:p>
        </p:txBody>
      </p:sp>
      <p:sp>
        <p:nvSpPr>
          <p:cNvPr id="14341" name="TextBox 6"/>
          <p:cNvSpPr txBox="1">
            <a:spLocks noChangeArrowheads="1"/>
          </p:cNvSpPr>
          <p:nvPr/>
        </p:nvSpPr>
        <p:spPr bwMode="auto">
          <a:xfrm>
            <a:off x="6477000" y="5880101"/>
            <a:ext cx="2133600" cy="1077218"/>
          </a:xfrm>
          <a:prstGeom prst="rect">
            <a:avLst/>
          </a:prstGeom>
          <a:noFill/>
          <a:ln w="9525">
            <a:noFill/>
            <a:miter lim="800000"/>
            <a:headEnd/>
            <a:tailEnd/>
          </a:ln>
        </p:spPr>
        <p:txBody>
          <a:bodyPr>
            <a:spAutoFit/>
          </a:bodyPr>
          <a:lstStyle/>
          <a:p>
            <a:r>
              <a:rPr lang="en-US" sz="1600" b="1">
                <a:latin typeface="Baskerville Old Face" pitchFamily="18" charset="0"/>
              </a:rPr>
              <a:t>James Chiu</a:t>
            </a:r>
          </a:p>
          <a:p>
            <a:r>
              <a:rPr lang="en-US" sz="1600" b="1">
                <a:latin typeface="Baskerville Old Face" pitchFamily="18" charset="0"/>
              </a:rPr>
              <a:t>Nicholas Jozefczyk</a:t>
            </a:r>
          </a:p>
          <a:p>
            <a:r>
              <a:rPr lang="en-US" sz="1600" b="1">
                <a:latin typeface="Baskerville Old Face" pitchFamily="18" charset="0"/>
              </a:rPr>
              <a:t>Vinson Pham</a:t>
            </a:r>
          </a:p>
          <a:p>
            <a:endParaRPr lang="en-US" sz="1600">
              <a:latin typeface="Calibri"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pPr eaLnBrk="1" hangingPunct="1"/>
            <a:r>
              <a:rPr lang="en-US" smtClean="0">
                <a:latin typeface="Baskerville Old Face" pitchFamily="18" charset="0"/>
              </a:rPr>
              <a:t>Bank’s Primary Objective</a:t>
            </a:r>
          </a:p>
        </p:txBody>
      </p:sp>
      <p:sp>
        <p:nvSpPr>
          <p:cNvPr id="3" name="Content Placeholder 2"/>
          <p:cNvSpPr>
            <a:spLocks noGrp="1"/>
          </p:cNvSpPr>
          <p:nvPr>
            <p:ph idx="1"/>
          </p:nvPr>
        </p:nvSpPr>
        <p:spPr>
          <a:xfrm>
            <a:off x="457200" y="2819401"/>
            <a:ext cx="8229600" cy="3840163"/>
          </a:xfrm>
        </p:spPr>
        <p:txBody>
          <a:bodyPr rtlCol="0">
            <a:normAutofit fontScale="85000" lnSpcReduction="20000"/>
          </a:bodyPr>
          <a:lstStyle/>
          <a:p>
            <a:pPr eaLnBrk="1" fontAlgn="auto" hangingPunct="1">
              <a:spcAft>
                <a:spcPts val="0"/>
              </a:spcAft>
              <a:buFont typeface="Arial"/>
              <a:buChar char="•"/>
              <a:defRPr/>
            </a:pPr>
            <a:r>
              <a:rPr lang="en-US" dirty="0" smtClean="0"/>
              <a:t>The Bank of England’s main focus is on monetary stability with a target inflation rate set at 2%. The bank decides upon a short-term interest rate intended to drive the economy towards the desired inflation target and price stability. </a:t>
            </a:r>
          </a:p>
          <a:p>
            <a:pPr eaLnBrk="1" fontAlgn="auto" hangingPunct="1">
              <a:spcAft>
                <a:spcPts val="0"/>
              </a:spcAft>
              <a:buFont typeface="Arial"/>
              <a:buChar char="•"/>
              <a:defRPr/>
            </a:pPr>
            <a:r>
              <a:rPr lang="en-US" dirty="0" smtClean="0"/>
              <a:t>This inflation targeting policy has put great strain on a country experiencing a negative short-term output gap. As a result, the bank has neglected their goal of monetary stability and focused more greatly on its second core focus: financial stability.</a:t>
            </a:r>
            <a:endParaRPr lang="en-US" dirty="0"/>
          </a:p>
        </p:txBody>
      </p:sp>
      <p:sp>
        <p:nvSpPr>
          <p:cNvPr id="15363" name="TextBox 3"/>
          <p:cNvSpPr txBox="1">
            <a:spLocks noChangeArrowheads="1"/>
          </p:cNvSpPr>
          <p:nvPr/>
        </p:nvSpPr>
        <p:spPr bwMode="auto">
          <a:xfrm>
            <a:off x="1066800" y="1417638"/>
            <a:ext cx="7010400" cy="1308050"/>
          </a:xfrm>
          <a:prstGeom prst="rect">
            <a:avLst/>
          </a:prstGeom>
          <a:noFill/>
          <a:ln w="9525">
            <a:noFill/>
            <a:miter lim="800000"/>
            <a:headEnd/>
            <a:tailEnd/>
          </a:ln>
        </p:spPr>
        <p:txBody>
          <a:bodyPr>
            <a:spAutoFit/>
          </a:bodyPr>
          <a:lstStyle/>
          <a:p>
            <a:r>
              <a:rPr lang="en-US" sz="1400" i="1">
                <a:latin typeface="Calibri" pitchFamily="34" charset="0"/>
              </a:rPr>
              <a:t>The Bank should continue to improve the quality and efficiency of the processes supporting the Monetary Policy Committee, advance the analysis, practice and communication of inflation targeting, and enhance its understanding of the changing inflation process. </a:t>
            </a:r>
          </a:p>
          <a:p>
            <a:r>
              <a:rPr lang="en-US" sz="1400" i="1">
                <a:latin typeface="Calibri" pitchFamily="34" charset="0"/>
              </a:rPr>
              <a:t>							</a:t>
            </a:r>
          </a:p>
          <a:p>
            <a:r>
              <a:rPr lang="en-US" sz="1400" i="1">
                <a:latin typeface="Calibri" pitchFamily="34" charset="0"/>
              </a:rPr>
              <a:t>	-</a:t>
            </a:r>
            <a:r>
              <a:rPr lang="en-US" sz="1200">
                <a:latin typeface="Calibri" pitchFamily="34" charset="0"/>
              </a:rPr>
              <a:t>Bank of England’s Strategic Priorities 2009</a:t>
            </a:r>
            <a:r>
              <a:rPr lang="en-US" sz="1400">
                <a:latin typeface="Calibri" pitchFamily="34" charset="0"/>
              </a:rPr>
              <a:t>	 </a:t>
            </a:r>
            <a:r>
              <a:rPr lang="en-US" sz="900">
                <a:latin typeface="Calibri" pitchFamily="34" charset="0"/>
                <a:hlinkClick r:id="rId2"/>
              </a:rPr>
              <a:t>http://www.bankofengland.co.uk/about/strategy/index.htm</a:t>
            </a:r>
            <a:endParaRPr lang="en-US" sz="900">
              <a:latin typeface="Calibri" pitchFamily="34" charset="0"/>
            </a:endParaRPr>
          </a:p>
          <a:p>
            <a:endParaRPr lang="en-US" sz="900" i="1">
              <a:latin typeface="Calibri"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rtlCol="0">
            <a:normAutofit fontScale="90000"/>
          </a:bodyPr>
          <a:lstStyle/>
          <a:p>
            <a:pPr eaLnBrk="1" fontAlgn="auto" hangingPunct="1">
              <a:spcAft>
                <a:spcPts val="0"/>
              </a:spcAft>
              <a:defRPr/>
            </a:pPr>
            <a:r>
              <a:rPr lang="en-US" dirty="0" smtClean="0">
                <a:latin typeface="Baskerville Old Face"/>
                <a:cs typeface="Baskerville Old Face"/>
              </a:rPr>
              <a:t>The UK’s Recent Economic History</a:t>
            </a:r>
            <a:endParaRPr lang="en-US" dirty="0">
              <a:latin typeface="Baskerville Old Face"/>
              <a:cs typeface="Baskerville Old Face"/>
            </a:endParaRPr>
          </a:p>
        </p:txBody>
      </p:sp>
      <p:graphicFrame>
        <p:nvGraphicFramePr>
          <p:cNvPr id="4" name="Chart 3"/>
          <p:cNvGraphicFramePr/>
          <p:nvPr/>
        </p:nvGraphicFramePr>
        <p:xfrm>
          <a:off x="152400" y="1676400"/>
          <a:ext cx="8534400" cy="4724400"/>
        </p:xfrm>
        <a:graphic>
          <a:graphicData uri="http://schemas.openxmlformats.org/drawingml/2006/chart">
            <c:chart xmlns:c="http://schemas.openxmlformats.org/drawingml/2006/chart" xmlns:r="http://schemas.openxmlformats.org/officeDocument/2006/relationships" r:id="rId2"/>
          </a:graphicData>
        </a:graphic>
      </p:graphicFrame>
      <p:sp>
        <p:nvSpPr>
          <p:cNvPr id="16387" name="TextBox 4"/>
          <p:cNvSpPr txBox="1">
            <a:spLocks noChangeArrowheads="1"/>
          </p:cNvSpPr>
          <p:nvPr/>
        </p:nvSpPr>
        <p:spPr bwMode="auto">
          <a:xfrm>
            <a:off x="838200" y="5715001"/>
            <a:ext cx="7010400" cy="369332"/>
          </a:xfrm>
          <a:prstGeom prst="rect">
            <a:avLst/>
          </a:prstGeom>
          <a:noFill/>
          <a:ln w="9525">
            <a:noFill/>
            <a:miter lim="800000"/>
            <a:headEnd/>
            <a:tailEnd/>
          </a:ln>
        </p:spPr>
        <p:txBody>
          <a:bodyPr>
            <a:spAutoFit/>
          </a:bodyPr>
          <a:lstStyle/>
          <a:p>
            <a:r>
              <a:rPr lang="en-US" b="1">
                <a:latin typeface="Calibri" pitchFamily="34" charset="0"/>
              </a:rPr>
              <a:t>1989                                                                                                2009</a:t>
            </a:r>
          </a:p>
        </p:txBody>
      </p:sp>
      <p:sp>
        <p:nvSpPr>
          <p:cNvPr id="16388" name="TextBox 5"/>
          <p:cNvSpPr txBox="1">
            <a:spLocks noChangeArrowheads="1"/>
          </p:cNvSpPr>
          <p:nvPr/>
        </p:nvSpPr>
        <p:spPr bwMode="auto">
          <a:xfrm>
            <a:off x="152400" y="1981201"/>
            <a:ext cx="304800" cy="369332"/>
          </a:xfrm>
          <a:prstGeom prst="rect">
            <a:avLst/>
          </a:prstGeom>
          <a:noFill/>
          <a:ln w="9525">
            <a:noFill/>
            <a:miter lim="800000"/>
            <a:headEnd/>
            <a:tailEnd/>
          </a:ln>
        </p:spPr>
        <p:txBody>
          <a:bodyPr>
            <a:spAutoFit/>
          </a:bodyPr>
          <a:lstStyle/>
          <a:p>
            <a:r>
              <a:rPr lang="en-US" b="1">
                <a:latin typeface="Calibri" pitchFamily="34" charset="0"/>
              </a:rPr>
              <a:t>%</a:t>
            </a:r>
          </a:p>
        </p:txBody>
      </p:sp>
      <p:sp>
        <p:nvSpPr>
          <p:cNvPr id="16389" name="TextBox 7"/>
          <p:cNvSpPr txBox="1">
            <a:spLocks noChangeArrowheads="1"/>
          </p:cNvSpPr>
          <p:nvPr/>
        </p:nvSpPr>
        <p:spPr bwMode="auto">
          <a:xfrm>
            <a:off x="7315200" y="4953001"/>
            <a:ext cx="1600200" cy="2246769"/>
          </a:xfrm>
          <a:prstGeom prst="rect">
            <a:avLst/>
          </a:prstGeom>
          <a:noFill/>
          <a:ln w="9525">
            <a:noFill/>
            <a:miter lim="800000"/>
            <a:headEnd/>
            <a:tailEnd/>
          </a:ln>
        </p:spPr>
        <p:txBody>
          <a:bodyPr>
            <a:spAutoFit/>
          </a:bodyPr>
          <a:lstStyle/>
          <a:p>
            <a:r>
              <a:rPr lang="en-US" sz="1200" b="1">
                <a:latin typeface="Calibri" pitchFamily="34" charset="0"/>
              </a:rPr>
              <a:t>Sources:</a:t>
            </a:r>
          </a:p>
          <a:p>
            <a:r>
              <a:rPr lang="en-US" sz="1000" b="1">
                <a:latin typeface="Calibri" pitchFamily="34" charset="0"/>
              </a:rPr>
              <a:t>CPI Monthly and GDP Quarter on Quarter Growth (Chained 2003 dollars) SA time series data from :</a:t>
            </a:r>
          </a:p>
          <a:p>
            <a:r>
              <a:rPr lang="en-US" sz="1000" b="1">
                <a:latin typeface="Calibri" pitchFamily="34" charset="0"/>
                <a:hlinkClick r:id="rId3"/>
              </a:rPr>
              <a:t>www.statistics.gov.uk/statbase</a:t>
            </a:r>
            <a:endParaRPr lang="en-US" sz="1000" b="1">
              <a:latin typeface="Calibri" pitchFamily="34" charset="0"/>
            </a:endParaRPr>
          </a:p>
          <a:p>
            <a:r>
              <a:rPr lang="en-US" sz="1000" b="1">
                <a:latin typeface="Calibri" pitchFamily="34" charset="0"/>
              </a:rPr>
              <a:t>Bank rate history from : </a:t>
            </a:r>
            <a:r>
              <a:rPr lang="en-US" sz="1000" b="1">
                <a:latin typeface="Calibri" pitchFamily="34" charset="0"/>
                <a:hlinkClick r:id="rId4"/>
              </a:rPr>
              <a:t>www.bankofengland.co.uk</a:t>
            </a:r>
            <a:endParaRPr lang="en-US" sz="1000" b="1">
              <a:latin typeface="Calibri" pitchFamily="34" charset="0"/>
            </a:endParaRPr>
          </a:p>
          <a:p>
            <a:r>
              <a:rPr lang="en-US" sz="1000" b="1">
                <a:latin typeface="Calibri" pitchFamily="34" charset="0"/>
              </a:rPr>
              <a:t> </a:t>
            </a:r>
          </a:p>
          <a:p>
            <a:endParaRPr lang="en-US" b="1">
              <a:latin typeface="Calibri"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smtClean="0">
                <a:latin typeface="Baskerville Old Face" pitchFamily="18" charset="0"/>
              </a:rPr>
              <a:t>Current Economic Climate</a:t>
            </a:r>
          </a:p>
        </p:txBody>
      </p:sp>
      <p:sp>
        <p:nvSpPr>
          <p:cNvPr id="17410" name="Content Placeholder 2"/>
          <p:cNvSpPr>
            <a:spLocks noGrp="1"/>
          </p:cNvSpPr>
          <p:nvPr>
            <p:ph idx="1"/>
          </p:nvPr>
        </p:nvSpPr>
        <p:spPr>
          <a:xfrm>
            <a:off x="457200" y="1600201"/>
            <a:ext cx="4267200" cy="4525963"/>
          </a:xfrm>
        </p:spPr>
        <p:txBody>
          <a:bodyPr/>
          <a:lstStyle/>
          <a:p>
            <a:pPr eaLnBrk="1" hangingPunct="1"/>
            <a:r>
              <a:rPr lang="en-US" smtClean="0">
                <a:latin typeface="Baskerville Old Face" pitchFamily="18" charset="0"/>
              </a:rPr>
              <a:t>GDP  - DOWN!!!</a:t>
            </a:r>
          </a:p>
          <a:p>
            <a:pPr eaLnBrk="1" hangingPunct="1"/>
            <a:r>
              <a:rPr lang="en-US" smtClean="0">
                <a:latin typeface="Baskerville Old Face" pitchFamily="18" charset="0"/>
              </a:rPr>
              <a:t>Domestic Activity – WEAK!!!</a:t>
            </a:r>
          </a:p>
          <a:p>
            <a:pPr eaLnBrk="1" hangingPunct="1"/>
            <a:r>
              <a:rPr lang="en-US" smtClean="0">
                <a:latin typeface="Baskerville Old Face" pitchFamily="18" charset="0"/>
              </a:rPr>
              <a:t>Inflation Outlook – GRIM!!!</a:t>
            </a:r>
          </a:p>
          <a:p>
            <a:pPr eaLnBrk="1" hangingPunct="1"/>
            <a:r>
              <a:rPr lang="en-US" smtClean="0">
                <a:latin typeface="Baskerville Old Face" pitchFamily="18" charset="0"/>
              </a:rPr>
              <a:t>Financial Climate – VOLATILE!!!</a:t>
            </a:r>
          </a:p>
          <a:p>
            <a:pPr eaLnBrk="1" hangingPunct="1"/>
            <a:endParaRPr lang="en-US" smtClean="0"/>
          </a:p>
          <a:p>
            <a:pPr eaLnBrk="1" hangingPunct="1"/>
            <a:endParaRPr lang="en-US" smtClean="0"/>
          </a:p>
          <a:p>
            <a:pPr eaLnBrk="1" hangingPunct="1"/>
            <a:endParaRPr lang="en-US" smtClean="0"/>
          </a:p>
        </p:txBody>
      </p:sp>
      <p:pic>
        <p:nvPicPr>
          <p:cNvPr id="17411" name="Picture 3" descr="jump-20off-20a-20building-small.jpg"/>
          <p:cNvPicPr>
            <a:picLocks noChangeAspect="1"/>
          </p:cNvPicPr>
          <p:nvPr/>
        </p:nvPicPr>
        <p:blipFill>
          <a:blip r:embed="rId2"/>
          <a:srcRect/>
          <a:stretch>
            <a:fillRect/>
          </a:stretch>
        </p:blipFill>
        <p:spPr bwMode="auto">
          <a:xfrm>
            <a:off x="5105401" y="1600200"/>
            <a:ext cx="2984500" cy="4470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pPr eaLnBrk="1" hangingPunct="1"/>
            <a:r>
              <a:rPr lang="en-US" smtClean="0">
                <a:latin typeface="Baskerville Old Face" pitchFamily="18" charset="0"/>
              </a:rPr>
              <a:t>Quarterly GDP Growth</a:t>
            </a:r>
          </a:p>
        </p:txBody>
      </p:sp>
      <p:sp>
        <p:nvSpPr>
          <p:cNvPr id="18434" name="Content Placeholder 2"/>
          <p:cNvSpPr>
            <a:spLocks noGrp="1"/>
          </p:cNvSpPr>
          <p:nvPr>
            <p:ph idx="1"/>
          </p:nvPr>
        </p:nvSpPr>
        <p:spPr/>
        <p:txBody>
          <a:bodyPr/>
          <a:lstStyle/>
          <a:p>
            <a:pPr eaLnBrk="1" hangingPunct="1"/>
            <a:r>
              <a:rPr lang="en-US" smtClean="0">
                <a:latin typeface="Baskerville Old Face" pitchFamily="18" charset="0"/>
              </a:rPr>
              <a:t>GDP reportedly fell by -1.5% in Q4 2008.</a:t>
            </a:r>
          </a:p>
          <a:p>
            <a:pPr eaLnBrk="1" hangingPunct="1"/>
            <a:r>
              <a:rPr lang="en-US" smtClean="0">
                <a:latin typeface="Baskerville Old Face" pitchFamily="18" charset="0"/>
              </a:rPr>
              <a:t>Largest quarterly fall since 1980.</a:t>
            </a:r>
          </a:p>
          <a:p>
            <a:pPr eaLnBrk="1" hangingPunct="1"/>
            <a:endParaRPr lang="en-US" smtClean="0"/>
          </a:p>
          <a:p>
            <a:pPr eaLnBrk="1" hangingPunct="1"/>
            <a:endParaRPr lang="en-US" smtClean="0"/>
          </a:p>
        </p:txBody>
      </p:sp>
      <p:graphicFrame>
        <p:nvGraphicFramePr>
          <p:cNvPr id="4" name="Chart 3"/>
          <p:cNvGraphicFramePr/>
          <p:nvPr/>
        </p:nvGraphicFramePr>
        <p:xfrm>
          <a:off x="1295400" y="2819400"/>
          <a:ext cx="5791200" cy="3581400"/>
        </p:xfrm>
        <a:graphic>
          <a:graphicData uri="http://schemas.openxmlformats.org/drawingml/2006/chart">
            <c:chart xmlns:c="http://schemas.openxmlformats.org/drawingml/2006/chart" xmlns:r="http://schemas.openxmlformats.org/officeDocument/2006/relationships" r:id="rId2"/>
          </a:graphicData>
        </a:graphic>
      </p:graphicFrame>
      <p:sp>
        <p:nvSpPr>
          <p:cNvPr id="18436" name="TextBox 4"/>
          <p:cNvSpPr txBox="1">
            <a:spLocks noChangeArrowheads="1"/>
          </p:cNvSpPr>
          <p:nvPr/>
        </p:nvSpPr>
        <p:spPr bwMode="auto">
          <a:xfrm>
            <a:off x="1752600" y="4610100"/>
            <a:ext cx="685800" cy="261610"/>
          </a:xfrm>
          <a:prstGeom prst="rect">
            <a:avLst/>
          </a:prstGeom>
          <a:noFill/>
          <a:ln w="9525">
            <a:noFill/>
            <a:miter lim="800000"/>
            <a:headEnd/>
            <a:tailEnd/>
          </a:ln>
        </p:spPr>
        <p:txBody>
          <a:bodyPr>
            <a:spAutoFit/>
          </a:bodyPr>
          <a:lstStyle/>
          <a:p>
            <a:r>
              <a:rPr lang="en-US" sz="1100" b="1">
                <a:latin typeface="Calibri" pitchFamily="34" charset="0"/>
              </a:rPr>
              <a:t>2000</a:t>
            </a:r>
          </a:p>
        </p:txBody>
      </p:sp>
      <p:sp>
        <p:nvSpPr>
          <p:cNvPr id="18437" name="TextBox 6"/>
          <p:cNvSpPr txBox="1">
            <a:spLocks noChangeArrowheads="1"/>
          </p:cNvSpPr>
          <p:nvPr/>
        </p:nvSpPr>
        <p:spPr bwMode="auto">
          <a:xfrm>
            <a:off x="2438400" y="4610101"/>
            <a:ext cx="685800" cy="261610"/>
          </a:xfrm>
          <a:prstGeom prst="rect">
            <a:avLst/>
          </a:prstGeom>
          <a:noFill/>
          <a:ln w="9525">
            <a:noFill/>
            <a:miter lim="800000"/>
            <a:headEnd/>
            <a:tailEnd/>
          </a:ln>
        </p:spPr>
        <p:txBody>
          <a:bodyPr>
            <a:spAutoFit/>
          </a:bodyPr>
          <a:lstStyle/>
          <a:p>
            <a:r>
              <a:rPr lang="en-US" sz="1100" b="1">
                <a:latin typeface="Calibri" pitchFamily="34" charset="0"/>
              </a:rPr>
              <a:t>Sept. 01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5"/>
          <p:cNvSpPr>
            <a:spLocks noChangeArrowheads="1"/>
          </p:cNvSpPr>
          <p:nvPr/>
        </p:nvSpPr>
        <p:spPr bwMode="auto">
          <a:xfrm>
            <a:off x="228600" y="3810000"/>
            <a:ext cx="2286000" cy="1384995"/>
          </a:xfrm>
          <a:prstGeom prst="rect">
            <a:avLst/>
          </a:prstGeom>
          <a:noFill/>
          <a:ln w="9525">
            <a:noFill/>
            <a:miter lim="800000"/>
            <a:headEnd/>
            <a:tailEnd/>
          </a:ln>
        </p:spPr>
        <p:txBody>
          <a:bodyPr>
            <a:spAutoFit/>
          </a:bodyPr>
          <a:lstStyle/>
          <a:p>
            <a:pPr algn="ctr"/>
            <a:r>
              <a:rPr lang="en-US" sz="2800">
                <a:latin typeface="Baskerville Old Face" pitchFamily="18" charset="0"/>
              </a:rPr>
              <a:t>	Contributions to quarterly GDP growth</a:t>
            </a:r>
            <a:r>
              <a:rPr lang="en-US" sz="2800" baseline="30000">
                <a:latin typeface="Baskerville Old Face" pitchFamily="18" charset="0"/>
              </a:rPr>
              <a:t>(a)</a:t>
            </a:r>
            <a:r>
              <a:rPr lang="en-US" sz="2800">
                <a:latin typeface="Baskerville Old Face" pitchFamily="18" charset="0"/>
              </a:rPr>
              <a:t> </a:t>
            </a:r>
          </a:p>
        </p:txBody>
      </p:sp>
      <p:sp>
        <p:nvSpPr>
          <p:cNvPr id="19458" name="Rectangle 24"/>
          <p:cNvSpPr>
            <a:spLocks noChangeArrowheads="1"/>
          </p:cNvSpPr>
          <p:nvPr/>
        </p:nvSpPr>
        <p:spPr bwMode="auto">
          <a:xfrm>
            <a:off x="0" y="6399214"/>
            <a:ext cx="9144000" cy="461665"/>
          </a:xfrm>
          <a:prstGeom prst="rect">
            <a:avLst/>
          </a:prstGeom>
          <a:noFill/>
          <a:ln w="9525">
            <a:noFill/>
            <a:miter lim="800000"/>
            <a:headEnd/>
            <a:tailEnd/>
          </a:ln>
        </p:spPr>
        <p:txBody>
          <a:bodyPr>
            <a:spAutoFit/>
          </a:bodyPr>
          <a:lstStyle/>
          <a:p>
            <a:r>
              <a:rPr lang="en-US" sz="800">
                <a:latin typeface="Calibri" pitchFamily="34" charset="0"/>
              </a:rPr>
              <a:t>(a)  Chained-volume measures, at basic prices.  The figures in parentheses show shares in the level of nominal value added in 2007.  Contributions do not sum to GDP due to rounding.  </a:t>
            </a:r>
            <a:br>
              <a:rPr lang="en-US" sz="800">
                <a:latin typeface="Calibri" pitchFamily="34" charset="0"/>
              </a:rPr>
            </a:br>
            <a:r>
              <a:rPr lang="en-US" sz="800">
                <a:latin typeface="Calibri" pitchFamily="34" charset="0"/>
              </a:rPr>
              <a:t>       The chart shows data consistent with January’s preliminary GDP release.  Production data were subsequently revised.  </a:t>
            </a:r>
          </a:p>
          <a:p>
            <a:r>
              <a:rPr lang="en-US" sz="800">
                <a:latin typeface="Calibri" pitchFamily="34" charset="0"/>
              </a:rPr>
              <a:t>(b)  Includes agriculture, mining and quarrying, electricity, gas and water supply and construction. </a:t>
            </a:r>
          </a:p>
        </p:txBody>
      </p:sp>
      <p:pic>
        <p:nvPicPr>
          <p:cNvPr id="19459" name="Picture 25" descr="Chart 3"/>
          <p:cNvPicPr>
            <a:picLocks noChangeAspect="1" noChangeArrowheads="1"/>
          </p:cNvPicPr>
          <p:nvPr/>
        </p:nvPicPr>
        <p:blipFill>
          <a:blip r:embed="rId3"/>
          <a:srcRect/>
          <a:stretch>
            <a:fillRect/>
          </a:stretch>
        </p:blipFill>
        <p:spPr bwMode="auto">
          <a:xfrm>
            <a:off x="4033839" y="3240088"/>
            <a:ext cx="3343275" cy="3125787"/>
          </a:xfrm>
          <a:prstGeom prst="rect">
            <a:avLst/>
          </a:prstGeom>
          <a:noFill/>
          <a:ln w="9525">
            <a:noFill/>
            <a:miter lim="800000"/>
            <a:headEnd/>
            <a:tailEnd/>
          </a:ln>
        </p:spPr>
      </p:pic>
      <p:sp>
        <p:nvSpPr>
          <p:cNvPr id="19460" name="TextBox 5"/>
          <p:cNvSpPr txBox="1">
            <a:spLocks noChangeArrowheads="1"/>
          </p:cNvSpPr>
          <p:nvPr/>
        </p:nvSpPr>
        <p:spPr bwMode="auto">
          <a:xfrm>
            <a:off x="2743200" y="4648200"/>
            <a:ext cx="914400" cy="369332"/>
          </a:xfrm>
          <a:prstGeom prst="rect">
            <a:avLst/>
          </a:prstGeom>
          <a:noFill/>
          <a:ln w="9525">
            <a:noFill/>
            <a:miter lim="800000"/>
            <a:headEnd/>
            <a:tailEnd/>
          </a:ln>
        </p:spPr>
        <p:txBody>
          <a:bodyPr>
            <a:spAutoFit/>
          </a:bodyPr>
          <a:lstStyle/>
          <a:p>
            <a:r>
              <a:rPr lang="en-US">
                <a:latin typeface="Wingdings" pitchFamily="2" charset="2"/>
              </a:rPr>
              <a:t></a:t>
            </a:r>
            <a:endParaRPr lang="en-US">
              <a:latin typeface="Calibri" pitchFamily="34" charset="0"/>
            </a:endParaRPr>
          </a:p>
        </p:txBody>
      </p:sp>
      <p:sp>
        <p:nvSpPr>
          <p:cNvPr id="19461" name="TextBox 6"/>
          <p:cNvSpPr txBox="1">
            <a:spLocks noChangeArrowheads="1"/>
          </p:cNvSpPr>
          <p:nvPr/>
        </p:nvSpPr>
        <p:spPr bwMode="auto">
          <a:xfrm>
            <a:off x="457200" y="152400"/>
            <a:ext cx="8153400" cy="2862322"/>
          </a:xfrm>
          <a:prstGeom prst="rect">
            <a:avLst/>
          </a:prstGeom>
          <a:noFill/>
          <a:ln w="9525">
            <a:noFill/>
            <a:miter lim="800000"/>
            <a:headEnd/>
            <a:tailEnd/>
          </a:ln>
        </p:spPr>
        <p:txBody>
          <a:bodyPr>
            <a:spAutoFit/>
          </a:bodyPr>
          <a:lstStyle/>
          <a:p>
            <a:r>
              <a:rPr lang="en-US" sz="3200">
                <a:latin typeface="Baskerville Old Face" pitchFamily="18" charset="0"/>
              </a:rPr>
              <a:t>The fact that the GDP has dropped so severely in this financial crisis suggests the need for the Bank of England to enact expansionary policy.   We will save our finally policy recommendation until we fully examine the UK economy.</a:t>
            </a:r>
          </a:p>
          <a:p>
            <a:endParaRPr lang="en-US">
              <a:latin typeface="Calibri"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5"/>
          <p:cNvSpPr>
            <a:spLocks noChangeArrowheads="1"/>
          </p:cNvSpPr>
          <p:nvPr/>
        </p:nvSpPr>
        <p:spPr bwMode="auto">
          <a:xfrm>
            <a:off x="358776" y="179388"/>
            <a:ext cx="8081963" cy="461665"/>
          </a:xfrm>
          <a:prstGeom prst="rect">
            <a:avLst/>
          </a:prstGeom>
          <a:noFill/>
          <a:ln w="9525">
            <a:noFill/>
            <a:miter lim="800000"/>
            <a:headEnd/>
            <a:tailEnd/>
          </a:ln>
        </p:spPr>
        <p:txBody>
          <a:bodyPr>
            <a:spAutoFit/>
          </a:bodyPr>
          <a:lstStyle/>
          <a:p>
            <a:r>
              <a:rPr lang="en-US" sz="2400">
                <a:latin typeface="Baskerville Old Face" pitchFamily="18" charset="0"/>
              </a:rPr>
              <a:t>GDP projection based on constant nominal interest rates at 1%</a:t>
            </a:r>
          </a:p>
        </p:txBody>
      </p:sp>
      <p:sp>
        <p:nvSpPr>
          <p:cNvPr id="21506" name="Rectangle 6"/>
          <p:cNvSpPr>
            <a:spLocks noChangeArrowheads="1"/>
          </p:cNvSpPr>
          <p:nvPr/>
        </p:nvSpPr>
        <p:spPr bwMode="auto">
          <a:xfrm>
            <a:off x="79374" y="6575426"/>
            <a:ext cx="8426451" cy="369332"/>
          </a:xfrm>
          <a:prstGeom prst="rect">
            <a:avLst/>
          </a:prstGeom>
          <a:noFill/>
          <a:ln w="9525">
            <a:noFill/>
            <a:miter lim="800000"/>
            <a:headEnd/>
            <a:tailEnd/>
          </a:ln>
        </p:spPr>
        <p:txBody>
          <a:bodyPr>
            <a:spAutoFit/>
          </a:bodyPr>
          <a:lstStyle/>
          <a:p>
            <a:endParaRPr lang="en-GB">
              <a:latin typeface="Calibri" pitchFamily="34" charset="0"/>
            </a:endParaRPr>
          </a:p>
        </p:txBody>
      </p:sp>
      <p:sp>
        <p:nvSpPr>
          <p:cNvPr id="21507" name="Rectangle 8"/>
          <p:cNvSpPr>
            <a:spLocks noChangeArrowheads="1"/>
          </p:cNvSpPr>
          <p:nvPr/>
        </p:nvSpPr>
        <p:spPr bwMode="auto">
          <a:xfrm>
            <a:off x="79375" y="4821239"/>
            <a:ext cx="8655051" cy="1754187"/>
          </a:xfrm>
          <a:prstGeom prst="rect">
            <a:avLst/>
          </a:prstGeom>
          <a:noFill/>
          <a:ln w="9525">
            <a:noFill/>
            <a:miter lim="800000"/>
            <a:headEnd/>
            <a:tailEnd/>
          </a:ln>
        </p:spPr>
        <p:txBody>
          <a:bodyPr>
            <a:spAutoFit/>
          </a:bodyPr>
          <a:lstStyle/>
          <a:p>
            <a:r>
              <a:rPr lang="en-US">
                <a:latin typeface="Baskerville Old Face" pitchFamily="18" charset="0"/>
              </a:rPr>
              <a:t>The fan chart depicts the probability of various outcomes for GDP growth.  To the left of the first vertical dashed line, the distribution reflects the likelihood of revisions to the data over the past;  to the right, it reflects uncertainty over the evolution of GDP growth in the future.  If economic circumstances identical to today’s were to prevail on 100 occasions, the MPC’s best collective judgement is that the mature estimate of GDP growth would lie within the darkest central band on only 10 of those occasions.  </a:t>
            </a:r>
          </a:p>
        </p:txBody>
      </p:sp>
      <p:pic>
        <p:nvPicPr>
          <p:cNvPr id="21508" name="Picture 9" descr="gdpconsfeb09"/>
          <p:cNvPicPr>
            <a:picLocks noChangeAspect="1" noChangeArrowheads="1"/>
          </p:cNvPicPr>
          <p:nvPr/>
        </p:nvPicPr>
        <p:blipFill>
          <a:blip r:embed="rId3"/>
          <a:srcRect/>
          <a:stretch>
            <a:fillRect/>
          </a:stretch>
        </p:blipFill>
        <p:spPr bwMode="auto">
          <a:xfrm>
            <a:off x="2362200" y="914400"/>
            <a:ext cx="4343400" cy="3886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Box 1"/>
          <p:cNvSpPr txBox="1">
            <a:spLocks noChangeArrowheads="1"/>
          </p:cNvSpPr>
          <p:nvPr/>
        </p:nvSpPr>
        <p:spPr bwMode="auto">
          <a:xfrm>
            <a:off x="533400" y="381000"/>
            <a:ext cx="8305800" cy="4131900"/>
          </a:xfrm>
          <a:prstGeom prst="rect">
            <a:avLst/>
          </a:prstGeom>
          <a:noFill/>
          <a:ln w="9525">
            <a:noFill/>
            <a:miter lim="800000"/>
            <a:headEnd/>
            <a:tailEnd/>
          </a:ln>
        </p:spPr>
        <p:txBody>
          <a:bodyPr>
            <a:spAutoFit/>
          </a:bodyPr>
          <a:lstStyle/>
          <a:p>
            <a:r>
              <a:rPr lang="en-US" sz="3200">
                <a:latin typeface="Baskerville Old Face" pitchFamily="18" charset="0"/>
              </a:rPr>
              <a:t>The graph on the previous page shows what is forecasted to happen if the Bank decides to leave the bank rate at 1%. Although an uptick in the output gap is expected, it is not until 2010 at the earliest that the economy is expected to return to a positive output gap. This may not be a sufficiently strong policy, as many of the other aspects of the domestic economy are expected to worsen.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pPr eaLnBrk="1" hangingPunct="1"/>
            <a:r>
              <a:rPr lang="en-US" smtClean="0">
                <a:latin typeface="Baskerville Old Face" pitchFamily="18" charset="0"/>
              </a:rPr>
              <a:t>Current UK Policy</a:t>
            </a:r>
          </a:p>
        </p:txBody>
      </p:sp>
      <p:sp>
        <p:nvSpPr>
          <p:cNvPr id="24578" name="Content Placeholder 2"/>
          <p:cNvSpPr>
            <a:spLocks noGrp="1"/>
          </p:cNvSpPr>
          <p:nvPr>
            <p:ph idx="1"/>
          </p:nvPr>
        </p:nvSpPr>
        <p:spPr/>
        <p:txBody>
          <a:bodyPr/>
          <a:lstStyle/>
          <a:p>
            <a:pPr eaLnBrk="1" hangingPunct="1"/>
            <a:r>
              <a:rPr lang="en-US" smtClean="0">
                <a:latin typeface="Baskerville Old Face" pitchFamily="18" charset="0"/>
              </a:rPr>
              <a:t>Current Bank Rate  0.5% (3/5/09)</a:t>
            </a:r>
            <a:br>
              <a:rPr lang="en-US" smtClean="0">
                <a:latin typeface="Baskerville Old Face" pitchFamily="18" charset="0"/>
              </a:rPr>
            </a:br>
            <a:r>
              <a:rPr lang="en-US" smtClean="0">
                <a:latin typeface="Baskerville Old Face" pitchFamily="18" charset="0"/>
              </a:rPr>
              <a:t>Next due: 9 Apr '09</a:t>
            </a:r>
          </a:p>
          <a:p>
            <a:pPr eaLnBrk="1" hangingPunct="1"/>
            <a:r>
              <a:rPr lang="en-US" smtClean="0">
                <a:latin typeface="Baskerville Old Face" pitchFamily="18" charset="0"/>
              </a:rPr>
              <a:t> Current Inflation (CPI) 3.0%</a:t>
            </a:r>
            <a:br>
              <a:rPr lang="en-US" smtClean="0">
                <a:latin typeface="Baskerville Old Face" pitchFamily="18" charset="0"/>
              </a:rPr>
            </a:br>
            <a:r>
              <a:rPr lang="en-US" smtClean="0">
                <a:latin typeface="Baskerville Old Face" pitchFamily="18" charset="0"/>
              </a:rPr>
              <a:t>Next due: 24 Mar '09 </a:t>
            </a:r>
          </a:p>
          <a:p>
            <a:pPr eaLnBrk="1" hangingPunct="1"/>
            <a:r>
              <a:rPr lang="en-US" smtClean="0">
                <a:latin typeface="Baskerville Old Face" pitchFamily="18" charset="0"/>
              </a:rPr>
              <a:t>Inflation Target 2.0%</a:t>
            </a:r>
            <a:br>
              <a:rPr lang="en-US" smtClean="0">
                <a:latin typeface="Baskerville Old Face" pitchFamily="18" charset="0"/>
              </a:rPr>
            </a:br>
            <a:r>
              <a:rPr lang="en-US" smtClean="0">
                <a:latin typeface="Baskerville Old Face" pitchFamily="18" charset="0"/>
              </a:rPr>
              <a:t>Next due: Feb '09</a:t>
            </a:r>
            <a:br>
              <a:rPr lang="en-US" smtClean="0">
                <a:latin typeface="Baskerville Old Face" pitchFamily="18" charset="0"/>
              </a:rPr>
            </a:br>
            <a:endParaRPr lang="en-US" smtClean="0">
              <a:latin typeface="Baskerville Old Face" pitchFamily="18" charset="0"/>
            </a:endParaRPr>
          </a:p>
          <a:p>
            <a:pPr eaLnBrk="1" hangingPunct="1">
              <a:buFont typeface="Arial" charset="0"/>
              <a:buNone/>
            </a:pPr>
            <a:r>
              <a:rPr lang="en-US" smtClean="0">
                <a:latin typeface="Baskerville Old Face" pitchFamily="18" charset="0"/>
              </a:rPr>
              <a:t>Next Inflation Report 13 May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ctrTitle"/>
          </p:nvPr>
        </p:nvSpPr>
        <p:spPr>
          <a:xfrm>
            <a:off x="838200" y="-403225"/>
            <a:ext cx="7772400" cy="1470025"/>
          </a:xfrm>
        </p:spPr>
        <p:txBody>
          <a:bodyPr/>
          <a:lstStyle/>
          <a:p>
            <a:pPr eaLnBrk="1" hangingPunct="1"/>
            <a:r>
              <a:rPr lang="en-US" smtClean="0">
                <a:latin typeface="Baskerville Old Face" pitchFamily="18" charset="0"/>
              </a:rPr>
              <a:t>Domestic Activity</a:t>
            </a:r>
          </a:p>
        </p:txBody>
      </p:sp>
      <p:sp>
        <p:nvSpPr>
          <p:cNvPr id="25602" name="Subtitle 2"/>
          <p:cNvSpPr>
            <a:spLocks noGrp="1"/>
          </p:cNvSpPr>
          <p:nvPr>
            <p:ph type="subTitle" idx="1"/>
          </p:nvPr>
        </p:nvSpPr>
        <p:spPr>
          <a:xfrm>
            <a:off x="1371600" y="4762500"/>
            <a:ext cx="6400800" cy="1752600"/>
          </a:xfrm>
        </p:spPr>
        <p:txBody>
          <a:bodyPr/>
          <a:lstStyle/>
          <a:p>
            <a:pPr eaLnBrk="1" hangingPunct="1"/>
            <a:endParaRPr lang="en-US" smtClean="0">
              <a:solidFill>
                <a:srgbClr val="898989"/>
              </a:solidFill>
              <a:latin typeface="Baskerville Old Face" pitchFamily="18" charset="0"/>
            </a:endParaRPr>
          </a:p>
          <a:p>
            <a:pPr eaLnBrk="1" hangingPunct="1"/>
            <a:r>
              <a:rPr lang="en-US" smtClean="0">
                <a:solidFill>
                  <a:srgbClr val="898989"/>
                </a:solidFill>
                <a:latin typeface="Baskerville Old Face" pitchFamily="18" charset="0"/>
              </a:rPr>
              <a:t>Downturn in world economy</a:t>
            </a:r>
          </a:p>
          <a:p>
            <a:pPr eaLnBrk="1" hangingPunct="1"/>
            <a:r>
              <a:rPr lang="en-US" smtClean="0">
                <a:solidFill>
                  <a:srgbClr val="898989"/>
                </a:solidFill>
                <a:latin typeface="Baskerville Old Face" pitchFamily="18" charset="0"/>
              </a:rPr>
              <a:t>Further Tightening of Credit</a:t>
            </a:r>
          </a:p>
          <a:p>
            <a:pPr eaLnBrk="1" hangingPunct="1"/>
            <a:endParaRPr lang="en-US" smtClean="0">
              <a:solidFill>
                <a:srgbClr val="898989"/>
              </a:solidFill>
            </a:endParaRPr>
          </a:p>
          <a:p>
            <a:pPr eaLnBrk="1" hangingPunct="1"/>
            <a:endParaRPr lang="en-US" smtClean="0">
              <a:solidFill>
                <a:srgbClr val="898989"/>
              </a:solidFill>
            </a:endParaRPr>
          </a:p>
          <a:p>
            <a:pPr eaLnBrk="1" hangingPunct="1"/>
            <a:endParaRPr lang="en-US" smtClean="0">
              <a:solidFill>
                <a:srgbClr val="898989"/>
              </a:solidFill>
            </a:endParaRPr>
          </a:p>
          <a:p>
            <a:pPr eaLnBrk="1" hangingPunct="1"/>
            <a:endParaRPr lang="en-US" smtClean="0">
              <a:solidFill>
                <a:srgbClr val="898989"/>
              </a:solidFill>
            </a:endParaRPr>
          </a:p>
        </p:txBody>
      </p:sp>
      <p:pic>
        <p:nvPicPr>
          <p:cNvPr id="25603" name="Picture 5" descr="recessions_door.jpg"/>
          <p:cNvPicPr>
            <a:picLocks noChangeAspect="1"/>
          </p:cNvPicPr>
          <p:nvPr/>
        </p:nvPicPr>
        <p:blipFill>
          <a:blip r:embed="rId2"/>
          <a:srcRect/>
          <a:stretch>
            <a:fillRect/>
          </a:stretch>
        </p:blipFill>
        <p:spPr bwMode="auto">
          <a:xfrm>
            <a:off x="1066800" y="1066801"/>
            <a:ext cx="6934200" cy="413067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pPr eaLnBrk="1" hangingPunct="1"/>
            <a:r>
              <a:rPr lang="en-US" smtClean="0">
                <a:latin typeface="Baskerville Old Face" pitchFamily="18" charset="0"/>
              </a:rPr>
              <a:t>Domestic Conditions</a:t>
            </a:r>
          </a:p>
        </p:txBody>
      </p:sp>
      <p:sp>
        <p:nvSpPr>
          <p:cNvPr id="26626" name="Content Placeholder 2"/>
          <p:cNvSpPr>
            <a:spLocks noGrp="1"/>
          </p:cNvSpPr>
          <p:nvPr>
            <p:ph idx="1"/>
          </p:nvPr>
        </p:nvSpPr>
        <p:spPr/>
        <p:txBody>
          <a:bodyPr/>
          <a:lstStyle/>
          <a:p>
            <a:pPr eaLnBrk="1" hangingPunct="1"/>
            <a:r>
              <a:rPr lang="en-US" smtClean="0">
                <a:latin typeface="Baskerville Old Face" pitchFamily="18" charset="0"/>
              </a:rPr>
              <a:t>Falling house prices.</a:t>
            </a:r>
          </a:p>
          <a:p>
            <a:pPr eaLnBrk="1" hangingPunct="1"/>
            <a:r>
              <a:rPr lang="en-US" smtClean="0">
                <a:latin typeface="Baskerville Old Face" pitchFamily="18" charset="0"/>
              </a:rPr>
              <a:t>Low mortgage approval.</a:t>
            </a:r>
          </a:p>
          <a:p>
            <a:pPr eaLnBrk="1" hangingPunct="1"/>
            <a:r>
              <a:rPr lang="en-US" smtClean="0">
                <a:latin typeface="Baskerville Old Face" pitchFamily="18" charset="0"/>
              </a:rPr>
              <a:t>Biggest investment drop since 1980.</a:t>
            </a:r>
          </a:p>
          <a:p>
            <a:pPr eaLnBrk="1" hangingPunct="1"/>
            <a:r>
              <a:rPr lang="en-US" smtClean="0">
                <a:latin typeface="Baskerville Old Face" pitchFamily="18" charset="0"/>
              </a:rPr>
              <a:t>European Commissions Economic Sentiment Indicator (a series of surveys dealing with all sectors of the economy) for UK at an all –time low.</a:t>
            </a:r>
          </a:p>
          <a:p>
            <a:pPr eaLnBrk="1" hangingPunct="1"/>
            <a:endParaRPr lang="en-US" smtClean="0">
              <a:latin typeface="Baskerville Old Face" pitchFamily="18" charset="0"/>
            </a:endParaRPr>
          </a:p>
        </p:txBody>
      </p:sp>
      <p:sp>
        <p:nvSpPr>
          <p:cNvPr id="26627" name="TextBox 3"/>
          <p:cNvSpPr txBox="1">
            <a:spLocks noChangeArrowheads="1"/>
          </p:cNvSpPr>
          <p:nvPr/>
        </p:nvSpPr>
        <p:spPr bwMode="auto">
          <a:xfrm>
            <a:off x="3048000" y="5638801"/>
            <a:ext cx="5410200" cy="461665"/>
          </a:xfrm>
          <a:prstGeom prst="rect">
            <a:avLst/>
          </a:prstGeom>
          <a:noFill/>
          <a:ln w="9525">
            <a:noFill/>
            <a:miter lim="800000"/>
            <a:headEnd/>
            <a:tailEnd/>
          </a:ln>
        </p:spPr>
        <p:txBody>
          <a:bodyPr>
            <a:spAutoFit/>
          </a:bodyPr>
          <a:lstStyle/>
          <a:p>
            <a:r>
              <a:rPr lang="en-US" sz="1200">
                <a:latin typeface="Calibri" pitchFamily="34" charset="0"/>
                <a:hlinkClick r:id="rId2"/>
              </a:rPr>
              <a:t>http://www.tradingeconomics.com/Economics/GDP-Growth.aspx?Symbol=GBP</a:t>
            </a:r>
            <a:endParaRPr lang="en-US" sz="1200">
              <a:latin typeface="Calibri" pitchFamily="34" charset="0"/>
            </a:endParaRPr>
          </a:p>
          <a:p>
            <a:endParaRPr lang="en-US" sz="1200">
              <a:latin typeface="Calibri"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4"/>
          <p:cNvSpPr>
            <a:spLocks noChangeArrowheads="1"/>
          </p:cNvSpPr>
          <p:nvPr/>
        </p:nvSpPr>
        <p:spPr bwMode="auto">
          <a:xfrm>
            <a:off x="517525" y="522289"/>
            <a:ext cx="7507288" cy="584775"/>
          </a:xfrm>
          <a:prstGeom prst="rect">
            <a:avLst/>
          </a:prstGeom>
          <a:noFill/>
          <a:ln w="9525">
            <a:noFill/>
            <a:miter lim="800000"/>
            <a:headEnd/>
            <a:tailEnd/>
          </a:ln>
        </p:spPr>
        <p:txBody>
          <a:bodyPr>
            <a:spAutoFit/>
          </a:bodyPr>
          <a:lstStyle/>
          <a:p>
            <a:endParaRPr lang="en-US">
              <a:solidFill>
                <a:srgbClr val="960000"/>
              </a:solidFill>
              <a:latin typeface="Calibri" pitchFamily="34" charset="0"/>
            </a:endParaRPr>
          </a:p>
          <a:p>
            <a:r>
              <a:rPr lang="en-US" sz="1400">
                <a:solidFill>
                  <a:srgbClr val="960000"/>
                </a:solidFill>
                <a:latin typeface="Calibri" pitchFamily="34" charset="0"/>
              </a:rPr>
              <a:t>Chart 2.1</a:t>
            </a:r>
            <a:r>
              <a:rPr lang="en-US" sz="1400">
                <a:latin typeface="Calibri" pitchFamily="34" charset="0"/>
              </a:rPr>
              <a:t>  Business surveys of output in selected countries</a:t>
            </a:r>
            <a:r>
              <a:rPr lang="en-US" sz="1400" baseline="30000">
                <a:latin typeface="Calibri" pitchFamily="34" charset="0"/>
              </a:rPr>
              <a:t>(a)</a:t>
            </a:r>
            <a:endParaRPr lang="en-US" sz="1400">
              <a:latin typeface="Calibri" pitchFamily="34" charset="0"/>
            </a:endParaRPr>
          </a:p>
        </p:txBody>
      </p:sp>
      <p:sp>
        <p:nvSpPr>
          <p:cNvPr id="27650" name="Rectangle 5"/>
          <p:cNvSpPr>
            <a:spLocks noChangeArrowheads="1"/>
          </p:cNvSpPr>
          <p:nvPr/>
        </p:nvSpPr>
        <p:spPr bwMode="auto">
          <a:xfrm>
            <a:off x="41275" y="6161088"/>
            <a:ext cx="8469313" cy="707886"/>
          </a:xfrm>
          <a:prstGeom prst="rect">
            <a:avLst/>
          </a:prstGeom>
          <a:noFill/>
          <a:ln w="9525">
            <a:noFill/>
            <a:miter lim="800000"/>
            <a:headEnd/>
            <a:tailEnd/>
          </a:ln>
        </p:spPr>
        <p:txBody>
          <a:bodyPr>
            <a:spAutoFit/>
          </a:bodyPr>
          <a:lstStyle/>
          <a:p>
            <a:r>
              <a:rPr lang="en-US" sz="800">
                <a:latin typeface="Calibri" pitchFamily="34" charset="0"/>
              </a:rPr>
              <a:t>Sources:  Bloomberg, Bureau of Economic Analysis, CIPS/Markit, Eurostat, Institute for Supply Management and ONS. </a:t>
            </a:r>
          </a:p>
          <a:p>
            <a:endParaRPr lang="en-US" sz="800">
              <a:latin typeface="Calibri" pitchFamily="34" charset="0"/>
            </a:endParaRPr>
          </a:p>
          <a:p>
            <a:r>
              <a:rPr lang="en-US" sz="800">
                <a:latin typeface="Calibri" pitchFamily="34" charset="0"/>
              </a:rPr>
              <a:t>(a)  A figure over 50 indicates rising output compared with the previous month, and a figure below 50 indicates falling output.</a:t>
            </a:r>
          </a:p>
          <a:p>
            <a:r>
              <a:rPr lang="en-US" sz="800">
                <a:latin typeface="Calibri" pitchFamily="34" charset="0"/>
              </a:rPr>
              <a:t>(b)  Manufacturing and services headline indices, weighted together using shares in real output.</a:t>
            </a:r>
          </a:p>
          <a:p>
            <a:r>
              <a:rPr lang="en-US" sz="800">
                <a:latin typeface="Calibri" pitchFamily="34" charset="0"/>
              </a:rPr>
              <a:t>(c)  Manufacturing index only. </a:t>
            </a:r>
          </a:p>
        </p:txBody>
      </p:sp>
      <p:pic>
        <p:nvPicPr>
          <p:cNvPr id="27651" name="Picture 9" descr="Chart 2"/>
          <p:cNvPicPr>
            <a:picLocks noChangeAspect="1" noChangeArrowheads="1"/>
          </p:cNvPicPr>
          <p:nvPr/>
        </p:nvPicPr>
        <p:blipFill>
          <a:blip r:embed="rId2"/>
          <a:srcRect/>
          <a:stretch>
            <a:fillRect/>
          </a:stretch>
        </p:blipFill>
        <p:spPr bwMode="auto">
          <a:xfrm>
            <a:off x="1838326" y="1106488"/>
            <a:ext cx="5753100" cy="5027612"/>
          </a:xfrm>
          <a:prstGeom prst="rect">
            <a:avLst/>
          </a:prstGeom>
          <a:noFill/>
          <a:ln w="9525">
            <a:noFill/>
            <a:miter lim="800000"/>
            <a:headEnd/>
            <a:tailEnd/>
          </a:ln>
        </p:spPr>
      </p:pic>
      <p:sp>
        <p:nvSpPr>
          <p:cNvPr id="27652" name="TextBox 4"/>
          <p:cNvSpPr txBox="1">
            <a:spLocks noChangeArrowheads="1"/>
          </p:cNvSpPr>
          <p:nvPr/>
        </p:nvSpPr>
        <p:spPr bwMode="auto">
          <a:xfrm>
            <a:off x="517526" y="228601"/>
            <a:ext cx="8205788" cy="461665"/>
          </a:xfrm>
          <a:prstGeom prst="rect">
            <a:avLst/>
          </a:prstGeom>
          <a:noFill/>
          <a:ln w="9525">
            <a:noFill/>
            <a:miter lim="800000"/>
            <a:headEnd/>
            <a:tailEnd/>
          </a:ln>
        </p:spPr>
        <p:txBody>
          <a:bodyPr>
            <a:spAutoFit/>
          </a:bodyPr>
          <a:lstStyle/>
          <a:p>
            <a:r>
              <a:rPr lang="en-US" sz="2400">
                <a:latin typeface="Baskerville Old Face" pitchFamily="18" charset="0"/>
              </a:rPr>
              <a:t>UK’s Business Output Compared to International Output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lstStyle/>
          <a:p>
            <a:pPr eaLnBrk="1" hangingPunct="1"/>
            <a:r>
              <a:rPr lang="en-US" smtClean="0">
                <a:latin typeface="Baskerville Old Face" pitchFamily="18" charset="0"/>
              </a:rPr>
              <a:t>The Response of Businesses</a:t>
            </a:r>
          </a:p>
        </p:txBody>
      </p:sp>
      <p:sp>
        <p:nvSpPr>
          <p:cNvPr id="28674" name="Content Placeholder 2"/>
          <p:cNvSpPr>
            <a:spLocks noGrp="1"/>
          </p:cNvSpPr>
          <p:nvPr>
            <p:ph idx="1"/>
          </p:nvPr>
        </p:nvSpPr>
        <p:spPr/>
        <p:txBody>
          <a:bodyPr/>
          <a:lstStyle/>
          <a:p>
            <a:pPr eaLnBrk="1" hangingPunct="1"/>
            <a:r>
              <a:rPr lang="en-US" smtClean="0">
                <a:latin typeface="Baskerville Old Face" pitchFamily="18" charset="0"/>
              </a:rPr>
              <a:t>Reducing Output</a:t>
            </a:r>
          </a:p>
          <a:p>
            <a:pPr eaLnBrk="1" hangingPunct="1"/>
            <a:r>
              <a:rPr lang="en-US" smtClean="0">
                <a:latin typeface="Baskerville Old Face" pitchFamily="18" charset="0"/>
              </a:rPr>
              <a:t>Scaling investment plans</a:t>
            </a:r>
          </a:p>
          <a:p>
            <a:pPr eaLnBrk="1" hangingPunct="1"/>
            <a:r>
              <a:rPr lang="en-US" smtClean="0">
                <a:latin typeface="Baskerville Old Face" pitchFamily="18" charset="0"/>
              </a:rPr>
              <a:t>Running down inventories</a:t>
            </a:r>
          </a:p>
          <a:p>
            <a:pPr eaLnBrk="1" hangingPunct="1"/>
            <a:r>
              <a:rPr lang="en-US" smtClean="0">
                <a:latin typeface="Baskerville Old Face" pitchFamily="18" charset="0"/>
              </a:rPr>
              <a:t>Cutting labor</a:t>
            </a:r>
          </a:p>
          <a:p>
            <a:pPr eaLnBrk="1" hangingPunct="1">
              <a:buFont typeface="Arial" charset="0"/>
              <a:buNone/>
            </a:pPr>
            <a:endParaRPr lang="en-US" smtClean="0"/>
          </a:p>
        </p:txBody>
      </p:sp>
      <p:sp>
        <p:nvSpPr>
          <p:cNvPr id="28675" name="AutoShape 4"/>
          <p:cNvSpPr>
            <a:spLocks noChangeAspect="1" noChangeArrowheads="1"/>
          </p:cNvSpPr>
          <p:nvPr/>
        </p:nvSpPr>
        <p:spPr bwMode="auto">
          <a:xfrm>
            <a:off x="-1981200" y="1676400"/>
            <a:ext cx="9144000" cy="6858000"/>
          </a:xfrm>
          <a:prstGeom prst="rect">
            <a:avLst/>
          </a:prstGeom>
          <a:noFill/>
          <a:ln w="9525">
            <a:noFill/>
            <a:miter lim="800000"/>
            <a:headEnd/>
            <a:tailEnd/>
          </a:ln>
        </p:spPr>
        <p:txBody>
          <a:bodyPr/>
          <a:lstStyle/>
          <a:p>
            <a:endParaRPr lang="en-US">
              <a:latin typeface="Calibri" pitchFamily="34" charset="0"/>
            </a:endParaRPr>
          </a:p>
        </p:txBody>
      </p:sp>
      <p:pic>
        <p:nvPicPr>
          <p:cNvPr id="28676" name="Picture 5" descr="depression-bread-line.jpg"/>
          <p:cNvPicPr>
            <a:picLocks noChangeAspect="1"/>
          </p:cNvPicPr>
          <p:nvPr/>
        </p:nvPicPr>
        <p:blipFill>
          <a:blip r:embed="rId2"/>
          <a:srcRect/>
          <a:stretch>
            <a:fillRect/>
          </a:stretch>
        </p:blipFill>
        <p:spPr bwMode="auto">
          <a:xfrm>
            <a:off x="3352800" y="3505200"/>
            <a:ext cx="4826000" cy="3048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5"/>
          <p:cNvSpPr>
            <a:spLocks noChangeArrowheads="1"/>
          </p:cNvSpPr>
          <p:nvPr/>
        </p:nvSpPr>
        <p:spPr bwMode="auto">
          <a:xfrm>
            <a:off x="246064" y="160339"/>
            <a:ext cx="5557547" cy="646331"/>
          </a:xfrm>
          <a:prstGeom prst="rect">
            <a:avLst/>
          </a:prstGeom>
          <a:noFill/>
          <a:ln w="9525">
            <a:noFill/>
            <a:miter lim="800000"/>
            <a:headEnd/>
            <a:tailEnd/>
          </a:ln>
        </p:spPr>
        <p:txBody>
          <a:bodyPr wrap="none">
            <a:spAutoFit/>
          </a:bodyPr>
          <a:lstStyle/>
          <a:p>
            <a:r>
              <a:rPr lang="en-US">
                <a:solidFill>
                  <a:srgbClr val="960000"/>
                </a:solidFill>
                <a:latin typeface="Calibri" pitchFamily="34" charset="0"/>
              </a:rPr>
              <a:t>Chart 2.10</a:t>
            </a:r>
            <a:r>
              <a:rPr lang="en-US">
                <a:latin typeface="Calibri" pitchFamily="34" charset="0"/>
              </a:rPr>
              <a:t>  Contributions to four-quarter growth in gross </a:t>
            </a:r>
            <a:br>
              <a:rPr lang="en-US">
                <a:latin typeface="Calibri" pitchFamily="34" charset="0"/>
              </a:rPr>
            </a:br>
            <a:r>
              <a:rPr lang="en-US">
                <a:latin typeface="Calibri" pitchFamily="34" charset="0"/>
              </a:rPr>
              <a:t>fixed capital formation</a:t>
            </a:r>
            <a:r>
              <a:rPr lang="en-US" baseline="30000">
                <a:latin typeface="Calibri" pitchFamily="34" charset="0"/>
              </a:rPr>
              <a:t>(a)</a:t>
            </a:r>
            <a:endParaRPr lang="en-US">
              <a:latin typeface="Calibri" pitchFamily="34" charset="0"/>
            </a:endParaRPr>
          </a:p>
        </p:txBody>
      </p:sp>
      <p:sp>
        <p:nvSpPr>
          <p:cNvPr id="29698" name="Rectangle 6"/>
          <p:cNvSpPr>
            <a:spLocks noChangeArrowheads="1"/>
          </p:cNvSpPr>
          <p:nvPr/>
        </p:nvSpPr>
        <p:spPr bwMode="auto">
          <a:xfrm>
            <a:off x="46037" y="6348414"/>
            <a:ext cx="8045451" cy="461665"/>
          </a:xfrm>
          <a:prstGeom prst="rect">
            <a:avLst/>
          </a:prstGeom>
          <a:noFill/>
          <a:ln w="9525">
            <a:noFill/>
            <a:miter lim="800000"/>
            <a:headEnd/>
            <a:tailEnd/>
          </a:ln>
        </p:spPr>
        <p:txBody>
          <a:bodyPr>
            <a:spAutoFit/>
          </a:bodyPr>
          <a:lstStyle/>
          <a:p>
            <a:r>
              <a:rPr lang="en-US" sz="800">
                <a:latin typeface="Calibri" pitchFamily="34" charset="0"/>
              </a:rPr>
              <a:t>(a) Chained-volume measures.  The figures in parentheses show shares in the level of gross fixed capital formation in 2007.  </a:t>
            </a:r>
          </a:p>
          <a:p>
            <a:r>
              <a:rPr lang="en-US" sz="800">
                <a:latin typeface="Calibri" pitchFamily="34" charset="0"/>
              </a:rPr>
              <a:t>(b) Includes dwellings investment and costs associated with the transfer of ownership of buildings, dwellings and non-produced assets, primarily stamp duty on housing</a:t>
            </a:r>
            <a:br>
              <a:rPr lang="en-US" sz="800">
                <a:latin typeface="Calibri" pitchFamily="34" charset="0"/>
              </a:rPr>
            </a:br>
            <a:r>
              <a:rPr lang="en-US" sz="800">
                <a:latin typeface="Calibri" pitchFamily="34" charset="0"/>
              </a:rPr>
              <a:t>       transactions and estate agents’ fees. </a:t>
            </a:r>
          </a:p>
        </p:txBody>
      </p:sp>
      <p:pic>
        <p:nvPicPr>
          <p:cNvPr id="29699" name="Picture 7" descr="Chart 2"/>
          <p:cNvPicPr>
            <a:picLocks noChangeAspect="1" noChangeArrowheads="1"/>
          </p:cNvPicPr>
          <p:nvPr/>
        </p:nvPicPr>
        <p:blipFill>
          <a:blip r:embed="rId2"/>
          <a:srcRect/>
          <a:stretch>
            <a:fillRect/>
          </a:stretch>
        </p:blipFill>
        <p:spPr bwMode="auto">
          <a:xfrm>
            <a:off x="1828800" y="1133476"/>
            <a:ext cx="5730875" cy="49498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5"/>
          <p:cNvSpPr>
            <a:spLocks noChangeArrowheads="1"/>
          </p:cNvSpPr>
          <p:nvPr/>
        </p:nvSpPr>
        <p:spPr bwMode="auto">
          <a:xfrm>
            <a:off x="187326" y="207963"/>
            <a:ext cx="5609997" cy="369332"/>
          </a:xfrm>
          <a:prstGeom prst="rect">
            <a:avLst/>
          </a:prstGeom>
          <a:noFill/>
          <a:ln w="9525">
            <a:noFill/>
            <a:miter lim="800000"/>
            <a:headEnd/>
            <a:tailEnd/>
          </a:ln>
        </p:spPr>
        <p:txBody>
          <a:bodyPr wrap="none">
            <a:spAutoFit/>
          </a:bodyPr>
          <a:lstStyle/>
          <a:p>
            <a:r>
              <a:rPr lang="en-US">
                <a:solidFill>
                  <a:srgbClr val="960000"/>
                </a:solidFill>
                <a:latin typeface="Calibri" pitchFamily="34" charset="0"/>
              </a:rPr>
              <a:t>Chart 2.11</a:t>
            </a:r>
            <a:r>
              <a:rPr lang="en-US">
                <a:latin typeface="Calibri" pitchFamily="34" charset="0"/>
              </a:rPr>
              <a:t>  Investment intentions (plant and machinery)</a:t>
            </a:r>
            <a:r>
              <a:rPr lang="en-US" baseline="30000">
                <a:latin typeface="Calibri" pitchFamily="34" charset="0"/>
              </a:rPr>
              <a:t>(a)</a:t>
            </a:r>
            <a:endParaRPr lang="en-US">
              <a:latin typeface="Calibri" pitchFamily="34" charset="0"/>
            </a:endParaRPr>
          </a:p>
        </p:txBody>
      </p:sp>
      <p:sp>
        <p:nvSpPr>
          <p:cNvPr id="30722" name="Rectangle 8"/>
          <p:cNvSpPr>
            <a:spLocks noChangeArrowheads="1"/>
          </p:cNvSpPr>
          <p:nvPr/>
        </p:nvSpPr>
        <p:spPr bwMode="auto">
          <a:xfrm>
            <a:off x="53975" y="6135688"/>
            <a:ext cx="7901522" cy="707886"/>
          </a:xfrm>
          <a:prstGeom prst="rect">
            <a:avLst/>
          </a:prstGeom>
          <a:noFill/>
          <a:ln w="9525">
            <a:noFill/>
            <a:miter lim="800000"/>
            <a:headEnd/>
            <a:tailEnd/>
          </a:ln>
        </p:spPr>
        <p:txBody>
          <a:bodyPr wrap="none">
            <a:spAutoFit/>
          </a:bodyPr>
          <a:lstStyle/>
          <a:p>
            <a:r>
              <a:rPr lang="en-US" sz="800">
                <a:latin typeface="Calibri" pitchFamily="34" charset="0"/>
              </a:rPr>
              <a:t>Sources:  BCC, CBI, CBI/PwC and ONS.</a:t>
            </a:r>
          </a:p>
          <a:p>
            <a:endParaRPr lang="en-US" sz="800">
              <a:latin typeface="Calibri" pitchFamily="34" charset="0"/>
            </a:endParaRPr>
          </a:p>
          <a:p>
            <a:r>
              <a:rPr lang="en-US" sz="800">
                <a:latin typeface="Calibri" pitchFamily="34" charset="0"/>
              </a:rPr>
              <a:t>(a) Measures weight together sectoral surveys using shares in real business investment.  </a:t>
            </a:r>
          </a:p>
          <a:p>
            <a:r>
              <a:rPr lang="en-US" sz="800">
                <a:latin typeface="Calibri" pitchFamily="34" charset="0"/>
              </a:rPr>
              <a:t>(b) Net percentage balances of companies who say they have revised up their planned investment in plant and machinery over the past three months.  Data are non seasonally adjusted.</a:t>
            </a:r>
          </a:p>
          <a:p>
            <a:r>
              <a:rPr lang="en-US" sz="800">
                <a:latin typeface="Calibri" pitchFamily="34" charset="0"/>
              </a:rPr>
              <a:t>(c) Net percentage balances of companies who plan to increase investment in plant and machinery over the next twelve months.</a:t>
            </a:r>
          </a:p>
        </p:txBody>
      </p:sp>
      <p:pic>
        <p:nvPicPr>
          <p:cNvPr id="30723" name="Picture 9" descr="Chart 2"/>
          <p:cNvPicPr>
            <a:picLocks noChangeAspect="1" noChangeArrowheads="1"/>
          </p:cNvPicPr>
          <p:nvPr/>
        </p:nvPicPr>
        <p:blipFill>
          <a:blip r:embed="rId2"/>
          <a:srcRect/>
          <a:stretch>
            <a:fillRect/>
          </a:stretch>
        </p:blipFill>
        <p:spPr bwMode="auto">
          <a:xfrm>
            <a:off x="1828800" y="885825"/>
            <a:ext cx="5673725" cy="52387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r>
              <a:rPr lang="en-US" smtClean="0">
                <a:latin typeface="Baskerville Old Face" pitchFamily="18" charset="0"/>
              </a:rPr>
              <a:t>Consumption Outlook</a:t>
            </a:r>
          </a:p>
        </p:txBody>
      </p:sp>
      <p:sp>
        <p:nvSpPr>
          <p:cNvPr id="31746" name="Content Placeholder 2"/>
          <p:cNvSpPr>
            <a:spLocks noGrp="1"/>
          </p:cNvSpPr>
          <p:nvPr>
            <p:ph idx="1"/>
          </p:nvPr>
        </p:nvSpPr>
        <p:spPr/>
        <p:txBody>
          <a:bodyPr/>
          <a:lstStyle/>
          <a:p>
            <a:pPr eaLnBrk="1" hangingPunct="1"/>
            <a:r>
              <a:rPr lang="en-US" smtClean="0">
                <a:latin typeface="Baskerville Old Face" pitchFamily="18" charset="0"/>
              </a:rPr>
              <a:t>Consumer spending contracted in 2008</a:t>
            </a:r>
          </a:p>
          <a:p>
            <a:pPr eaLnBrk="1" hangingPunct="1"/>
            <a:r>
              <a:rPr lang="en-US" smtClean="0">
                <a:latin typeface="Baskerville Old Face" pitchFamily="18" charset="0"/>
              </a:rPr>
              <a:t>Falling employment, lower financial wealth and tight credit conditions likely to weigh down consumers’ expenditures.</a:t>
            </a:r>
          </a:p>
          <a:p>
            <a:pPr eaLnBrk="1" hangingPunct="1"/>
            <a:r>
              <a:rPr lang="en-US" smtClean="0">
                <a:latin typeface="Baskerville Old Face" pitchFamily="18" charset="0"/>
              </a:rPr>
              <a:t>Increased uncertainty about job prospects may cause households to lower spending in reduce debt and increase savings.</a:t>
            </a:r>
          </a:p>
          <a:p>
            <a:pPr eaLnBrk="1" hangingPunct="1">
              <a:buFont typeface="Arial" charset="0"/>
              <a:buNone/>
            </a:pPr>
            <a:endParaRPr lang="en-US"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5"/>
          <p:cNvSpPr>
            <a:spLocks noChangeArrowheads="1"/>
          </p:cNvSpPr>
          <p:nvPr/>
        </p:nvSpPr>
        <p:spPr bwMode="auto">
          <a:xfrm>
            <a:off x="285751" y="133350"/>
            <a:ext cx="4385111" cy="369332"/>
          </a:xfrm>
          <a:prstGeom prst="rect">
            <a:avLst/>
          </a:prstGeom>
          <a:noFill/>
          <a:ln w="9525">
            <a:noFill/>
            <a:miter lim="800000"/>
            <a:headEnd/>
            <a:tailEnd/>
          </a:ln>
        </p:spPr>
        <p:txBody>
          <a:bodyPr wrap="none">
            <a:spAutoFit/>
          </a:bodyPr>
          <a:lstStyle/>
          <a:p>
            <a:r>
              <a:rPr lang="en-US">
                <a:solidFill>
                  <a:srgbClr val="960000"/>
                </a:solidFill>
                <a:latin typeface="Calibri" pitchFamily="34" charset="0"/>
              </a:rPr>
              <a:t>Chart 2.9</a:t>
            </a:r>
            <a:r>
              <a:rPr lang="en-US">
                <a:latin typeface="Calibri" pitchFamily="34" charset="0"/>
              </a:rPr>
              <a:t>  Indicators of consumer confidence</a:t>
            </a:r>
          </a:p>
        </p:txBody>
      </p:sp>
      <p:sp>
        <p:nvSpPr>
          <p:cNvPr id="33794" name="Rectangle 6"/>
          <p:cNvSpPr>
            <a:spLocks noChangeArrowheads="1"/>
          </p:cNvSpPr>
          <p:nvPr/>
        </p:nvSpPr>
        <p:spPr bwMode="auto">
          <a:xfrm>
            <a:off x="58739" y="6278564"/>
            <a:ext cx="4310795" cy="584775"/>
          </a:xfrm>
          <a:prstGeom prst="rect">
            <a:avLst/>
          </a:prstGeom>
          <a:noFill/>
          <a:ln w="9525">
            <a:noFill/>
            <a:miter lim="800000"/>
            <a:headEnd/>
            <a:tailEnd/>
          </a:ln>
        </p:spPr>
        <p:txBody>
          <a:bodyPr wrap="none">
            <a:spAutoFit/>
          </a:bodyPr>
          <a:lstStyle/>
          <a:p>
            <a:r>
              <a:rPr lang="en-US" sz="800">
                <a:latin typeface="Calibri" pitchFamily="34" charset="0"/>
              </a:rPr>
              <a:t>Source:  Research carried out by GfK NOP on behalf of the European Commission. </a:t>
            </a:r>
          </a:p>
          <a:p>
            <a:endParaRPr lang="en-US" sz="800">
              <a:latin typeface="Calibri" pitchFamily="34" charset="0"/>
            </a:endParaRPr>
          </a:p>
          <a:p>
            <a:r>
              <a:rPr lang="en-US" sz="800">
                <a:latin typeface="Calibri" pitchFamily="34" charset="0"/>
              </a:rPr>
              <a:t>(a) Headline GfK measure.  Data are non seasonally adjusted.</a:t>
            </a:r>
          </a:p>
          <a:p>
            <a:r>
              <a:rPr lang="en-US" sz="800">
                <a:latin typeface="Calibri" pitchFamily="34" charset="0"/>
              </a:rPr>
              <a:t>(b) The GfK survey asks respondents how they expect unemployment to evolve over the next year. </a:t>
            </a:r>
          </a:p>
        </p:txBody>
      </p:sp>
      <p:pic>
        <p:nvPicPr>
          <p:cNvPr id="33795" name="Picture 7" descr="chart 2"/>
          <p:cNvPicPr>
            <a:picLocks noChangeAspect="1" noChangeArrowheads="1"/>
          </p:cNvPicPr>
          <p:nvPr/>
        </p:nvPicPr>
        <p:blipFill>
          <a:blip r:embed="rId2"/>
          <a:srcRect/>
          <a:stretch>
            <a:fillRect/>
          </a:stretch>
        </p:blipFill>
        <p:spPr bwMode="auto">
          <a:xfrm>
            <a:off x="1535114" y="1150938"/>
            <a:ext cx="6073775" cy="502126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p:txBody>
          <a:bodyPr/>
          <a:lstStyle/>
          <a:p>
            <a:r>
              <a:rPr lang="en-US" smtClean="0"/>
              <a:t>Employment</a:t>
            </a:r>
          </a:p>
        </p:txBody>
      </p:sp>
      <p:sp>
        <p:nvSpPr>
          <p:cNvPr id="62467" name="Rectangle 3"/>
          <p:cNvSpPr>
            <a:spLocks noGrp="1"/>
          </p:cNvSpPr>
          <p:nvPr>
            <p:ph type="body" idx="1"/>
          </p:nvPr>
        </p:nvSpPr>
        <p:spPr/>
        <p:txBody>
          <a:bodyPr/>
          <a:lstStyle/>
          <a:p>
            <a:r>
              <a:rPr lang="en-US" smtClean="0"/>
              <a:t>According to Labour Force Survey employment has decreased by 100,000 since mid 2008.</a:t>
            </a:r>
          </a:p>
          <a:p>
            <a:r>
              <a:rPr lang="en-US" smtClean="0"/>
              <a:t>Unemployment continues to rise, currently at 6.0%.</a:t>
            </a:r>
          </a:p>
          <a:p>
            <a:r>
              <a:rPr lang="en-US" smtClean="0"/>
              <a:t>Highest unemployment rate in nearly a decade.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1" y="0"/>
            <a:ext cx="8736687" cy="461665"/>
          </a:xfrm>
          <a:prstGeom prst="rect">
            <a:avLst/>
          </a:prstGeom>
          <a:noFill/>
          <a:ln w="9525">
            <a:noFill/>
            <a:miter lim="800000"/>
            <a:headEnd/>
            <a:tailEnd/>
          </a:ln>
          <a:effectLst/>
        </p:spPr>
        <p:txBody>
          <a:bodyPr wrap="none">
            <a:spAutoFit/>
          </a:bodyPr>
          <a:lstStyle/>
          <a:p>
            <a:pPr eaLnBrk="0" hangingPunct="0"/>
            <a:r>
              <a:rPr lang="en-US" sz="2400">
                <a:solidFill>
                  <a:srgbClr val="960000"/>
                </a:solidFill>
              </a:rPr>
              <a:t>Chart 3.7  </a:t>
            </a:r>
            <a:r>
              <a:rPr lang="en-US" sz="2400"/>
              <a:t>Contributions to quarterly LFS employment growth</a:t>
            </a:r>
            <a:r>
              <a:rPr lang="en-US" sz="2400" baseline="30000"/>
              <a:t>(a)</a:t>
            </a:r>
            <a:endParaRPr lang="en-US" sz="2400">
              <a:latin typeface="Times"/>
            </a:endParaRPr>
          </a:p>
        </p:txBody>
      </p:sp>
      <p:sp>
        <p:nvSpPr>
          <p:cNvPr id="63491" name="Rectangle 3"/>
          <p:cNvSpPr>
            <a:spLocks noChangeArrowheads="1"/>
          </p:cNvSpPr>
          <p:nvPr/>
        </p:nvSpPr>
        <p:spPr bwMode="auto">
          <a:xfrm>
            <a:off x="1" y="6032500"/>
            <a:ext cx="5153975" cy="830997"/>
          </a:xfrm>
          <a:prstGeom prst="rect">
            <a:avLst/>
          </a:prstGeom>
          <a:noFill/>
          <a:ln w="9525">
            <a:noFill/>
            <a:miter lim="800000"/>
            <a:headEnd/>
            <a:tailEnd/>
          </a:ln>
          <a:effectLst/>
        </p:spPr>
        <p:txBody>
          <a:bodyPr wrap="none">
            <a:spAutoFit/>
          </a:bodyPr>
          <a:lstStyle/>
          <a:p>
            <a:pPr eaLnBrk="0" hangingPunct="0"/>
            <a:r>
              <a:rPr lang="en-US" sz="800"/>
              <a:t>Source:  ONS (including Labour Force Survey).</a:t>
            </a:r>
          </a:p>
          <a:p>
            <a:pPr eaLnBrk="0" hangingPunct="0"/>
            <a:endParaRPr lang="en-US" sz="800"/>
          </a:p>
          <a:p>
            <a:pPr eaLnBrk="0" hangingPunct="0"/>
            <a:r>
              <a:rPr lang="en-US" sz="800"/>
              <a:t>(a)  Figures in parentheses are shares in total employment in 2007 and do not sum to 100% due to rounding.</a:t>
            </a:r>
          </a:p>
          <a:p>
            <a:pPr eaLnBrk="0" hangingPunct="0"/>
            <a:r>
              <a:rPr lang="en-US" sz="800"/>
              <a:t>(b)  Data have been adjusted to be on a calendar-quarter basis.  </a:t>
            </a:r>
          </a:p>
          <a:p>
            <a:pPr eaLnBrk="0" hangingPunct="0"/>
            <a:r>
              <a:rPr lang="en-US" sz="800"/>
              <a:t>(c)  Unpaid family workers and government-supported trainees.</a:t>
            </a:r>
          </a:p>
          <a:p>
            <a:pPr eaLnBrk="0" hangingPunct="0"/>
            <a:r>
              <a:rPr lang="en-US" sz="800"/>
              <a:t>(d)  The diamond shows employment growth in the three months to November. </a:t>
            </a:r>
          </a:p>
        </p:txBody>
      </p:sp>
      <p:pic>
        <p:nvPicPr>
          <p:cNvPr id="63492" name="Picture 4" descr="Chart 3"/>
          <p:cNvPicPr>
            <a:picLocks noChangeAspect="1" noChangeArrowheads="1"/>
          </p:cNvPicPr>
          <p:nvPr/>
        </p:nvPicPr>
        <p:blipFill>
          <a:blip r:embed="rId3"/>
          <a:srcRect/>
          <a:stretch>
            <a:fillRect/>
          </a:stretch>
        </p:blipFill>
        <p:spPr bwMode="auto">
          <a:xfrm>
            <a:off x="1838326" y="546101"/>
            <a:ext cx="5803900" cy="5483225"/>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1" y="1"/>
            <a:ext cx="4291559" cy="830997"/>
          </a:xfrm>
          <a:prstGeom prst="rect">
            <a:avLst/>
          </a:prstGeom>
          <a:noFill/>
          <a:ln w="9525">
            <a:noFill/>
            <a:miter lim="800000"/>
            <a:headEnd/>
            <a:tailEnd/>
          </a:ln>
          <a:effectLst/>
        </p:spPr>
        <p:txBody>
          <a:bodyPr wrap="none">
            <a:spAutoFit/>
          </a:bodyPr>
          <a:lstStyle/>
          <a:p>
            <a:pPr eaLnBrk="0" hangingPunct="0"/>
            <a:r>
              <a:rPr lang="en-US" sz="2400">
                <a:solidFill>
                  <a:srgbClr val="960000"/>
                </a:solidFill>
              </a:rPr>
              <a:t>Chart 3.8  </a:t>
            </a:r>
            <a:r>
              <a:rPr lang="en-US" sz="2400"/>
              <a:t>LFS unemployment</a:t>
            </a:r>
          </a:p>
          <a:p>
            <a:pPr eaLnBrk="0" hangingPunct="0"/>
            <a:endParaRPr lang="en-US" sz="2400">
              <a:latin typeface="Times"/>
            </a:endParaRPr>
          </a:p>
        </p:txBody>
      </p:sp>
      <p:sp>
        <p:nvSpPr>
          <p:cNvPr id="65539" name="Rectangle 3"/>
          <p:cNvSpPr>
            <a:spLocks noChangeArrowheads="1"/>
          </p:cNvSpPr>
          <p:nvPr/>
        </p:nvSpPr>
        <p:spPr bwMode="auto">
          <a:xfrm>
            <a:off x="0" y="6643688"/>
            <a:ext cx="1590500" cy="215444"/>
          </a:xfrm>
          <a:prstGeom prst="rect">
            <a:avLst/>
          </a:prstGeom>
          <a:noFill/>
          <a:ln w="9525">
            <a:noFill/>
            <a:miter lim="800000"/>
            <a:headEnd/>
            <a:tailEnd/>
          </a:ln>
          <a:effectLst/>
        </p:spPr>
        <p:txBody>
          <a:bodyPr wrap="none">
            <a:spAutoFit/>
          </a:bodyPr>
          <a:lstStyle/>
          <a:p>
            <a:pPr eaLnBrk="0" hangingPunct="0"/>
            <a:r>
              <a:rPr lang="en-US" sz="800"/>
              <a:t>Source:  Labour Force Survey.</a:t>
            </a:r>
          </a:p>
        </p:txBody>
      </p:sp>
      <p:pic>
        <p:nvPicPr>
          <p:cNvPr id="65540" name="Picture 4" descr="Chart 3"/>
          <p:cNvPicPr>
            <a:picLocks noChangeAspect="1" noChangeArrowheads="1"/>
          </p:cNvPicPr>
          <p:nvPr/>
        </p:nvPicPr>
        <p:blipFill>
          <a:blip r:embed="rId3"/>
          <a:srcRect/>
          <a:stretch>
            <a:fillRect/>
          </a:stretch>
        </p:blipFill>
        <p:spPr bwMode="auto">
          <a:xfrm>
            <a:off x="1447801" y="1077914"/>
            <a:ext cx="6102351" cy="5394325"/>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smtClean="0">
                <a:latin typeface="Baskerville Old Face" pitchFamily="18" charset="0"/>
              </a:rPr>
              <a:t>UK Exports</a:t>
            </a:r>
          </a:p>
        </p:txBody>
      </p:sp>
      <p:sp>
        <p:nvSpPr>
          <p:cNvPr id="35842" name="Content Placeholder 2"/>
          <p:cNvSpPr>
            <a:spLocks noGrp="1"/>
          </p:cNvSpPr>
          <p:nvPr>
            <p:ph idx="1"/>
          </p:nvPr>
        </p:nvSpPr>
        <p:spPr/>
        <p:txBody>
          <a:bodyPr/>
          <a:lstStyle/>
          <a:p>
            <a:pPr eaLnBrk="1" hangingPunct="1"/>
            <a:r>
              <a:rPr lang="en-US" smtClean="0">
                <a:latin typeface="Baskerville Old Face" pitchFamily="18" charset="0"/>
              </a:rPr>
              <a:t>Global slowdown has greatly reduced the demand for UK exports.</a:t>
            </a:r>
          </a:p>
          <a:p>
            <a:pPr eaLnBrk="1" hangingPunct="1"/>
            <a:r>
              <a:rPr lang="en-US" smtClean="0">
                <a:latin typeface="Baskerville Old Face" pitchFamily="18" charset="0"/>
              </a:rPr>
              <a:t>Goods exported fell by 2.8% in October,     5.3% in November.</a:t>
            </a:r>
          </a:p>
          <a:p>
            <a:pPr eaLnBrk="1" hangingPunct="1"/>
            <a:r>
              <a:rPr lang="en-US" smtClean="0">
                <a:latin typeface="Baskerville Old Face" pitchFamily="18" charset="0"/>
              </a:rPr>
              <a:t>Survey of manufacturing export orders suggest exports may continue to decline.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6"/>
          <p:cNvSpPr>
            <a:spLocks noChangeArrowheads="1"/>
          </p:cNvSpPr>
          <p:nvPr/>
        </p:nvSpPr>
        <p:spPr bwMode="auto">
          <a:xfrm>
            <a:off x="323851" y="195263"/>
            <a:ext cx="6061596" cy="369332"/>
          </a:xfrm>
          <a:prstGeom prst="rect">
            <a:avLst/>
          </a:prstGeom>
          <a:noFill/>
          <a:ln w="9525">
            <a:noFill/>
            <a:miter lim="800000"/>
            <a:headEnd/>
            <a:tailEnd/>
          </a:ln>
        </p:spPr>
        <p:txBody>
          <a:bodyPr wrap="none">
            <a:spAutoFit/>
          </a:bodyPr>
          <a:lstStyle/>
          <a:p>
            <a:r>
              <a:rPr lang="en-US">
                <a:solidFill>
                  <a:srgbClr val="960000"/>
                </a:solidFill>
                <a:latin typeface="Calibri" pitchFamily="34" charset="0"/>
              </a:rPr>
              <a:t>Chart 2.5</a:t>
            </a:r>
            <a:r>
              <a:rPr lang="en-US">
                <a:latin typeface="Calibri" pitchFamily="34" charset="0"/>
              </a:rPr>
              <a:t>  Survey indicators of UK manufacturing export orders</a:t>
            </a:r>
          </a:p>
        </p:txBody>
      </p:sp>
      <p:sp>
        <p:nvSpPr>
          <p:cNvPr id="36866" name="Rectangle 7"/>
          <p:cNvSpPr>
            <a:spLocks noChangeArrowheads="1"/>
          </p:cNvSpPr>
          <p:nvPr/>
        </p:nvSpPr>
        <p:spPr bwMode="auto">
          <a:xfrm>
            <a:off x="63501" y="6249989"/>
            <a:ext cx="7803739" cy="584775"/>
          </a:xfrm>
          <a:prstGeom prst="rect">
            <a:avLst/>
          </a:prstGeom>
          <a:noFill/>
          <a:ln w="9525">
            <a:noFill/>
            <a:miter lim="800000"/>
            <a:headEnd/>
            <a:tailEnd/>
          </a:ln>
        </p:spPr>
        <p:txBody>
          <a:bodyPr wrap="none">
            <a:spAutoFit/>
          </a:bodyPr>
          <a:lstStyle/>
          <a:p>
            <a:r>
              <a:rPr lang="en-US" sz="800">
                <a:latin typeface="Calibri" pitchFamily="34" charset="0"/>
              </a:rPr>
              <a:t>Sources:  BCC (British Broadcast Corporation) and CIPS/Markit. Chartered Institute of Purchasing and Supply</a:t>
            </a:r>
          </a:p>
          <a:p>
            <a:endParaRPr lang="en-US" sz="800">
              <a:latin typeface="Calibri" pitchFamily="34" charset="0"/>
            </a:endParaRPr>
          </a:p>
          <a:p>
            <a:r>
              <a:rPr lang="en-US" sz="800">
                <a:latin typeface="Calibri" pitchFamily="34" charset="0"/>
              </a:rPr>
              <a:t>(a) Net percentage balance of manufacturing companies saying that export orders increased on the quarter.</a:t>
            </a:r>
          </a:p>
          <a:p>
            <a:r>
              <a:rPr lang="en-US" sz="800">
                <a:latin typeface="Calibri" pitchFamily="34" charset="0"/>
              </a:rPr>
              <a:t>(b) Manufacturing companies saying that export orders increased this month compared with previous month.  Quarterly averages.  The diamond for 2009 Q1 is based on January data.</a:t>
            </a:r>
          </a:p>
        </p:txBody>
      </p:sp>
      <p:pic>
        <p:nvPicPr>
          <p:cNvPr id="36867" name="Picture 8" descr="Chart 2"/>
          <p:cNvPicPr>
            <a:picLocks noChangeAspect="1" noChangeArrowheads="1"/>
          </p:cNvPicPr>
          <p:nvPr/>
        </p:nvPicPr>
        <p:blipFill>
          <a:blip r:embed="rId2"/>
          <a:srcRect/>
          <a:stretch>
            <a:fillRect/>
          </a:stretch>
        </p:blipFill>
        <p:spPr bwMode="auto">
          <a:xfrm>
            <a:off x="1838325" y="889000"/>
            <a:ext cx="5654675" cy="52832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r>
              <a:rPr lang="en-US" smtClean="0">
                <a:latin typeface="Baskerville Old Face" pitchFamily="18" charset="0"/>
              </a:rPr>
              <a:t>Exchange Rate</a:t>
            </a:r>
          </a:p>
        </p:txBody>
      </p:sp>
      <p:sp>
        <p:nvSpPr>
          <p:cNvPr id="15363" name="Content Placeholder 2"/>
          <p:cNvSpPr>
            <a:spLocks noGrp="1"/>
          </p:cNvSpPr>
          <p:nvPr>
            <p:ph idx="1"/>
          </p:nvPr>
        </p:nvSpPr>
        <p:spPr>
          <a:xfrm>
            <a:off x="457200" y="1600200"/>
            <a:ext cx="8229600" cy="2362200"/>
          </a:xfrm>
        </p:spPr>
        <p:txBody>
          <a:bodyPr rtlCol="0">
            <a:normAutofit fontScale="77500" lnSpcReduction="20000"/>
          </a:bodyPr>
          <a:lstStyle/>
          <a:p>
            <a:pPr eaLnBrk="1" fontAlgn="auto" hangingPunct="1">
              <a:spcAft>
                <a:spcPts val="0"/>
              </a:spcAft>
              <a:buFont typeface="Arial"/>
              <a:buChar char="•"/>
              <a:defRPr/>
            </a:pPr>
            <a:r>
              <a:rPr lang="en-US" dirty="0" smtClean="0">
                <a:latin typeface="Baskerville Old Face"/>
                <a:cs typeface="Baskerville Old Face"/>
              </a:rPr>
              <a:t>Current Conversion: 1 Pound = 1.38 USD</a:t>
            </a:r>
          </a:p>
          <a:p>
            <a:pPr eaLnBrk="1" fontAlgn="auto" hangingPunct="1">
              <a:spcAft>
                <a:spcPts val="0"/>
              </a:spcAft>
              <a:buFont typeface="Arial"/>
              <a:buChar char="•"/>
              <a:defRPr/>
            </a:pPr>
            <a:r>
              <a:rPr lang="en-US" dirty="0" smtClean="0">
                <a:latin typeface="Baskerville Old Face"/>
                <a:cs typeface="Baskerville Old Face"/>
              </a:rPr>
              <a:t>Given a low XR, the UK’s exports should be expected to rise given the increase in the purchasing power of international consumers. However, UK’s net exports rely on financial and business services of countries that, for the most part, are experiencing negative GDP growth of their own.</a:t>
            </a:r>
            <a:endParaRPr lang="en-US" dirty="0">
              <a:latin typeface="Baskerville Old Face"/>
              <a:cs typeface="Baskerville Old Face"/>
            </a:endParaRPr>
          </a:p>
        </p:txBody>
      </p:sp>
      <p:sp>
        <p:nvSpPr>
          <p:cNvPr id="37891" name="TextBox 3"/>
          <p:cNvSpPr txBox="1">
            <a:spLocks noChangeArrowheads="1"/>
          </p:cNvSpPr>
          <p:nvPr/>
        </p:nvSpPr>
        <p:spPr bwMode="auto">
          <a:xfrm>
            <a:off x="3048000" y="3500439"/>
            <a:ext cx="5181600" cy="461665"/>
          </a:xfrm>
          <a:prstGeom prst="rect">
            <a:avLst/>
          </a:prstGeom>
          <a:noFill/>
          <a:ln w="9525">
            <a:noFill/>
            <a:miter lim="800000"/>
            <a:headEnd/>
            <a:tailEnd/>
          </a:ln>
        </p:spPr>
        <p:txBody>
          <a:bodyPr>
            <a:spAutoFit/>
          </a:bodyPr>
          <a:lstStyle/>
          <a:p>
            <a:r>
              <a:rPr lang="en-US" sz="1200">
                <a:latin typeface="Calibri" pitchFamily="34" charset="0"/>
                <a:hlinkClick r:id="rId2"/>
              </a:rPr>
              <a:t>http://www.tradingeconomics.com/Economics/GDP-Growth.aspx?Symbol=GBP</a:t>
            </a:r>
            <a:endParaRPr lang="en-US" sz="1200">
              <a:latin typeface="Calibri" pitchFamily="34" charset="0"/>
            </a:endParaRPr>
          </a:p>
          <a:p>
            <a:endParaRPr lang="en-US" sz="1200">
              <a:latin typeface="Calibri" pitchFamily="34" charset="0"/>
            </a:endParaRPr>
          </a:p>
        </p:txBody>
      </p:sp>
      <p:pic>
        <p:nvPicPr>
          <p:cNvPr id="37892" name="Picture 4" descr="graph120.png"/>
          <p:cNvPicPr>
            <a:picLocks noChangeAspect="1"/>
          </p:cNvPicPr>
          <p:nvPr/>
        </p:nvPicPr>
        <p:blipFill>
          <a:blip r:embed="rId3"/>
          <a:srcRect/>
          <a:stretch>
            <a:fillRect/>
          </a:stretch>
        </p:blipFill>
        <p:spPr bwMode="auto">
          <a:xfrm>
            <a:off x="1905000" y="3962400"/>
            <a:ext cx="6324600" cy="2432050"/>
          </a:xfrm>
          <a:prstGeom prst="rect">
            <a:avLst/>
          </a:prstGeom>
          <a:noFill/>
          <a:ln w="9525">
            <a:noFill/>
            <a:miter lim="800000"/>
            <a:headEnd/>
            <a:tailEnd/>
          </a:ln>
        </p:spPr>
      </p:pic>
      <p:sp>
        <p:nvSpPr>
          <p:cNvPr id="37893" name="TextBox 5"/>
          <p:cNvSpPr txBox="1">
            <a:spLocks noChangeArrowheads="1"/>
          </p:cNvSpPr>
          <p:nvPr/>
        </p:nvSpPr>
        <p:spPr bwMode="auto">
          <a:xfrm>
            <a:off x="304800" y="5181601"/>
            <a:ext cx="1371600" cy="369332"/>
          </a:xfrm>
          <a:prstGeom prst="rect">
            <a:avLst/>
          </a:prstGeom>
          <a:noFill/>
          <a:ln w="9525">
            <a:noFill/>
            <a:miter lim="800000"/>
            <a:headEnd/>
            <a:tailEnd/>
          </a:ln>
        </p:spPr>
        <p:txBody>
          <a:bodyPr>
            <a:spAutoFit/>
          </a:bodyPr>
          <a:lstStyle/>
          <a:p>
            <a:r>
              <a:rPr lang="en-US">
                <a:latin typeface="Calibri" pitchFamily="34" charset="0"/>
              </a:rPr>
              <a:t>USD to GBP</a:t>
            </a:r>
          </a:p>
        </p:txBody>
      </p:sp>
      <p:sp>
        <p:nvSpPr>
          <p:cNvPr id="37894" name="TextBox 6"/>
          <p:cNvSpPr txBox="1">
            <a:spLocks noChangeArrowheads="1"/>
          </p:cNvSpPr>
          <p:nvPr/>
        </p:nvSpPr>
        <p:spPr bwMode="auto">
          <a:xfrm>
            <a:off x="3505200" y="6394451"/>
            <a:ext cx="4724400" cy="523220"/>
          </a:xfrm>
          <a:prstGeom prst="rect">
            <a:avLst/>
          </a:prstGeom>
          <a:noFill/>
          <a:ln w="9525">
            <a:noFill/>
            <a:miter lim="800000"/>
            <a:headEnd/>
            <a:tailEnd/>
          </a:ln>
        </p:spPr>
        <p:txBody>
          <a:bodyPr>
            <a:spAutoFit/>
          </a:bodyPr>
          <a:lstStyle/>
          <a:p>
            <a:r>
              <a:rPr lang="en-US" sz="1400">
                <a:latin typeface="Calibri" pitchFamily="34" charset="0"/>
                <a:hlinkClick r:id="rId4"/>
              </a:rPr>
              <a:t>http://www.x-rates.com/d/USD/GBP/graph120.html</a:t>
            </a:r>
            <a:endParaRPr lang="en-US" sz="1400">
              <a:latin typeface="Calibri" pitchFamily="34" charset="0"/>
            </a:endParaRPr>
          </a:p>
          <a:p>
            <a:endParaRPr lang="en-US" sz="1400">
              <a:latin typeface="Calibri"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pPr eaLnBrk="1" hangingPunct="1"/>
            <a:r>
              <a:rPr lang="en-US" smtClean="0">
                <a:latin typeface="Baskerville Old Face" pitchFamily="18" charset="0"/>
              </a:rPr>
              <a:t>CPI Inflation Value Added Tax</a:t>
            </a:r>
          </a:p>
        </p:txBody>
      </p:sp>
      <p:sp>
        <p:nvSpPr>
          <p:cNvPr id="3" name="Content Placeholder 2"/>
          <p:cNvSpPr>
            <a:spLocks noGrp="1"/>
          </p:cNvSpPr>
          <p:nvPr>
            <p:ph idx="1"/>
          </p:nvPr>
        </p:nvSpPr>
        <p:spPr>
          <a:xfrm>
            <a:off x="457200" y="1600200"/>
            <a:ext cx="8229600" cy="3124200"/>
          </a:xfrm>
        </p:spPr>
        <p:txBody>
          <a:bodyPr rtlCol="0">
            <a:normAutofit fontScale="85000" lnSpcReduction="10000"/>
          </a:bodyPr>
          <a:lstStyle/>
          <a:p>
            <a:pPr eaLnBrk="1" fontAlgn="auto" hangingPunct="1">
              <a:lnSpc>
                <a:spcPct val="90000"/>
              </a:lnSpc>
              <a:spcAft>
                <a:spcPts val="0"/>
              </a:spcAft>
              <a:buFont typeface="Arial"/>
              <a:buChar char="•"/>
              <a:defRPr/>
            </a:pPr>
            <a:r>
              <a:rPr lang="en-US" dirty="0">
                <a:latin typeface="Baskerville Old Face"/>
                <a:cs typeface="Baskerville Old Face"/>
              </a:rPr>
              <a:t>CPI inflation fell from 5.2% in September to 3.1% in December.</a:t>
            </a:r>
          </a:p>
          <a:p>
            <a:pPr eaLnBrk="1" fontAlgn="auto" hangingPunct="1">
              <a:lnSpc>
                <a:spcPct val="90000"/>
              </a:lnSpc>
              <a:spcAft>
                <a:spcPts val="0"/>
              </a:spcAft>
              <a:buFont typeface="Arial"/>
              <a:buChar char="•"/>
              <a:defRPr/>
            </a:pPr>
            <a:r>
              <a:rPr lang="en-US" dirty="0">
                <a:latin typeface="Baskerville Old Face"/>
                <a:cs typeface="Baskerville Old Face"/>
              </a:rPr>
              <a:t>Fall in CPI attributed to decrease in oil price and a direct impact of the cut in VAT from 17.5% to 15%.</a:t>
            </a:r>
          </a:p>
          <a:p>
            <a:pPr eaLnBrk="1" fontAlgn="auto" hangingPunct="1">
              <a:lnSpc>
                <a:spcPct val="90000"/>
              </a:lnSpc>
              <a:spcAft>
                <a:spcPts val="0"/>
              </a:spcAft>
              <a:buFont typeface="Arial"/>
              <a:buChar char="•"/>
              <a:defRPr/>
            </a:pPr>
            <a:r>
              <a:rPr lang="en-US" dirty="0">
                <a:latin typeface="Baskerville Old Face"/>
                <a:cs typeface="Baskerville Old Face"/>
              </a:rPr>
              <a:t>Around 70% of goods and services are affected by the temporary decrease in VAT.</a:t>
            </a:r>
          </a:p>
          <a:p>
            <a:pPr eaLnBrk="1" fontAlgn="auto" hangingPunct="1">
              <a:lnSpc>
                <a:spcPct val="90000"/>
              </a:lnSpc>
              <a:spcAft>
                <a:spcPts val="0"/>
              </a:spcAft>
              <a:buFont typeface="Arial"/>
              <a:buChar char="•"/>
              <a:defRPr/>
            </a:pPr>
            <a:r>
              <a:rPr lang="en-US" dirty="0">
                <a:latin typeface="Baskerville Old Face"/>
                <a:cs typeface="Baskerville Old Face"/>
              </a:rPr>
              <a:t>Change in CPI due to reduction in VAT roughly 1.5%. </a:t>
            </a:r>
          </a:p>
        </p:txBody>
      </p:sp>
      <p:sp>
        <p:nvSpPr>
          <p:cNvPr id="38915" name="TextBox 3"/>
          <p:cNvSpPr txBox="1">
            <a:spLocks noChangeArrowheads="1"/>
          </p:cNvSpPr>
          <p:nvPr/>
        </p:nvSpPr>
        <p:spPr bwMode="auto">
          <a:xfrm>
            <a:off x="457200" y="4724400"/>
            <a:ext cx="8229600" cy="1569660"/>
          </a:xfrm>
          <a:prstGeom prst="rect">
            <a:avLst/>
          </a:prstGeom>
          <a:noFill/>
          <a:ln w="9525">
            <a:noFill/>
            <a:miter lim="800000"/>
            <a:headEnd/>
            <a:tailEnd/>
          </a:ln>
        </p:spPr>
        <p:txBody>
          <a:bodyPr>
            <a:spAutoFit/>
          </a:bodyPr>
          <a:lstStyle/>
          <a:p>
            <a:r>
              <a:rPr lang="en-US" sz="2400" b="1">
                <a:latin typeface="Baskerville Old Face" pitchFamily="18" charset="0"/>
              </a:rPr>
              <a:t>Unfortunately, this temporary reduction in VAT is not expected to increase household consumption, as concerns over growing unemployment and worsening economic conditions overweigh any incentives to increase spending.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4"/>
          <p:cNvSpPr>
            <a:spLocks noChangeArrowheads="1"/>
          </p:cNvSpPr>
          <p:nvPr/>
        </p:nvSpPr>
        <p:spPr bwMode="auto">
          <a:xfrm>
            <a:off x="0" y="6442075"/>
            <a:ext cx="3905108" cy="369332"/>
          </a:xfrm>
          <a:prstGeom prst="rect">
            <a:avLst/>
          </a:prstGeom>
          <a:noFill/>
          <a:ln w="9525">
            <a:noFill/>
            <a:miter lim="800000"/>
            <a:headEnd/>
            <a:tailEnd/>
          </a:ln>
        </p:spPr>
        <p:txBody>
          <a:bodyPr wrap="none">
            <a:spAutoFit/>
          </a:bodyPr>
          <a:lstStyle/>
          <a:p>
            <a:r>
              <a:rPr lang="en-US">
                <a:solidFill>
                  <a:srgbClr val="960000"/>
                </a:solidFill>
                <a:latin typeface="Calibri" pitchFamily="34" charset="0"/>
              </a:rPr>
              <a:t>Chart 4.1  </a:t>
            </a:r>
            <a:r>
              <a:rPr lang="en-US">
                <a:latin typeface="Calibri" pitchFamily="34" charset="0"/>
              </a:rPr>
              <a:t>Measures of consumer prices</a:t>
            </a:r>
            <a:endParaRPr lang="en-US" baseline="30000">
              <a:latin typeface="Calibri" pitchFamily="34" charset="0"/>
            </a:endParaRPr>
          </a:p>
        </p:txBody>
      </p:sp>
      <p:sp>
        <p:nvSpPr>
          <p:cNvPr id="39938" name="Rectangle 10"/>
          <p:cNvSpPr>
            <a:spLocks noChangeArrowheads="1"/>
          </p:cNvSpPr>
          <p:nvPr/>
        </p:nvSpPr>
        <p:spPr bwMode="auto">
          <a:xfrm>
            <a:off x="333375" y="6172201"/>
            <a:ext cx="8426451" cy="492443"/>
          </a:xfrm>
          <a:prstGeom prst="rect">
            <a:avLst/>
          </a:prstGeom>
          <a:noFill/>
          <a:ln w="9525">
            <a:noFill/>
            <a:miter lim="800000"/>
            <a:headEnd/>
            <a:tailEnd/>
          </a:ln>
        </p:spPr>
        <p:txBody>
          <a:bodyPr>
            <a:spAutoFit/>
          </a:bodyPr>
          <a:lstStyle/>
          <a:p>
            <a:endParaRPr lang="en-GB">
              <a:latin typeface="Times New Roman" pitchFamily="18" charset="0"/>
            </a:endParaRPr>
          </a:p>
          <a:p>
            <a:endParaRPr lang="en-US" sz="800">
              <a:latin typeface="Calibri" pitchFamily="34" charset="0"/>
            </a:endParaRPr>
          </a:p>
        </p:txBody>
      </p:sp>
      <p:pic>
        <p:nvPicPr>
          <p:cNvPr id="39939" name="Picture 13" descr="Cht 4"/>
          <p:cNvPicPr>
            <a:picLocks noChangeAspect="1" noChangeArrowheads="1"/>
          </p:cNvPicPr>
          <p:nvPr/>
        </p:nvPicPr>
        <p:blipFill>
          <a:blip r:embed="rId2"/>
          <a:srcRect/>
          <a:stretch>
            <a:fillRect/>
          </a:stretch>
        </p:blipFill>
        <p:spPr bwMode="auto">
          <a:xfrm>
            <a:off x="1752601" y="2039939"/>
            <a:ext cx="5095875" cy="4402137"/>
          </a:xfrm>
          <a:prstGeom prst="rect">
            <a:avLst/>
          </a:prstGeom>
          <a:noFill/>
          <a:ln w="9525">
            <a:noFill/>
            <a:miter lim="800000"/>
            <a:headEnd/>
            <a:tailEnd/>
          </a:ln>
        </p:spPr>
      </p:pic>
      <p:sp>
        <p:nvSpPr>
          <p:cNvPr id="39940" name="TextBox 4"/>
          <p:cNvSpPr txBox="1">
            <a:spLocks noChangeArrowheads="1"/>
          </p:cNvSpPr>
          <p:nvPr/>
        </p:nvSpPr>
        <p:spPr bwMode="auto">
          <a:xfrm>
            <a:off x="333375" y="228600"/>
            <a:ext cx="8426451" cy="915988"/>
          </a:xfrm>
          <a:prstGeom prst="rect">
            <a:avLst/>
          </a:prstGeom>
          <a:noFill/>
          <a:ln w="9525">
            <a:noFill/>
            <a:miter lim="800000"/>
            <a:headEnd/>
            <a:tailEnd/>
          </a:ln>
        </p:spPr>
        <p:txBody>
          <a:bodyPr>
            <a:spAutoFit/>
          </a:bodyPr>
          <a:lstStyle/>
          <a:p>
            <a:r>
              <a:rPr lang="en-US">
                <a:latin typeface="Arial "/>
                <a:ea typeface="Arial "/>
                <a:cs typeface="Arial "/>
              </a:rPr>
              <a:t>CPI </a:t>
            </a:r>
            <a:r>
              <a:rPr lang="en-US">
                <a:latin typeface="Baskerville Old Face"/>
                <a:ea typeface="Arial "/>
                <a:cs typeface="Arial "/>
              </a:rPr>
              <a:t>–</a:t>
            </a:r>
            <a:r>
              <a:rPr lang="en-US">
                <a:latin typeface="Arial "/>
                <a:ea typeface="Arial "/>
                <a:cs typeface="Arial "/>
              </a:rPr>
              <a:t>Consumer Prices Index</a:t>
            </a:r>
          </a:p>
          <a:p>
            <a:endParaRPr lang="en-US">
              <a:latin typeface="Arial "/>
              <a:ea typeface="Arial "/>
              <a:cs typeface="Arial "/>
            </a:endParaRPr>
          </a:p>
          <a:p>
            <a:r>
              <a:rPr lang="en-US">
                <a:latin typeface="Arial "/>
                <a:ea typeface="Arial "/>
                <a:cs typeface="Arial "/>
              </a:rPr>
              <a:t>RPI - Retail Prices Index-</a:t>
            </a:r>
            <a:r>
              <a:rPr lang="en-US"/>
              <a:t>(Includes indexation of pensions, housing)</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ChangeArrowheads="1"/>
          </p:cNvSpPr>
          <p:nvPr/>
        </p:nvSpPr>
        <p:spPr bwMode="auto">
          <a:xfrm>
            <a:off x="423862" y="717551"/>
            <a:ext cx="8081963" cy="307777"/>
          </a:xfrm>
          <a:prstGeom prst="rect">
            <a:avLst/>
          </a:prstGeom>
          <a:noFill/>
          <a:ln w="9525">
            <a:noFill/>
            <a:miter lim="800000"/>
            <a:headEnd/>
            <a:tailEnd/>
          </a:ln>
        </p:spPr>
        <p:txBody>
          <a:bodyPr>
            <a:spAutoFit/>
          </a:bodyPr>
          <a:lstStyle/>
          <a:p>
            <a:r>
              <a:rPr lang="en-US" sz="1400">
                <a:solidFill>
                  <a:srgbClr val="960000"/>
                </a:solidFill>
                <a:latin typeface="Calibri" pitchFamily="34" charset="0"/>
              </a:rPr>
              <a:t>Chart 5.6 </a:t>
            </a:r>
            <a:r>
              <a:rPr lang="en-US" sz="1400">
                <a:latin typeface="Times"/>
              </a:rPr>
              <a:t> </a:t>
            </a:r>
            <a:r>
              <a:rPr lang="en-US" sz="1400">
                <a:latin typeface="Calibri" pitchFamily="34" charset="0"/>
              </a:rPr>
              <a:t>CPI inflation projection based on constant nominal interest rates at 1%</a:t>
            </a:r>
            <a:endParaRPr lang="en-US" sz="1400">
              <a:latin typeface="Times"/>
            </a:endParaRPr>
          </a:p>
        </p:txBody>
      </p:sp>
      <p:sp>
        <p:nvSpPr>
          <p:cNvPr id="40962" name="Rectangle 3"/>
          <p:cNvSpPr>
            <a:spLocks noChangeArrowheads="1"/>
          </p:cNvSpPr>
          <p:nvPr/>
        </p:nvSpPr>
        <p:spPr bwMode="auto">
          <a:xfrm>
            <a:off x="79374" y="6575426"/>
            <a:ext cx="8426451" cy="369332"/>
          </a:xfrm>
          <a:prstGeom prst="rect">
            <a:avLst/>
          </a:prstGeom>
          <a:noFill/>
          <a:ln w="9525">
            <a:noFill/>
            <a:miter lim="800000"/>
            <a:headEnd/>
            <a:tailEnd/>
          </a:ln>
        </p:spPr>
        <p:txBody>
          <a:bodyPr>
            <a:spAutoFit/>
          </a:bodyPr>
          <a:lstStyle/>
          <a:p>
            <a:endParaRPr lang="en-GB">
              <a:latin typeface="Calibri" pitchFamily="34" charset="0"/>
            </a:endParaRPr>
          </a:p>
        </p:txBody>
      </p:sp>
      <p:sp>
        <p:nvSpPr>
          <p:cNvPr id="40963" name="Rectangle 4"/>
          <p:cNvSpPr>
            <a:spLocks noChangeArrowheads="1"/>
          </p:cNvSpPr>
          <p:nvPr/>
        </p:nvSpPr>
        <p:spPr bwMode="auto">
          <a:xfrm>
            <a:off x="177801" y="6175376"/>
            <a:ext cx="7294563" cy="461665"/>
          </a:xfrm>
          <a:prstGeom prst="rect">
            <a:avLst/>
          </a:prstGeom>
          <a:noFill/>
          <a:ln w="9525">
            <a:noFill/>
            <a:miter lim="800000"/>
            <a:headEnd/>
            <a:tailEnd/>
          </a:ln>
        </p:spPr>
        <p:txBody>
          <a:bodyPr>
            <a:spAutoFit/>
          </a:bodyPr>
          <a:lstStyle/>
          <a:p>
            <a:r>
              <a:rPr lang="en-US" sz="800"/>
              <a:t>Monetary Policy Committee-The fan charts depict the probability of various outcomes for CPI inflation in the future. If economic circumstances identical to today’s were to prevail on 100 occasions, the MPC’s best collective judgement is that</a:t>
            </a:r>
          </a:p>
          <a:p>
            <a:r>
              <a:rPr lang="en-US" sz="800"/>
              <a:t>inflation over the subsequent three years would lie within the darkest central band on only 10 of those occasions</a:t>
            </a:r>
          </a:p>
        </p:txBody>
      </p:sp>
      <p:pic>
        <p:nvPicPr>
          <p:cNvPr id="40964" name="Picture 9" descr="cpiconsfeb09"/>
          <p:cNvPicPr>
            <a:picLocks noChangeAspect="1" noChangeArrowheads="1"/>
          </p:cNvPicPr>
          <p:nvPr/>
        </p:nvPicPr>
        <p:blipFill>
          <a:blip r:embed="rId3"/>
          <a:srcRect/>
          <a:stretch>
            <a:fillRect/>
          </a:stretch>
        </p:blipFill>
        <p:spPr bwMode="auto">
          <a:xfrm>
            <a:off x="1524002" y="1025525"/>
            <a:ext cx="5656263" cy="5095875"/>
          </a:xfrm>
          <a:prstGeom prst="rect">
            <a:avLst/>
          </a:prstGeom>
          <a:noFill/>
          <a:ln w="9525">
            <a:noFill/>
            <a:miter lim="800000"/>
            <a:headEnd/>
            <a:tailEnd/>
          </a:ln>
        </p:spPr>
      </p:pic>
      <p:sp>
        <p:nvSpPr>
          <p:cNvPr id="40965" name="TextBox 5"/>
          <p:cNvSpPr txBox="1">
            <a:spLocks noChangeArrowheads="1"/>
          </p:cNvSpPr>
          <p:nvPr/>
        </p:nvSpPr>
        <p:spPr bwMode="auto">
          <a:xfrm>
            <a:off x="423862" y="152401"/>
            <a:ext cx="8081963" cy="523220"/>
          </a:xfrm>
          <a:prstGeom prst="rect">
            <a:avLst/>
          </a:prstGeom>
          <a:noFill/>
          <a:ln w="9525">
            <a:noFill/>
            <a:miter lim="800000"/>
            <a:headEnd/>
            <a:tailEnd/>
          </a:ln>
        </p:spPr>
        <p:txBody>
          <a:bodyPr>
            <a:spAutoFit/>
          </a:bodyPr>
          <a:lstStyle/>
          <a:p>
            <a:r>
              <a:rPr lang="en-US" sz="2800" b="1">
                <a:latin typeface="Baskerville Old Face" pitchFamily="18" charset="0"/>
              </a:rPr>
              <a:t>Inflation Forecast Based on Current Interest Rate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ChangeArrowheads="1"/>
          </p:cNvSpPr>
          <p:nvPr/>
        </p:nvSpPr>
        <p:spPr bwMode="auto">
          <a:xfrm>
            <a:off x="358775" y="179388"/>
            <a:ext cx="4030462" cy="369332"/>
          </a:xfrm>
          <a:prstGeom prst="rect">
            <a:avLst/>
          </a:prstGeom>
          <a:noFill/>
          <a:ln w="9525">
            <a:noFill/>
            <a:miter lim="800000"/>
            <a:headEnd/>
            <a:tailEnd/>
          </a:ln>
        </p:spPr>
        <p:txBody>
          <a:bodyPr wrap="none">
            <a:spAutoFit/>
          </a:bodyPr>
          <a:lstStyle/>
          <a:p>
            <a:r>
              <a:rPr lang="en-US">
                <a:solidFill>
                  <a:srgbClr val="960000"/>
                </a:solidFill>
                <a:latin typeface="Calibri" pitchFamily="34" charset="0"/>
              </a:rPr>
              <a:t>Chart 4.2  </a:t>
            </a:r>
            <a:r>
              <a:rPr lang="en-US">
                <a:latin typeface="Calibri" pitchFamily="34" charset="0"/>
              </a:rPr>
              <a:t>Contributions to CPI inflation</a:t>
            </a:r>
            <a:r>
              <a:rPr lang="en-US" baseline="30000">
                <a:latin typeface="Calibri" pitchFamily="34" charset="0"/>
              </a:rPr>
              <a:t>(a)</a:t>
            </a:r>
          </a:p>
        </p:txBody>
      </p:sp>
      <p:sp>
        <p:nvSpPr>
          <p:cNvPr id="43010" name="Rectangle 3"/>
          <p:cNvSpPr>
            <a:spLocks noChangeArrowheads="1"/>
          </p:cNvSpPr>
          <p:nvPr/>
        </p:nvSpPr>
        <p:spPr bwMode="auto">
          <a:xfrm>
            <a:off x="47625" y="6467475"/>
            <a:ext cx="8426451" cy="338554"/>
          </a:xfrm>
          <a:prstGeom prst="rect">
            <a:avLst/>
          </a:prstGeom>
          <a:noFill/>
          <a:ln w="9525">
            <a:noFill/>
            <a:miter lim="800000"/>
            <a:headEnd/>
            <a:tailEnd/>
          </a:ln>
        </p:spPr>
        <p:txBody>
          <a:bodyPr>
            <a:spAutoFit/>
          </a:bodyPr>
          <a:lstStyle/>
          <a:p>
            <a:r>
              <a:rPr lang="en-US" sz="800">
                <a:latin typeface="Calibri" pitchFamily="34" charset="0"/>
              </a:rPr>
              <a:t>(a) Contributions to annual (non seasonally adjusted) CPI inflation.</a:t>
            </a:r>
            <a:endParaRPr lang="en-GB" sz="800">
              <a:latin typeface="Calibri" pitchFamily="34" charset="0"/>
            </a:endParaRPr>
          </a:p>
          <a:p>
            <a:endParaRPr lang="en-US" sz="800">
              <a:latin typeface="Calibri" pitchFamily="34" charset="0"/>
            </a:endParaRPr>
          </a:p>
        </p:txBody>
      </p:sp>
      <p:pic>
        <p:nvPicPr>
          <p:cNvPr id="43011" name="Picture 4" descr="Cht 4"/>
          <p:cNvPicPr>
            <a:picLocks noChangeAspect="1" noChangeArrowheads="1"/>
          </p:cNvPicPr>
          <p:nvPr/>
        </p:nvPicPr>
        <p:blipFill>
          <a:blip r:embed="rId2"/>
          <a:srcRect/>
          <a:stretch>
            <a:fillRect/>
          </a:stretch>
        </p:blipFill>
        <p:spPr bwMode="auto">
          <a:xfrm>
            <a:off x="1806576" y="809626"/>
            <a:ext cx="5719763" cy="55959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ctrTitle"/>
          </p:nvPr>
        </p:nvSpPr>
        <p:spPr>
          <a:xfrm>
            <a:off x="685800" y="1"/>
            <a:ext cx="7772400" cy="1470025"/>
          </a:xfrm>
        </p:spPr>
        <p:txBody>
          <a:bodyPr/>
          <a:lstStyle/>
          <a:p>
            <a:pPr eaLnBrk="1" hangingPunct="1"/>
            <a:r>
              <a:rPr lang="en-US" smtClean="0">
                <a:latin typeface="Baskerville Old Face" pitchFamily="18" charset="0"/>
              </a:rPr>
              <a:t>Financial Markets</a:t>
            </a:r>
          </a:p>
        </p:txBody>
      </p:sp>
      <p:sp>
        <p:nvSpPr>
          <p:cNvPr id="2051" name="Rectangle 3"/>
          <p:cNvSpPr>
            <a:spLocks noGrp="1" noChangeArrowheads="1"/>
          </p:cNvSpPr>
          <p:nvPr>
            <p:ph type="subTitle" idx="1"/>
          </p:nvPr>
        </p:nvSpPr>
        <p:spPr>
          <a:xfrm>
            <a:off x="1371600" y="5105400"/>
            <a:ext cx="6400800" cy="1752600"/>
          </a:xfrm>
        </p:spPr>
        <p:txBody>
          <a:bodyPr rtlCol="0">
            <a:normAutofit/>
          </a:bodyPr>
          <a:lstStyle/>
          <a:p>
            <a:pPr eaLnBrk="1" fontAlgn="auto" hangingPunct="1">
              <a:spcAft>
                <a:spcPts val="0"/>
              </a:spcAft>
              <a:buFont typeface="Arial"/>
              <a:buNone/>
              <a:defRPr/>
            </a:pPr>
            <a:r>
              <a:rPr lang="en-US" dirty="0">
                <a:ln>
                  <a:solidFill>
                    <a:schemeClr val="tx1"/>
                  </a:solidFill>
                </a:ln>
                <a:latin typeface="Baskerville Old Face"/>
                <a:cs typeface="Baskerville Old Face"/>
              </a:rPr>
              <a:t>Deteriorating global economic outlook putting strains on financial and credit markets.</a:t>
            </a:r>
          </a:p>
        </p:txBody>
      </p:sp>
      <p:pic>
        <p:nvPicPr>
          <p:cNvPr id="44035" name="Picture 3" descr="economic-depression-recession.jpg"/>
          <p:cNvPicPr>
            <a:picLocks noChangeAspect="1"/>
          </p:cNvPicPr>
          <p:nvPr/>
        </p:nvPicPr>
        <p:blipFill>
          <a:blip r:embed="rId2"/>
          <a:srcRect/>
          <a:stretch>
            <a:fillRect/>
          </a:stretch>
        </p:blipFill>
        <p:spPr bwMode="auto">
          <a:xfrm>
            <a:off x="2032000" y="1371600"/>
            <a:ext cx="5080000" cy="33909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Lending</a:t>
            </a:r>
            <a:endParaRPr lang="en-US" dirty="0"/>
          </a:p>
        </p:txBody>
      </p:sp>
      <p:sp>
        <p:nvSpPr>
          <p:cNvPr id="3" name="Content Placeholder 2"/>
          <p:cNvSpPr>
            <a:spLocks noGrp="1"/>
          </p:cNvSpPr>
          <p:nvPr>
            <p:ph idx="1"/>
          </p:nvPr>
        </p:nvSpPr>
        <p:spPr/>
        <p:txBody>
          <a:bodyPr/>
          <a:lstStyle/>
          <a:p>
            <a:r>
              <a:rPr lang="en-US" sz="2400" dirty="0" smtClean="0"/>
              <a:t>Since the summer of 2007, banks have been seeking to restructure their balance </a:t>
            </a:r>
            <a:r>
              <a:rPr lang="en-US" sz="2400" dirty="0" smtClean="0"/>
              <a:t>sheets through:</a:t>
            </a:r>
          </a:p>
          <a:p>
            <a:pPr>
              <a:buNone/>
            </a:pPr>
            <a:r>
              <a:rPr lang="en-US" sz="2400" dirty="0" smtClean="0"/>
              <a:t>	</a:t>
            </a:r>
            <a:r>
              <a:rPr lang="en-US" sz="2400" dirty="0" smtClean="0"/>
              <a:t>	</a:t>
            </a:r>
            <a:r>
              <a:rPr lang="en-US" sz="2400" dirty="0" smtClean="0"/>
              <a:t> -injections </a:t>
            </a:r>
            <a:r>
              <a:rPr lang="en-US" sz="2400" dirty="0" smtClean="0"/>
              <a:t>of new </a:t>
            </a:r>
            <a:r>
              <a:rPr lang="en-US" sz="2400" dirty="0" smtClean="0"/>
              <a:t>capital </a:t>
            </a:r>
          </a:p>
          <a:p>
            <a:pPr>
              <a:buNone/>
            </a:pPr>
            <a:r>
              <a:rPr lang="en-US" sz="2400" dirty="0" smtClean="0"/>
              <a:t>	</a:t>
            </a:r>
            <a:r>
              <a:rPr lang="en-US" sz="2400" dirty="0" smtClean="0"/>
              <a:t>   -</a:t>
            </a:r>
            <a:r>
              <a:rPr lang="en-US" sz="2400" dirty="0" smtClean="0"/>
              <a:t>selling </a:t>
            </a:r>
            <a:r>
              <a:rPr lang="en-US" sz="2400" dirty="0" smtClean="0"/>
              <a:t>assets </a:t>
            </a:r>
            <a:endParaRPr lang="en-US" sz="2400" dirty="0" smtClean="0"/>
          </a:p>
          <a:p>
            <a:pPr>
              <a:buNone/>
            </a:pPr>
            <a:r>
              <a:rPr lang="en-US" sz="2400" dirty="0" smtClean="0"/>
              <a:t>		 -cutting </a:t>
            </a:r>
            <a:r>
              <a:rPr lang="en-US" sz="2400" dirty="0" smtClean="0"/>
              <a:t>back on lending.</a:t>
            </a:r>
          </a:p>
          <a:p>
            <a:r>
              <a:rPr lang="en-US" sz="2400" dirty="0" smtClean="0"/>
              <a:t>The process of deleveraging became necessary following a period during which banks’ balance sheets had grown rapidly relative to their capital bases.</a:t>
            </a:r>
          </a:p>
          <a:p>
            <a:r>
              <a:rPr lang="en-US" sz="2400" dirty="0" smtClean="0"/>
              <a:t>Tightening of credit is a critical obstacle for the economy to overcome in order for corporations and households to function properly.</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ChangeArrowheads="1"/>
          </p:cNvSpPr>
          <p:nvPr/>
        </p:nvSpPr>
        <p:spPr bwMode="auto">
          <a:xfrm>
            <a:off x="358777" y="179388"/>
            <a:ext cx="7781233" cy="1200329"/>
          </a:xfrm>
          <a:prstGeom prst="rect">
            <a:avLst/>
          </a:prstGeom>
          <a:noFill/>
          <a:ln w="9525">
            <a:noFill/>
            <a:miter lim="800000"/>
            <a:headEnd/>
            <a:tailEnd/>
          </a:ln>
        </p:spPr>
        <p:txBody>
          <a:bodyPr wrap="none">
            <a:spAutoFit/>
          </a:bodyPr>
          <a:lstStyle/>
          <a:p>
            <a:pPr eaLnBrk="0" hangingPunct="0"/>
            <a:r>
              <a:rPr lang="en-US" sz="2400">
                <a:solidFill>
                  <a:srgbClr val="960000"/>
                </a:solidFill>
                <a:latin typeface="Calibri" pitchFamily="34" charset="0"/>
              </a:rPr>
              <a:t>Chart 1.10</a:t>
            </a:r>
            <a:r>
              <a:rPr lang="en-US" sz="2400">
                <a:latin typeface="Calibri" pitchFamily="34" charset="0"/>
              </a:rPr>
              <a:t>  </a:t>
            </a:r>
            <a:r>
              <a:rPr lang="en-GB" sz="2400" i="1">
                <a:latin typeface="Calibri" pitchFamily="34" charset="0"/>
              </a:rPr>
              <a:t>Credit Conditions Survey</a:t>
            </a:r>
            <a:r>
              <a:rPr lang="en-GB" sz="2400">
                <a:latin typeface="Calibri" pitchFamily="34" charset="0"/>
              </a:rPr>
              <a:t>:  changes in demand for </a:t>
            </a:r>
            <a:br>
              <a:rPr lang="en-GB" sz="2400">
                <a:latin typeface="Calibri" pitchFamily="34" charset="0"/>
              </a:rPr>
            </a:br>
            <a:r>
              <a:rPr lang="en-GB" sz="2400">
                <a:latin typeface="Calibri" pitchFamily="34" charset="0"/>
              </a:rPr>
              <a:t>corporate lending by purpose</a:t>
            </a:r>
            <a:r>
              <a:rPr lang="en-GB" sz="2400" baseline="30000">
                <a:latin typeface="Calibri" pitchFamily="34" charset="0"/>
              </a:rPr>
              <a:t>(a)</a:t>
            </a:r>
          </a:p>
          <a:p>
            <a:pPr eaLnBrk="0" hangingPunct="0"/>
            <a:endParaRPr lang="en-US" sz="2400">
              <a:latin typeface="Calibri" pitchFamily="34" charset="0"/>
            </a:endParaRPr>
          </a:p>
        </p:txBody>
      </p:sp>
      <p:sp>
        <p:nvSpPr>
          <p:cNvPr id="49154" name="Rectangle 3"/>
          <p:cNvSpPr>
            <a:spLocks noChangeArrowheads="1"/>
          </p:cNvSpPr>
          <p:nvPr/>
        </p:nvSpPr>
        <p:spPr bwMode="auto">
          <a:xfrm>
            <a:off x="358775" y="6570663"/>
            <a:ext cx="8064500" cy="215444"/>
          </a:xfrm>
          <a:prstGeom prst="rect">
            <a:avLst/>
          </a:prstGeom>
          <a:noFill/>
          <a:ln w="9525">
            <a:noFill/>
            <a:miter lim="800000"/>
            <a:headEnd/>
            <a:tailEnd/>
          </a:ln>
        </p:spPr>
        <p:txBody>
          <a:bodyPr>
            <a:spAutoFit/>
          </a:bodyPr>
          <a:lstStyle/>
          <a:p>
            <a:pPr eaLnBrk="0" hangingPunct="0"/>
            <a:r>
              <a:rPr lang="en-GB" sz="800">
                <a:latin typeface="Calibri" pitchFamily="34" charset="0"/>
              </a:rPr>
              <a:t>(a)  Weighted responses of lenders.  A positive balance indicates an increase in demand for lending for that purpose.</a:t>
            </a:r>
            <a:endParaRPr lang="en-US" sz="800">
              <a:latin typeface="Calibri" pitchFamily="34" charset="0"/>
            </a:endParaRPr>
          </a:p>
        </p:txBody>
      </p:sp>
      <p:pic>
        <p:nvPicPr>
          <p:cNvPr id="49155" name="Picture 4" descr="Cht 1"/>
          <p:cNvPicPr>
            <a:picLocks noChangeAspect="1" noChangeArrowheads="1"/>
          </p:cNvPicPr>
          <p:nvPr/>
        </p:nvPicPr>
        <p:blipFill>
          <a:blip r:embed="rId3"/>
          <a:srcRect/>
          <a:stretch>
            <a:fillRect/>
          </a:stretch>
        </p:blipFill>
        <p:spPr bwMode="auto">
          <a:xfrm>
            <a:off x="1819275" y="1098550"/>
            <a:ext cx="5803900" cy="5378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ChangeArrowheads="1"/>
          </p:cNvSpPr>
          <p:nvPr/>
        </p:nvSpPr>
        <p:spPr bwMode="auto">
          <a:xfrm>
            <a:off x="358775" y="179388"/>
            <a:ext cx="4838119" cy="461665"/>
          </a:xfrm>
          <a:prstGeom prst="rect">
            <a:avLst/>
          </a:prstGeom>
          <a:noFill/>
          <a:ln w="9525">
            <a:noFill/>
            <a:miter lim="800000"/>
            <a:headEnd/>
            <a:tailEnd/>
          </a:ln>
        </p:spPr>
        <p:txBody>
          <a:bodyPr wrap="none">
            <a:spAutoFit/>
          </a:bodyPr>
          <a:lstStyle/>
          <a:p>
            <a:pPr eaLnBrk="0" hangingPunct="0"/>
            <a:r>
              <a:rPr lang="en-US" sz="2400">
                <a:solidFill>
                  <a:srgbClr val="960000"/>
                </a:solidFill>
                <a:latin typeface="Calibri" pitchFamily="34" charset="0"/>
              </a:rPr>
              <a:t>Chart 1.7</a:t>
            </a:r>
            <a:r>
              <a:rPr lang="en-US" sz="2400">
                <a:latin typeface="Calibri" pitchFamily="34" charset="0"/>
              </a:rPr>
              <a:t>  </a:t>
            </a:r>
            <a:r>
              <a:rPr lang="en-GB" sz="2400">
                <a:latin typeface="Calibri" pitchFamily="34" charset="0"/>
              </a:rPr>
              <a:t>Growth in loans to PNFCs</a:t>
            </a:r>
            <a:r>
              <a:rPr lang="en-GB" sz="2400" baseline="30000">
                <a:latin typeface="Calibri" pitchFamily="34" charset="0"/>
              </a:rPr>
              <a:t>(a)</a:t>
            </a:r>
          </a:p>
        </p:txBody>
      </p:sp>
      <p:sp>
        <p:nvSpPr>
          <p:cNvPr id="45058" name="Rectangle 3"/>
          <p:cNvSpPr>
            <a:spLocks noChangeArrowheads="1"/>
          </p:cNvSpPr>
          <p:nvPr/>
        </p:nvSpPr>
        <p:spPr bwMode="auto">
          <a:xfrm>
            <a:off x="358775" y="6324600"/>
            <a:ext cx="8064500" cy="461665"/>
          </a:xfrm>
          <a:prstGeom prst="rect">
            <a:avLst/>
          </a:prstGeom>
          <a:noFill/>
          <a:ln w="9525">
            <a:noFill/>
            <a:miter lim="800000"/>
            <a:headEnd/>
            <a:tailEnd/>
          </a:ln>
        </p:spPr>
        <p:txBody>
          <a:bodyPr>
            <a:spAutoFit/>
          </a:bodyPr>
          <a:lstStyle/>
          <a:p>
            <a:pPr eaLnBrk="0" hangingPunct="0"/>
            <a:r>
              <a:rPr lang="en-GB" sz="800">
                <a:latin typeface="Calibri" pitchFamily="34" charset="0"/>
              </a:rPr>
              <a:t>(a)  Annualised percentage changes over the past three months.  Data are non seasonally adjusted.</a:t>
            </a:r>
          </a:p>
          <a:p>
            <a:pPr eaLnBrk="0" hangingPunct="0"/>
            <a:r>
              <a:rPr lang="en-GB" sz="800">
                <a:latin typeface="Calibri" pitchFamily="34" charset="0"/>
              </a:rPr>
              <a:t>(b)  This group comprises Abbey, Barclays, HBOS, HSBC, Lloyds TSB and Royal Bank of Scotland.</a:t>
            </a:r>
          </a:p>
          <a:p>
            <a:pPr eaLnBrk="0" hangingPunct="0"/>
            <a:r>
              <a:rPr lang="en-GB" sz="800">
                <a:latin typeface="Calibri" pitchFamily="34" charset="0"/>
              </a:rPr>
              <a:t>(c)  Calculated as a residual.</a:t>
            </a:r>
            <a:endParaRPr lang="en-US" sz="800">
              <a:latin typeface="Calibri" pitchFamily="34" charset="0"/>
            </a:endParaRPr>
          </a:p>
        </p:txBody>
      </p:sp>
      <p:pic>
        <p:nvPicPr>
          <p:cNvPr id="45059" name="Picture 4" descr="Cht 1"/>
          <p:cNvPicPr>
            <a:picLocks noChangeAspect="1" noChangeArrowheads="1"/>
          </p:cNvPicPr>
          <p:nvPr/>
        </p:nvPicPr>
        <p:blipFill>
          <a:blip r:embed="rId3"/>
          <a:srcRect/>
          <a:stretch>
            <a:fillRect/>
          </a:stretch>
        </p:blipFill>
        <p:spPr bwMode="auto">
          <a:xfrm>
            <a:off x="1828801" y="1041401"/>
            <a:ext cx="5753100" cy="5216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358776" y="179389"/>
            <a:ext cx="5754011" cy="646331"/>
          </a:xfrm>
          <a:prstGeom prst="rect">
            <a:avLst/>
          </a:prstGeom>
          <a:noFill/>
          <a:ln w="9525">
            <a:noFill/>
            <a:miter lim="800000"/>
            <a:headEnd/>
            <a:tailEnd/>
          </a:ln>
          <a:effectLst/>
        </p:spPr>
        <p:txBody>
          <a:bodyPr wrap="none">
            <a:spAutoFit/>
          </a:bodyPr>
          <a:lstStyle/>
          <a:p>
            <a:r>
              <a:rPr lang="en-US">
                <a:solidFill>
                  <a:srgbClr val="960000"/>
                </a:solidFill>
                <a:latin typeface="Arial" charset="0"/>
              </a:rPr>
              <a:t>Chart 1.11</a:t>
            </a:r>
            <a:r>
              <a:rPr lang="en-US">
                <a:latin typeface="Arial" charset="0"/>
              </a:rPr>
              <a:t>  </a:t>
            </a:r>
            <a:r>
              <a:rPr lang="en-GB">
                <a:latin typeface="Arial" charset="0"/>
              </a:rPr>
              <a:t>Growth in household net secured lending</a:t>
            </a:r>
            <a:r>
              <a:rPr lang="en-GB" baseline="30000">
                <a:latin typeface="Arial" charset="0"/>
              </a:rPr>
              <a:t>(a)</a:t>
            </a:r>
          </a:p>
          <a:p>
            <a:endParaRPr lang="en-US">
              <a:latin typeface="Arial" charset="0"/>
            </a:endParaRPr>
          </a:p>
        </p:txBody>
      </p:sp>
      <p:sp>
        <p:nvSpPr>
          <p:cNvPr id="91139" name="Rectangle 3"/>
          <p:cNvSpPr>
            <a:spLocks noChangeArrowheads="1"/>
          </p:cNvSpPr>
          <p:nvPr/>
        </p:nvSpPr>
        <p:spPr bwMode="auto">
          <a:xfrm>
            <a:off x="358775" y="6332539"/>
            <a:ext cx="8064500" cy="461665"/>
          </a:xfrm>
          <a:prstGeom prst="rect">
            <a:avLst/>
          </a:prstGeom>
          <a:noFill/>
          <a:ln w="9525">
            <a:noFill/>
            <a:miter lim="800000"/>
            <a:headEnd/>
            <a:tailEnd/>
          </a:ln>
          <a:effectLst/>
        </p:spPr>
        <p:txBody>
          <a:bodyPr>
            <a:spAutoFit/>
          </a:bodyPr>
          <a:lstStyle/>
          <a:p>
            <a:r>
              <a:rPr lang="en-GB" sz="800">
                <a:latin typeface="Arial" charset="0"/>
              </a:rPr>
              <a:t>(a)  Annualised percentage changes over the past three months.  Data are non seasonally adjusted.</a:t>
            </a:r>
          </a:p>
          <a:p>
            <a:r>
              <a:rPr lang="en-GB" sz="800">
                <a:latin typeface="Arial" charset="0"/>
              </a:rPr>
              <a:t>(b)  This group comprises Abbey, Barclays, HBOS, HSBC, Lloyds TSB, Nationwide and Royal Bank of Scotland.</a:t>
            </a:r>
          </a:p>
          <a:p>
            <a:r>
              <a:rPr lang="en-GB" sz="800">
                <a:latin typeface="Arial" charset="0"/>
              </a:rPr>
              <a:t>(c)  Calculated as a residual.</a:t>
            </a:r>
            <a:endParaRPr lang="en-US" sz="800">
              <a:latin typeface="Arial" charset="0"/>
            </a:endParaRPr>
          </a:p>
        </p:txBody>
      </p:sp>
      <p:pic>
        <p:nvPicPr>
          <p:cNvPr id="91141" name="Picture 5" descr="Cht 1"/>
          <p:cNvPicPr>
            <a:picLocks noChangeAspect="1" noChangeArrowheads="1"/>
          </p:cNvPicPr>
          <p:nvPr/>
        </p:nvPicPr>
        <p:blipFill>
          <a:blip r:embed="rId3"/>
          <a:srcRect/>
          <a:stretch>
            <a:fillRect/>
          </a:stretch>
        </p:blipFill>
        <p:spPr bwMode="auto">
          <a:xfrm>
            <a:off x="1819276" y="752476"/>
            <a:ext cx="5808663" cy="5419725"/>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ChangeArrowheads="1"/>
          </p:cNvSpPr>
          <p:nvPr/>
        </p:nvSpPr>
        <p:spPr bwMode="auto">
          <a:xfrm>
            <a:off x="358777" y="179388"/>
            <a:ext cx="8353425" cy="461665"/>
          </a:xfrm>
          <a:prstGeom prst="rect">
            <a:avLst/>
          </a:prstGeom>
          <a:noFill/>
          <a:ln w="9525">
            <a:noFill/>
            <a:miter lim="800000"/>
            <a:headEnd/>
            <a:tailEnd/>
          </a:ln>
        </p:spPr>
        <p:txBody>
          <a:bodyPr>
            <a:spAutoFit/>
          </a:bodyPr>
          <a:lstStyle/>
          <a:p>
            <a:pPr eaLnBrk="0" hangingPunct="0"/>
            <a:r>
              <a:rPr lang="en-US" sz="2400">
                <a:solidFill>
                  <a:srgbClr val="960000"/>
                </a:solidFill>
                <a:latin typeface="Calibri" pitchFamily="34" charset="0"/>
              </a:rPr>
              <a:t>Table 1.C</a:t>
            </a:r>
            <a:r>
              <a:rPr lang="en-US" sz="2400">
                <a:latin typeface="Calibri" pitchFamily="34" charset="0"/>
              </a:rPr>
              <a:t>  </a:t>
            </a:r>
            <a:r>
              <a:rPr lang="en-GB" sz="2400">
                <a:latin typeface="Calibri" pitchFamily="34" charset="0"/>
              </a:rPr>
              <a:t>Lending to individuals</a:t>
            </a:r>
          </a:p>
        </p:txBody>
      </p:sp>
      <p:sp>
        <p:nvSpPr>
          <p:cNvPr id="51202" name="Rectangle 3"/>
          <p:cNvSpPr>
            <a:spLocks noChangeArrowheads="1"/>
          </p:cNvSpPr>
          <p:nvPr/>
        </p:nvSpPr>
        <p:spPr bwMode="auto">
          <a:xfrm>
            <a:off x="928690" y="1827213"/>
            <a:ext cx="7126287" cy="2462213"/>
          </a:xfrm>
          <a:prstGeom prst="rect">
            <a:avLst/>
          </a:prstGeom>
          <a:noFill/>
          <a:ln w="9525">
            <a:noFill/>
            <a:miter lim="800000"/>
            <a:headEnd/>
            <a:tailEnd/>
          </a:ln>
        </p:spPr>
        <p:txBody>
          <a:bodyPr anchor="ctr">
            <a:spAutoFit/>
          </a:bodyPr>
          <a:lstStyle/>
          <a:p>
            <a:pPr eaLnBrk="0" hangingPunct="0"/>
            <a:r>
              <a:rPr lang="en-US" sz="1400" b="1">
                <a:latin typeface="Calibri" pitchFamily="34" charset="0"/>
              </a:rPr>
              <a:t>Percentage changes on a year earlier</a:t>
            </a:r>
          </a:p>
          <a:p>
            <a:pPr eaLnBrk="0" hangingPunct="0"/>
            <a:endParaRPr lang="en-US" sz="1400">
              <a:latin typeface="Calibri" pitchFamily="34" charset="0"/>
            </a:endParaRPr>
          </a:p>
          <a:p>
            <a:pPr eaLnBrk="0" hangingPunct="0"/>
            <a:r>
              <a:rPr lang="en-US" sz="1400">
                <a:latin typeface="Calibri" pitchFamily="34" charset="0"/>
              </a:rPr>
              <a:t>			Averages			2008</a:t>
            </a:r>
          </a:p>
          <a:p>
            <a:pPr eaLnBrk="0" hangingPunct="0"/>
            <a:endParaRPr lang="en-US" sz="1400">
              <a:latin typeface="Calibri" pitchFamily="34" charset="0"/>
            </a:endParaRPr>
          </a:p>
          <a:p>
            <a:pPr eaLnBrk="0" hangingPunct="0"/>
            <a:r>
              <a:rPr lang="en-US" sz="1400">
                <a:latin typeface="Calibri" pitchFamily="34" charset="0"/>
              </a:rPr>
              <a:t>		             1996 to 2007		Oct.	Nov.	Dec.</a:t>
            </a:r>
          </a:p>
          <a:p>
            <a:pPr eaLnBrk="0" hangingPunct="0"/>
            <a:endParaRPr lang="en-US" sz="1400">
              <a:latin typeface="Calibri" pitchFamily="34" charset="0"/>
            </a:endParaRPr>
          </a:p>
          <a:p>
            <a:pPr eaLnBrk="0" hangingPunct="0"/>
            <a:r>
              <a:rPr lang="en-US" sz="1400">
                <a:latin typeface="Calibri" pitchFamily="34" charset="0"/>
              </a:rPr>
              <a:t>Total lending		        10.2		 4.7	 4.1	 3.6</a:t>
            </a:r>
          </a:p>
          <a:p>
            <a:pPr eaLnBrk="0" hangingPunct="0"/>
            <a:r>
              <a:rPr lang="en-US" sz="1400">
                <a:latin typeface="Calibri" pitchFamily="34" charset="0"/>
              </a:rPr>
              <a:t>Secured			          9.5		 4.5	 3.9	 3.4</a:t>
            </a:r>
          </a:p>
          <a:p>
            <a:pPr eaLnBrk="0" hangingPunct="0"/>
            <a:r>
              <a:rPr lang="en-US" sz="1400">
                <a:latin typeface="Calibri" pitchFamily="34" charset="0"/>
              </a:rPr>
              <a:t>Consumer credit		        13.8		 5.4	 5.1	 5.0</a:t>
            </a:r>
          </a:p>
          <a:p>
            <a:pPr eaLnBrk="0" hangingPunct="0"/>
            <a:r>
              <a:rPr lang="en-US" sz="1400" i="1">
                <a:latin typeface="Calibri" pitchFamily="34" charset="0"/>
              </a:rPr>
              <a:t>  of which, credit card		        18.0		 8.0	 8.2	 7.4</a:t>
            </a:r>
            <a:endParaRPr lang="en-US" sz="1400">
              <a:latin typeface="Calibri" pitchFamily="34" charset="0"/>
            </a:endParaRPr>
          </a:p>
          <a:p>
            <a:pPr eaLnBrk="0" hangingPunct="0"/>
            <a:r>
              <a:rPr lang="en-US" sz="1400" i="1">
                <a:latin typeface="Calibri" pitchFamily="34" charset="0"/>
              </a:rPr>
              <a:t>  of which, other unsecured	        12.5		 4.5	 4.2	 4.2</a:t>
            </a:r>
          </a:p>
        </p:txBody>
      </p:sp>
      <p:sp>
        <p:nvSpPr>
          <p:cNvPr id="51203" name="Line 4"/>
          <p:cNvSpPr>
            <a:spLocks noChangeShapeType="1"/>
          </p:cNvSpPr>
          <p:nvPr/>
        </p:nvSpPr>
        <p:spPr bwMode="auto">
          <a:xfrm>
            <a:off x="990602" y="3028950"/>
            <a:ext cx="6810375" cy="0"/>
          </a:xfrm>
          <a:prstGeom prst="line">
            <a:avLst/>
          </a:prstGeom>
          <a:noFill/>
          <a:ln w="9525">
            <a:solidFill>
              <a:schemeClr val="tx1"/>
            </a:solidFill>
            <a:round/>
            <a:headEnd/>
            <a:tailEnd/>
          </a:ln>
        </p:spPr>
        <p:txBody>
          <a:bodyPr/>
          <a:lstStyle/>
          <a:p>
            <a:endParaRPr lang="en-US"/>
          </a:p>
        </p:txBody>
      </p:sp>
      <p:sp>
        <p:nvSpPr>
          <p:cNvPr id="51204" name="Line 5"/>
          <p:cNvSpPr>
            <a:spLocks noChangeShapeType="1"/>
          </p:cNvSpPr>
          <p:nvPr/>
        </p:nvSpPr>
        <p:spPr bwMode="auto">
          <a:xfrm>
            <a:off x="5524501" y="2600325"/>
            <a:ext cx="2266951" cy="0"/>
          </a:xfrm>
          <a:prstGeom prst="line">
            <a:avLst/>
          </a:prstGeom>
          <a:noFill/>
          <a:ln w="9525">
            <a:solidFill>
              <a:schemeClr val="tx1"/>
            </a:solidFill>
            <a:round/>
            <a:headEnd/>
            <a:tailEnd/>
          </a:ln>
        </p:spPr>
        <p:txBody>
          <a:bodyPr/>
          <a:lstStyle/>
          <a:p>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Credit Default and Viability of Banks</a:t>
            </a:r>
            <a:endParaRPr lang="en-US" dirty="0"/>
          </a:p>
        </p:txBody>
      </p:sp>
      <p:sp>
        <p:nvSpPr>
          <p:cNvPr id="6" name="Content Placeholder 5"/>
          <p:cNvSpPr>
            <a:spLocks noGrp="1"/>
          </p:cNvSpPr>
          <p:nvPr>
            <p:ph idx="1"/>
          </p:nvPr>
        </p:nvSpPr>
        <p:spPr/>
        <p:txBody>
          <a:bodyPr/>
          <a:lstStyle/>
          <a:p>
            <a:r>
              <a:rPr lang="en-US" sz="2000" dirty="0" smtClean="0"/>
              <a:t>T</a:t>
            </a:r>
            <a:r>
              <a:rPr lang="en-US" sz="2000" dirty="0" smtClean="0"/>
              <a:t>he </a:t>
            </a:r>
            <a:r>
              <a:rPr lang="en-US" sz="2000" dirty="0" smtClean="0"/>
              <a:t>macroeconomic outlook has deteriorated, sharply increasing uncertainty over future asset values. </a:t>
            </a:r>
            <a:endParaRPr lang="en-US" sz="2000" dirty="0" smtClean="0"/>
          </a:p>
          <a:p>
            <a:r>
              <a:rPr lang="en-US" sz="2000" dirty="0" smtClean="0"/>
              <a:t>D</a:t>
            </a:r>
            <a:r>
              <a:rPr lang="en-US" sz="2000" dirty="0" smtClean="0"/>
              <a:t>espite </a:t>
            </a:r>
            <a:r>
              <a:rPr lang="en-US" sz="2000" dirty="0" smtClean="0"/>
              <a:t>significant injections of new capital following the 8 October package, concerns over banks’ abilities to absorb potential losses persisted. </a:t>
            </a:r>
            <a:endParaRPr lang="en-US" sz="2000" dirty="0" smtClean="0"/>
          </a:p>
          <a:p>
            <a:r>
              <a:rPr lang="en-US" sz="2000" dirty="0" smtClean="0"/>
              <a:t>This </a:t>
            </a:r>
            <a:r>
              <a:rPr lang="en-US" sz="2000" dirty="0" smtClean="0"/>
              <a:t>was reflected in the relatively high price market participants continued to pay to hedge against banks </a:t>
            </a:r>
            <a:r>
              <a:rPr lang="en-US" sz="2000" dirty="0" smtClean="0"/>
              <a:t>defaulting.</a:t>
            </a:r>
          </a:p>
          <a:p>
            <a:r>
              <a:rPr lang="en-US" sz="2000" dirty="0" smtClean="0"/>
              <a:t>R</a:t>
            </a:r>
            <a:r>
              <a:rPr lang="en-US" sz="2000" dirty="0" smtClean="0"/>
              <a:t>eflected </a:t>
            </a:r>
            <a:r>
              <a:rPr lang="en-US" sz="2000" dirty="0" smtClean="0"/>
              <a:t>in lower credit availability, as banks continued to face rises in both defaults by borrowers and the average loss faced on each </a:t>
            </a:r>
            <a:r>
              <a:rPr lang="en-US" sz="2000" dirty="0" smtClean="0"/>
              <a:t>default.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358775" y="179388"/>
            <a:ext cx="8343900" cy="369332"/>
          </a:xfrm>
          <a:prstGeom prst="rect">
            <a:avLst/>
          </a:prstGeom>
          <a:noFill/>
          <a:ln w="9525">
            <a:noFill/>
            <a:miter lim="800000"/>
            <a:headEnd/>
            <a:tailEnd/>
          </a:ln>
          <a:effectLst/>
        </p:spPr>
        <p:txBody>
          <a:bodyPr>
            <a:spAutoFit/>
          </a:bodyPr>
          <a:lstStyle/>
          <a:p>
            <a:r>
              <a:rPr lang="en-US">
                <a:solidFill>
                  <a:srgbClr val="960000"/>
                </a:solidFill>
                <a:latin typeface="Arial" charset="0"/>
              </a:rPr>
              <a:t>Chart 1.3</a:t>
            </a:r>
            <a:r>
              <a:rPr lang="en-US">
                <a:latin typeface="Arial" charset="0"/>
              </a:rPr>
              <a:t>  </a:t>
            </a:r>
            <a:r>
              <a:rPr lang="en-GB">
                <a:latin typeface="Arial" charset="0"/>
              </a:rPr>
              <a:t>Major UK banks’ credit default swap premia</a:t>
            </a:r>
            <a:r>
              <a:rPr lang="en-GB" baseline="30000">
                <a:latin typeface="Arial" charset="0"/>
              </a:rPr>
              <a:t>(a)</a:t>
            </a:r>
          </a:p>
        </p:txBody>
      </p:sp>
      <p:sp>
        <p:nvSpPr>
          <p:cNvPr id="66565" name="Rectangle 5"/>
          <p:cNvSpPr>
            <a:spLocks noChangeArrowheads="1"/>
          </p:cNvSpPr>
          <p:nvPr/>
        </p:nvSpPr>
        <p:spPr bwMode="auto">
          <a:xfrm>
            <a:off x="358777" y="6338889"/>
            <a:ext cx="8469313" cy="461665"/>
          </a:xfrm>
          <a:prstGeom prst="rect">
            <a:avLst/>
          </a:prstGeom>
          <a:noFill/>
          <a:ln w="9525">
            <a:noFill/>
            <a:miter lim="800000"/>
            <a:headEnd/>
            <a:tailEnd/>
          </a:ln>
          <a:effectLst/>
        </p:spPr>
        <p:txBody>
          <a:bodyPr>
            <a:spAutoFit/>
          </a:bodyPr>
          <a:lstStyle/>
          <a:p>
            <a:r>
              <a:rPr lang="en-GB" sz="800">
                <a:latin typeface="Arial" charset="0"/>
              </a:rPr>
              <a:t>Sources:  Markit Group Limited, Thomson Datastream, published accounts and Bank calculations.</a:t>
            </a:r>
          </a:p>
          <a:p>
            <a:endParaRPr lang="en-GB" sz="800">
              <a:latin typeface="Arial" charset="0"/>
            </a:endParaRPr>
          </a:p>
          <a:p>
            <a:r>
              <a:rPr lang="en-GB" sz="800">
                <a:latin typeface="Arial" charset="0"/>
              </a:rPr>
              <a:t>(a)  The blue line shows a weighted average of the credit default swap premia of ten major UK banks, weighted by each bank’s share in total assets.</a:t>
            </a:r>
            <a:endParaRPr lang="en-GB">
              <a:latin typeface="Times New Roman" pitchFamily="18" charset="0"/>
            </a:endParaRPr>
          </a:p>
        </p:txBody>
      </p:sp>
      <p:pic>
        <p:nvPicPr>
          <p:cNvPr id="66566" name="Picture 6" descr="Cht 1"/>
          <p:cNvPicPr>
            <a:picLocks noChangeAspect="1" noChangeArrowheads="1"/>
          </p:cNvPicPr>
          <p:nvPr/>
        </p:nvPicPr>
        <p:blipFill>
          <a:blip r:embed="rId3"/>
          <a:srcRect/>
          <a:stretch>
            <a:fillRect/>
          </a:stretch>
        </p:blipFill>
        <p:spPr bwMode="auto">
          <a:xfrm>
            <a:off x="1819276" y="1076325"/>
            <a:ext cx="5857875" cy="5162550"/>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Line 4"/>
          <p:cNvSpPr>
            <a:spLocks noChangeShapeType="1"/>
          </p:cNvSpPr>
          <p:nvPr/>
        </p:nvSpPr>
        <p:spPr bwMode="auto">
          <a:xfrm flipH="1">
            <a:off x="180975" y="1371600"/>
            <a:ext cx="19051" cy="0"/>
          </a:xfrm>
          <a:prstGeom prst="line">
            <a:avLst/>
          </a:prstGeom>
          <a:noFill/>
          <a:ln w="9525">
            <a:solidFill>
              <a:schemeClr val="tx1"/>
            </a:solidFill>
            <a:round/>
            <a:headEnd/>
            <a:tailEnd/>
          </a:ln>
          <a:effectLst/>
        </p:spPr>
        <p:txBody>
          <a:bodyPr/>
          <a:lstStyle/>
          <a:p>
            <a:endParaRPr lang="en-US"/>
          </a:p>
        </p:txBody>
      </p:sp>
      <p:sp>
        <p:nvSpPr>
          <p:cNvPr id="56331" name="Rectangle 11"/>
          <p:cNvSpPr>
            <a:spLocks noChangeArrowheads="1"/>
          </p:cNvSpPr>
          <p:nvPr/>
        </p:nvSpPr>
        <p:spPr bwMode="auto">
          <a:xfrm>
            <a:off x="358777" y="179389"/>
            <a:ext cx="8353425" cy="369332"/>
          </a:xfrm>
          <a:prstGeom prst="rect">
            <a:avLst/>
          </a:prstGeom>
          <a:noFill/>
          <a:ln w="9525">
            <a:noFill/>
            <a:miter lim="800000"/>
            <a:headEnd/>
            <a:tailEnd/>
          </a:ln>
          <a:effectLst/>
        </p:spPr>
        <p:txBody>
          <a:bodyPr>
            <a:spAutoFit/>
          </a:bodyPr>
          <a:lstStyle/>
          <a:p>
            <a:r>
              <a:rPr lang="en-US">
                <a:solidFill>
                  <a:srgbClr val="960000"/>
                </a:solidFill>
                <a:latin typeface="Arial" charset="0"/>
              </a:rPr>
              <a:t>Table 1.A</a:t>
            </a:r>
            <a:r>
              <a:rPr lang="en-US">
                <a:latin typeface="Arial" charset="0"/>
              </a:rPr>
              <a:t>  </a:t>
            </a:r>
            <a:r>
              <a:rPr lang="en-GB" i="1">
                <a:latin typeface="Arial" charset="0"/>
              </a:rPr>
              <a:t>Credit Conditions Survey</a:t>
            </a:r>
            <a:r>
              <a:rPr lang="en-GB">
                <a:latin typeface="Arial" charset="0"/>
              </a:rPr>
              <a:t>:  defaults and loss given default</a:t>
            </a:r>
            <a:endParaRPr lang="en-US">
              <a:latin typeface="Arial" charset="0"/>
            </a:endParaRPr>
          </a:p>
        </p:txBody>
      </p:sp>
      <p:sp>
        <p:nvSpPr>
          <p:cNvPr id="56332" name="Rectangle 12"/>
          <p:cNvSpPr>
            <a:spLocks noChangeArrowheads="1"/>
          </p:cNvSpPr>
          <p:nvPr/>
        </p:nvSpPr>
        <p:spPr bwMode="auto">
          <a:xfrm>
            <a:off x="358775" y="6453188"/>
            <a:ext cx="8426451" cy="338554"/>
          </a:xfrm>
          <a:prstGeom prst="rect">
            <a:avLst/>
          </a:prstGeom>
          <a:noFill/>
          <a:ln w="9525">
            <a:noFill/>
            <a:miter lim="800000"/>
            <a:headEnd/>
            <a:tailEnd/>
          </a:ln>
          <a:effectLst/>
        </p:spPr>
        <p:txBody>
          <a:bodyPr>
            <a:spAutoFit/>
          </a:bodyPr>
          <a:lstStyle/>
          <a:p>
            <a:r>
              <a:rPr lang="en-GB" sz="800">
                <a:latin typeface="Arial" charset="0"/>
              </a:rPr>
              <a:t>(a)  Weighted responses of lenders.  A positive balance implies increasing defaults and increasing losses given default.</a:t>
            </a:r>
          </a:p>
          <a:p>
            <a:r>
              <a:rPr lang="en-GB" sz="800">
                <a:latin typeface="Arial" charset="0"/>
              </a:rPr>
              <a:t>(b)  Banks’ expectations for the following three months, reported in the 2008 Q4 survey.</a:t>
            </a:r>
            <a:endParaRPr lang="en-US" sz="800">
              <a:latin typeface="Arial" charset="0"/>
            </a:endParaRPr>
          </a:p>
        </p:txBody>
      </p:sp>
      <p:sp>
        <p:nvSpPr>
          <p:cNvPr id="56334" name="Rectangle 14"/>
          <p:cNvSpPr>
            <a:spLocks noChangeArrowheads="1"/>
          </p:cNvSpPr>
          <p:nvPr/>
        </p:nvSpPr>
        <p:spPr bwMode="auto">
          <a:xfrm>
            <a:off x="0" y="1839913"/>
            <a:ext cx="9144000" cy="2677656"/>
          </a:xfrm>
          <a:prstGeom prst="rect">
            <a:avLst/>
          </a:prstGeom>
          <a:noFill/>
          <a:ln w="9525">
            <a:noFill/>
            <a:miter lim="800000"/>
            <a:headEnd/>
            <a:tailEnd/>
          </a:ln>
          <a:effectLst/>
        </p:spPr>
        <p:txBody>
          <a:bodyPr anchor="ctr">
            <a:spAutoFit/>
          </a:bodyPr>
          <a:lstStyle/>
          <a:p>
            <a:pPr>
              <a:tabLst>
                <a:tab pos="4500563" algn="r"/>
                <a:tab pos="6300788" algn="r"/>
              </a:tabLst>
            </a:pPr>
            <a:r>
              <a:rPr lang="en-US" sz="1400" b="1" dirty="0">
                <a:latin typeface="Arial" charset="0"/>
              </a:rPr>
              <a:t>Net percentage balances</a:t>
            </a:r>
            <a:r>
              <a:rPr lang="en-US" sz="1400" baseline="30000" dirty="0">
                <a:latin typeface="Arial" charset="0"/>
              </a:rPr>
              <a:t>(a)</a:t>
            </a:r>
          </a:p>
          <a:p>
            <a:pPr>
              <a:tabLst>
                <a:tab pos="4500563" algn="r"/>
                <a:tab pos="6300788" algn="r"/>
              </a:tabLst>
            </a:pPr>
            <a:endParaRPr lang="en-US" sz="1400" dirty="0">
              <a:latin typeface="Arial" charset="0"/>
            </a:endParaRPr>
          </a:p>
          <a:p>
            <a:pPr>
              <a:tabLst>
                <a:tab pos="4500563" algn="r"/>
                <a:tab pos="6300788" algn="r"/>
              </a:tabLst>
            </a:pPr>
            <a:r>
              <a:rPr lang="en-US" sz="1400" dirty="0">
                <a:latin typeface="Arial" charset="0"/>
              </a:rPr>
              <a:t>	Averages	                              2008	                       2009</a:t>
            </a:r>
          </a:p>
          <a:p>
            <a:pPr>
              <a:tabLst>
                <a:tab pos="4500563" algn="r"/>
                <a:tab pos="6300788" algn="r"/>
              </a:tabLst>
            </a:pPr>
            <a:endParaRPr lang="en-US" sz="1400" dirty="0">
              <a:latin typeface="Arial" charset="0"/>
            </a:endParaRPr>
          </a:p>
          <a:p>
            <a:pPr>
              <a:tabLst>
                <a:tab pos="4500563" algn="r"/>
                <a:tab pos="6300788" algn="r"/>
              </a:tabLst>
            </a:pPr>
            <a:r>
              <a:rPr lang="en-US" sz="1400" dirty="0">
                <a:latin typeface="Arial" charset="0"/>
              </a:rPr>
              <a:t>	                                                               2007 Q2–2008 Q1                Q2          </a:t>
            </a:r>
            <a:r>
              <a:rPr lang="en-US" sz="800" dirty="0">
                <a:latin typeface="Arial" charset="0"/>
              </a:rPr>
              <a:t> </a:t>
            </a:r>
            <a:r>
              <a:rPr lang="en-US" sz="1400" dirty="0">
                <a:latin typeface="Arial" charset="0"/>
              </a:rPr>
              <a:t>Q3          Q4          Q1</a:t>
            </a:r>
            <a:r>
              <a:rPr lang="en-US" sz="1400" baseline="30000" dirty="0">
                <a:latin typeface="Arial" charset="0"/>
              </a:rPr>
              <a:t>(b)</a:t>
            </a:r>
          </a:p>
          <a:p>
            <a:pPr>
              <a:tabLst>
                <a:tab pos="4500563" algn="r"/>
                <a:tab pos="6300788" algn="r"/>
              </a:tabLst>
            </a:pPr>
            <a:endParaRPr lang="en-US" sz="1400" dirty="0">
              <a:latin typeface="Arial" charset="0"/>
            </a:endParaRPr>
          </a:p>
          <a:p>
            <a:pPr>
              <a:tabLst>
                <a:tab pos="4500563" algn="r"/>
                <a:tab pos="6300788" algn="r"/>
              </a:tabLst>
            </a:pPr>
            <a:r>
              <a:rPr lang="en-US" sz="1400" b="1" dirty="0">
                <a:latin typeface="Arial" charset="0"/>
              </a:rPr>
              <a:t>Secured lending to households</a:t>
            </a:r>
            <a:endParaRPr lang="en-US" sz="1400" dirty="0">
              <a:latin typeface="Arial" charset="0"/>
            </a:endParaRPr>
          </a:p>
          <a:p>
            <a:pPr>
              <a:tabLst>
                <a:tab pos="4500563" algn="r"/>
                <a:tab pos="6300788" algn="r"/>
              </a:tabLst>
            </a:pPr>
            <a:r>
              <a:rPr lang="en-US" sz="1400" dirty="0">
                <a:latin typeface="Arial" charset="0"/>
              </a:rPr>
              <a:t>Default rate	                                                                        4                </a:t>
            </a:r>
            <a:r>
              <a:rPr lang="en-US" sz="800" dirty="0">
                <a:latin typeface="Arial" charset="0"/>
              </a:rPr>
              <a:t> </a:t>
            </a:r>
            <a:r>
              <a:rPr lang="en-US" sz="1400" dirty="0">
                <a:latin typeface="Arial" charset="0"/>
              </a:rPr>
              <a:t>47	           </a:t>
            </a:r>
            <a:r>
              <a:rPr lang="en-US" sz="800" dirty="0">
                <a:latin typeface="Arial" charset="0"/>
              </a:rPr>
              <a:t> </a:t>
            </a:r>
            <a:r>
              <a:rPr lang="en-US" sz="1400" dirty="0">
                <a:latin typeface="Arial" charset="0"/>
              </a:rPr>
              <a:t>45           55            </a:t>
            </a:r>
            <a:r>
              <a:rPr lang="en-US" sz="800" dirty="0">
                <a:latin typeface="Arial" charset="0"/>
              </a:rPr>
              <a:t>  </a:t>
            </a:r>
            <a:r>
              <a:rPr lang="en-US" sz="1400" dirty="0">
                <a:latin typeface="Arial" charset="0"/>
              </a:rPr>
              <a:t>66</a:t>
            </a:r>
          </a:p>
          <a:p>
            <a:pPr>
              <a:tabLst>
                <a:tab pos="4500563" algn="r"/>
                <a:tab pos="6300788" algn="r"/>
              </a:tabLst>
            </a:pPr>
            <a:r>
              <a:rPr lang="en-US" sz="1400" dirty="0">
                <a:latin typeface="Arial" charset="0"/>
              </a:rPr>
              <a:t>Loss given default                  </a:t>
            </a:r>
            <a:r>
              <a:rPr lang="en-US" sz="800" dirty="0">
                <a:latin typeface="Arial" charset="0"/>
              </a:rPr>
              <a:t>                                                                       </a:t>
            </a:r>
            <a:r>
              <a:rPr lang="en-US" sz="1400" dirty="0">
                <a:latin typeface="Arial" charset="0"/>
              </a:rPr>
              <a:t>17                 41           </a:t>
            </a:r>
            <a:r>
              <a:rPr lang="en-US" sz="800" dirty="0">
                <a:latin typeface="Arial" charset="0"/>
              </a:rPr>
              <a:t> </a:t>
            </a:r>
            <a:r>
              <a:rPr lang="en-US" sz="1400" dirty="0">
                <a:latin typeface="Arial" charset="0"/>
              </a:rPr>
              <a:t>	55          </a:t>
            </a:r>
            <a:r>
              <a:rPr lang="en-US" sz="800" dirty="0">
                <a:latin typeface="Arial" charset="0"/>
              </a:rPr>
              <a:t> </a:t>
            </a:r>
            <a:r>
              <a:rPr lang="en-US" sz="1400" dirty="0">
                <a:latin typeface="Arial" charset="0"/>
              </a:rPr>
              <a:t>53           </a:t>
            </a:r>
            <a:r>
              <a:rPr lang="en-US" sz="800" dirty="0">
                <a:latin typeface="Arial" charset="0"/>
              </a:rPr>
              <a:t>    </a:t>
            </a:r>
            <a:r>
              <a:rPr lang="en-US" sz="400" dirty="0">
                <a:latin typeface="Arial" charset="0"/>
              </a:rPr>
              <a:t> </a:t>
            </a:r>
            <a:r>
              <a:rPr lang="en-US" sz="1400" dirty="0">
                <a:latin typeface="Arial" charset="0"/>
              </a:rPr>
              <a:t>63</a:t>
            </a:r>
          </a:p>
          <a:p>
            <a:pPr>
              <a:tabLst>
                <a:tab pos="4500563" algn="r"/>
                <a:tab pos="6300788" algn="r"/>
              </a:tabLst>
            </a:pPr>
            <a:r>
              <a:rPr lang="en-US" sz="1400" b="1" dirty="0">
                <a:latin typeface="Arial" charset="0"/>
              </a:rPr>
              <a:t>Lending to medium PNFCs</a:t>
            </a:r>
            <a:endParaRPr lang="en-US" sz="1400" dirty="0">
              <a:latin typeface="Arial" charset="0"/>
            </a:endParaRPr>
          </a:p>
          <a:p>
            <a:pPr>
              <a:tabLst>
                <a:tab pos="4500563" algn="r"/>
                <a:tab pos="6300788" algn="r"/>
              </a:tabLst>
            </a:pPr>
            <a:r>
              <a:rPr lang="en-US" sz="1400" dirty="0">
                <a:latin typeface="Arial" charset="0"/>
              </a:rPr>
              <a:t>Default rate                                                                     </a:t>
            </a:r>
            <a:r>
              <a:rPr lang="en-US" sz="800" dirty="0">
                <a:latin typeface="Arial" charset="0"/>
              </a:rPr>
              <a:t> </a:t>
            </a:r>
            <a:r>
              <a:rPr lang="en-US" sz="1400" dirty="0">
                <a:latin typeface="Arial" charset="0"/>
              </a:rPr>
              <a:t>17                 37	            53          </a:t>
            </a:r>
            <a:r>
              <a:rPr lang="en-US" sz="800" dirty="0">
                <a:latin typeface="Arial" charset="0"/>
              </a:rPr>
              <a:t> </a:t>
            </a:r>
            <a:r>
              <a:rPr lang="en-US" sz="1400" dirty="0">
                <a:latin typeface="Arial" charset="0"/>
              </a:rPr>
              <a:t>60             </a:t>
            </a:r>
            <a:r>
              <a:rPr lang="en-US" sz="400" dirty="0">
                <a:latin typeface="Arial" charset="0"/>
              </a:rPr>
              <a:t> </a:t>
            </a:r>
            <a:r>
              <a:rPr lang="en-US" sz="1400" dirty="0">
                <a:latin typeface="Arial" charset="0"/>
              </a:rPr>
              <a:t>67</a:t>
            </a:r>
          </a:p>
          <a:p>
            <a:pPr>
              <a:tabLst>
                <a:tab pos="4500563" algn="r"/>
                <a:tab pos="6300788" algn="r"/>
              </a:tabLst>
            </a:pPr>
            <a:r>
              <a:rPr lang="en-US" sz="1400" dirty="0">
                <a:latin typeface="Arial" charset="0"/>
              </a:rPr>
              <a:t>Loss given default                                       	3	                 </a:t>
            </a:r>
            <a:r>
              <a:rPr lang="en-US" sz="800" dirty="0">
                <a:latin typeface="Arial" charset="0"/>
              </a:rPr>
              <a:t> </a:t>
            </a:r>
            <a:r>
              <a:rPr lang="en-US" sz="1400" dirty="0">
                <a:latin typeface="Arial" charset="0"/>
              </a:rPr>
              <a:t>23            </a:t>
            </a:r>
            <a:r>
              <a:rPr lang="en-US" sz="800" dirty="0">
                <a:latin typeface="Arial" charset="0"/>
              </a:rPr>
              <a:t> </a:t>
            </a:r>
            <a:r>
              <a:rPr lang="en-US" sz="1400" dirty="0">
                <a:latin typeface="Arial" charset="0"/>
              </a:rPr>
              <a:t>21          68             </a:t>
            </a:r>
            <a:r>
              <a:rPr lang="en-US" sz="800" dirty="0">
                <a:latin typeface="Arial" charset="0"/>
              </a:rPr>
              <a:t> </a:t>
            </a:r>
            <a:r>
              <a:rPr lang="en-US" sz="1400" dirty="0">
                <a:latin typeface="Arial" charset="0"/>
              </a:rPr>
              <a:t>64</a:t>
            </a:r>
          </a:p>
        </p:txBody>
      </p:sp>
      <p:sp>
        <p:nvSpPr>
          <p:cNvPr id="56335" name="Line 15"/>
          <p:cNvSpPr>
            <a:spLocks noChangeShapeType="1"/>
          </p:cNvSpPr>
          <p:nvPr/>
        </p:nvSpPr>
        <p:spPr bwMode="auto">
          <a:xfrm>
            <a:off x="5362576" y="2647950"/>
            <a:ext cx="1838325" cy="0"/>
          </a:xfrm>
          <a:prstGeom prst="line">
            <a:avLst/>
          </a:prstGeom>
          <a:noFill/>
          <a:ln w="9525">
            <a:solidFill>
              <a:schemeClr val="tx1"/>
            </a:solidFill>
            <a:round/>
            <a:headEnd/>
            <a:tailEnd/>
          </a:ln>
          <a:effectLst/>
        </p:spPr>
        <p:txBody>
          <a:bodyPr/>
          <a:lstStyle/>
          <a:p>
            <a:endParaRPr lang="en-US"/>
          </a:p>
        </p:txBody>
      </p:sp>
      <p:sp>
        <p:nvSpPr>
          <p:cNvPr id="56337" name="Line 17"/>
          <p:cNvSpPr>
            <a:spLocks noChangeShapeType="1"/>
          </p:cNvSpPr>
          <p:nvPr/>
        </p:nvSpPr>
        <p:spPr bwMode="auto">
          <a:xfrm>
            <a:off x="7591425" y="2647950"/>
            <a:ext cx="447675" cy="0"/>
          </a:xfrm>
          <a:prstGeom prst="line">
            <a:avLst/>
          </a:prstGeom>
          <a:noFill/>
          <a:ln w="9525">
            <a:solidFill>
              <a:schemeClr val="tx1"/>
            </a:solidFill>
            <a:round/>
            <a:headEnd/>
            <a:tailEnd/>
          </a:ln>
          <a:effectLst/>
        </p:spPr>
        <p:txBody>
          <a:bodyPr/>
          <a:lstStyle/>
          <a:p>
            <a:endParaRPr lang="en-US"/>
          </a:p>
        </p:txBody>
      </p:sp>
      <p:sp>
        <p:nvSpPr>
          <p:cNvPr id="56339" name="Line 19"/>
          <p:cNvSpPr>
            <a:spLocks noChangeShapeType="1"/>
          </p:cNvSpPr>
          <p:nvPr/>
        </p:nvSpPr>
        <p:spPr bwMode="auto">
          <a:xfrm>
            <a:off x="80964" y="3076575"/>
            <a:ext cx="7991475" cy="0"/>
          </a:xfrm>
          <a:prstGeom prst="line">
            <a:avLst/>
          </a:prstGeom>
          <a:noFill/>
          <a:ln w="9525">
            <a:solidFill>
              <a:schemeClr val="tx1"/>
            </a:solidFill>
            <a:round/>
            <a:headEnd/>
            <a:tailEnd/>
          </a:ln>
          <a:effectLst/>
        </p:spPr>
        <p:txBody>
          <a:bodyPr/>
          <a:lstStyle/>
          <a:p>
            <a:endParaRPr lang="en-US"/>
          </a:p>
        </p:txBody>
      </p:sp>
      <p:sp>
        <p:nvSpPr>
          <p:cNvPr id="56340" name="Line 20"/>
          <p:cNvSpPr>
            <a:spLocks noChangeShapeType="1"/>
          </p:cNvSpPr>
          <p:nvPr/>
        </p:nvSpPr>
        <p:spPr bwMode="auto">
          <a:xfrm>
            <a:off x="7429500" y="2333626"/>
            <a:ext cx="0" cy="2124075"/>
          </a:xfrm>
          <a:prstGeom prst="line">
            <a:avLst/>
          </a:prstGeom>
          <a:noFill/>
          <a:ln w="9525">
            <a:solidFill>
              <a:schemeClr val="tx1"/>
            </a:solidFill>
            <a:round/>
            <a:headEnd/>
            <a:tailEnd/>
          </a:ln>
          <a:effectLst/>
        </p:spPr>
        <p:txBody>
          <a:bodyPr/>
          <a:lstStyle/>
          <a:p>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pPr eaLnBrk="1" hangingPunct="1"/>
            <a:r>
              <a:rPr lang="en-US" smtClean="0"/>
              <a:t>Bank Rate</a:t>
            </a:r>
          </a:p>
        </p:txBody>
      </p:sp>
      <p:pic>
        <p:nvPicPr>
          <p:cNvPr id="53250" name="Picture 3"/>
          <p:cNvPicPr>
            <a:picLocks noGrp="1" noChangeAspect="1" noChangeArrowheads="1"/>
          </p:cNvPicPr>
          <p:nvPr>
            <p:ph type="body" idx="1"/>
          </p:nvPr>
        </p:nvPicPr>
        <p:blipFill>
          <a:blip r:embed="rId2"/>
          <a:srcRect/>
          <a:stretch>
            <a:fillRect/>
          </a:stretch>
        </p:blip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pPr eaLnBrk="1" hangingPunct="1"/>
            <a:r>
              <a:rPr lang="en-US" smtClean="0">
                <a:latin typeface="Baskerville Old Face" pitchFamily="18" charset="0"/>
              </a:rPr>
              <a:t>Asset Purchase Facility</a:t>
            </a:r>
          </a:p>
        </p:txBody>
      </p:sp>
      <p:sp>
        <p:nvSpPr>
          <p:cNvPr id="54274" name="Rectangle 3"/>
          <p:cNvSpPr>
            <a:spLocks noGrp="1" noChangeArrowheads="1"/>
          </p:cNvSpPr>
          <p:nvPr>
            <p:ph type="body" idx="1"/>
          </p:nvPr>
        </p:nvSpPr>
        <p:spPr/>
        <p:txBody>
          <a:bodyPr/>
          <a:lstStyle/>
          <a:p>
            <a:pPr eaLnBrk="1" hangingPunct="1">
              <a:lnSpc>
                <a:spcPct val="90000"/>
              </a:lnSpc>
            </a:pPr>
            <a:r>
              <a:rPr lang="en-US" sz="2400" dirty="0" smtClean="0">
                <a:latin typeface="Baskerville Old Face" pitchFamily="18" charset="0"/>
              </a:rPr>
              <a:t>Feb - Created by Bank of England aimed at increasing the availability of corporate credit up to £ 50 Billion, financed through issuance of treasury bills.</a:t>
            </a:r>
          </a:p>
          <a:p>
            <a:pPr eaLnBrk="1" hangingPunct="1">
              <a:lnSpc>
                <a:spcPct val="90000"/>
              </a:lnSpc>
            </a:pPr>
            <a:r>
              <a:rPr lang="en-US" sz="2400" dirty="0" smtClean="0">
                <a:latin typeface="Baskerville Old Face" pitchFamily="18" charset="0"/>
              </a:rPr>
              <a:t>Assisting in stimulation of trading activity through increased liquidity, therefore helping to stabilize UK financial markets.</a:t>
            </a:r>
          </a:p>
          <a:p>
            <a:pPr eaLnBrk="1" hangingPunct="1">
              <a:lnSpc>
                <a:spcPct val="90000"/>
              </a:lnSpc>
            </a:pPr>
            <a:r>
              <a:rPr lang="en-US" sz="2400" dirty="0" smtClean="0">
                <a:latin typeface="Baskerville Old Face" pitchFamily="18" charset="0"/>
              </a:rPr>
              <a:t>Able to purchase corporate bonds, commercial paper, syndicated loans and asset backed securities.</a:t>
            </a:r>
          </a:p>
          <a:p>
            <a:pPr eaLnBrk="1" hangingPunct="1">
              <a:lnSpc>
                <a:spcPct val="90000"/>
              </a:lnSpc>
            </a:pPr>
            <a:r>
              <a:rPr lang="en-US" sz="2400" dirty="0" smtClean="0">
                <a:latin typeface="Baskerville Old Face" pitchFamily="18" charset="0"/>
              </a:rPr>
              <a:t>APF also given framework for Monetary Policy Committee to purchase assets for monetary policy purposes should the committee judge that to be useful to reach the inflation target.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p:txBody>
          <a:bodyPr/>
          <a:lstStyle/>
          <a:p>
            <a:pPr eaLnBrk="1" hangingPunct="1"/>
            <a:r>
              <a:rPr lang="en-US" smtClean="0">
                <a:latin typeface="Baskerville Old Face" pitchFamily="18" charset="0"/>
              </a:rPr>
              <a:t>Quantitative Easing</a:t>
            </a:r>
          </a:p>
        </p:txBody>
      </p:sp>
      <p:sp>
        <p:nvSpPr>
          <p:cNvPr id="55298" name="Rectangle 3"/>
          <p:cNvSpPr>
            <a:spLocks noGrp="1" noChangeArrowheads="1"/>
          </p:cNvSpPr>
          <p:nvPr>
            <p:ph type="body" idx="1"/>
          </p:nvPr>
        </p:nvSpPr>
        <p:spPr/>
        <p:txBody>
          <a:bodyPr/>
          <a:lstStyle/>
          <a:p>
            <a:pPr eaLnBrk="1" hangingPunct="1">
              <a:lnSpc>
                <a:spcPct val="80000"/>
              </a:lnSpc>
            </a:pPr>
            <a:r>
              <a:rPr lang="en-US" sz="1800" dirty="0" smtClean="0">
                <a:latin typeface="Baskerville Old Face" pitchFamily="18" charset="0"/>
              </a:rPr>
              <a:t>CPI inflation declining by 3.0% in January</a:t>
            </a:r>
          </a:p>
          <a:p>
            <a:pPr eaLnBrk="1" hangingPunct="1">
              <a:lnSpc>
                <a:spcPct val="80000"/>
              </a:lnSpc>
            </a:pPr>
            <a:r>
              <a:rPr lang="en-US" sz="1800" dirty="0" smtClean="0">
                <a:latin typeface="Baskerville Old Face" pitchFamily="18" charset="0"/>
              </a:rPr>
              <a:t>A depreciation in the sterling can trigger a dangerous downward spiral in demand.</a:t>
            </a:r>
          </a:p>
          <a:p>
            <a:pPr eaLnBrk="1" hangingPunct="1">
              <a:lnSpc>
                <a:spcPct val="80000"/>
              </a:lnSpc>
            </a:pPr>
            <a:r>
              <a:rPr lang="en-US" sz="1800" dirty="0" smtClean="0">
                <a:latin typeface="Baskerville Old Face" pitchFamily="18" charset="0"/>
              </a:rPr>
              <a:t>The February inflation report implied a substantial risk of undershooting the 2% CPI inflation target.</a:t>
            </a:r>
          </a:p>
          <a:p>
            <a:pPr eaLnBrk="1" hangingPunct="1">
              <a:lnSpc>
                <a:spcPct val="80000"/>
              </a:lnSpc>
            </a:pPr>
            <a:r>
              <a:rPr lang="en-US" sz="1800" dirty="0" smtClean="0">
                <a:latin typeface="Baskerville Old Face" pitchFamily="18" charset="0"/>
              </a:rPr>
              <a:t>Further easing in monetary policy warranted under such circumstances. </a:t>
            </a:r>
          </a:p>
          <a:p>
            <a:pPr eaLnBrk="1" hangingPunct="1">
              <a:lnSpc>
                <a:spcPct val="80000"/>
              </a:lnSpc>
            </a:pPr>
            <a:r>
              <a:rPr lang="en-US" sz="1800" dirty="0" smtClean="0">
                <a:latin typeface="Baskerville Old Face" pitchFamily="18" charset="0"/>
              </a:rPr>
              <a:t>Reduction of Bank Rate to 0.5% not enough to reach targets on inflation. </a:t>
            </a:r>
          </a:p>
          <a:p>
            <a:pPr eaLnBrk="1" hangingPunct="1">
              <a:lnSpc>
                <a:spcPct val="80000"/>
              </a:lnSpc>
            </a:pPr>
            <a:r>
              <a:rPr lang="en-US" sz="1800" dirty="0" smtClean="0">
                <a:latin typeface="Baskerville Old Face" pitchFamily="18" charset="0"/>
              </a:rPr>
              <a:t>Using the APF, finance the first £ 75 Billion Asset Purchase program through an issuance of central bank reserves.</a:t>
            </a:r>
          </a:p>
          <a:p>
            <a:pPr eaLnBrk="1" hangingPunct="1">
              <a:lnSpc>
                <a:spcPct val="80000"/>
              </a:lnSpc>
            </a:pPr>
            <a:r>
              <a:rPr lang="en-US" sz="1800" dirty="0" smtClean="0">
                <a:latin typeface="Baskerville Old Face" pitchFamily="18" charset="0"/>
              </a:rPr>
              <a:t>This monetary action aimed at boosting supply of money and credit and thus raising the growth of nominal spending to a level consistent with meeting inflation.</a:t>
            </a:r>
          </a:p>
          <a:p>
            <a:pPr eaLnBrk="1" hangingPunct="1">
              <a:lnSpc>
                <a:spcPct val="80000"/>
              </a:lnSpc>
            </a:pPr>
            <a:r>
              <a:rPr lang="en-US" sz="1800" dirty="0" smtClean="0">
                <a:latin typeface="Baskerville Old Face" pitchFamily="18" charset="0"/>
              </a:rPr>
              <a:t>The Bank says a shortage of money circulating through the economy poses the biggest obstacle to any recovery, but because it cannot be addressed by cutting interest rates, the only other option is to raise the money supply by buying assets. </a:t>
            </a:r>
          </a:p>
          <a:p>
            <a:pPr eaLnBrk="1" hangingPunct="1">
              <a:lnSpc>
                <a:spcPct val="80000"/>
              </a:lnSpc>
            </a:pPr>
            <a:endParaRPr lang="en-US" sz="1800"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smtClean="0">
                <a:latin typeface="Baskerville Old Face" pitchFamily="18" charset="0"/>
              </a:rPr>
              <a:t>Our Policy Recommendation</a:t>
            </a:r>
          </a:p>
        </p:txBody>
      </p:sp>
      <p:pic>
        <p:nvPicPr>
          <p:cNvPr id="56322" name="Picture 3" descr="king_175903t.jpg"/>
          <p:cNvPicPr>
            <a:picLocks noChangeAspect="1"/>
          </p:cNvPicPr>
          <p:nvPr/>
        </p:nvPicPr>
        <p:blipFill>
          <a:blip r:embed="rId2"/>
          <a:srcRect/>
          <a:stretch>
            <a:fillRect/>
          </a:stretch>
        </p:blipFill>
        <p:spPr bwMode="auto">
          <a:xfrm>
            <a:off x="1447800" y="1417639"/>
            <a:ext cx="6096000" cy="4478337"/>
          </a:xfrm>
          <a:prstGeom prst="rect">
            <a:avLst/>
          </a:prstGeom>
          <a:noFill/>
          <a:ln w="9525">
            <a:noFill/>
            <a:miter lim="800000"/>
            <a:headEnd/>
            <a:tailEnd/>
          </a:ln>
        </p:spPr>
      </p:pic>
      <p:sp>
        <p:nvSpPr>
          <p:cNvPr id="56323" name="TextBox 6"/>
          <p:cNvSpPr txBox="1">
            <a:spLocks noChangeArrowheads="1"/>
          </p:cNvSpPr>
          <p:nvPr/>
        </p:nvSpPr>
        <p:spPr bwMode="auto">
          <a:xfrm>
            <a:off x="2590800" y="6096001"/>
            <a:ext cx="4267200" cy="369332"/>
          </a:xfrm>
          <a:prstGeom prst="rect">
            <a:avLst/>
          </a:prstGeom>
          <a:noFill/>
          <a:ln w="9525">
            <a:noFill/>
            <a:miter lim="800000"/>
            <a:headEnd/>
            <a:tailEnd/>
          </a:ln>
        </p:spPr>
        <p:txBody>
          <a:bodyPr>
            <a:spAutoFit/>
          </a:bodyPr>
          <a:lstStyle/>
          <a:p>
            <a:r>
              <a:rPr lang="en-US">
                <a:latin typeface="Baskerville Old Face" pitchFamily="18" charset="0"/>
              </a:rPr>
              <a:t>Bank of England Governor </a:t>
            </a:r>
            <a:r>
              <a:rPr lang="en-US" b="1">
                <a:latin typeface="Baskerville Old Face" pitchFamily="18" charset="0"/>
              </a:rPr>
              <a:t>Mervyn King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pPr eaLnBrk="1" hangingPunct="1"/>
            <a:r>
              <a:rPr lang="en-US" smtClean="0">
                <a:latin typeface="Baskerville Old Face" pitchFamily="18" charset="0"/>
              </a:rPr>
              <a:t>A quick note.</a:t>
            </a:r>
          </a:p>
        </p:txBody>
      </p:sp>
      <p:sp>
        <p:nvSpPr>
          <p:cNvPr id="57346" name="Content Placeholder 2"/>
          <p:cNvSpPr>
            <a:spLocks noGrp="1"/>
          </p:cNvSpPr>
          <p:nvPr>
            <p:ph idx="1"/>
          </p:nvPr>
        </p:nvSpPr>
        <p:spPr/>
        <p:txBody>
          <a:bodyPr/>
          <a:lstStyle/>
          <a:p>
            <a:pPr eaLnBrk="1" hangingPunct="1"/>
            <a:r>
              <a:rPr lang="en-US" smtClean="0">
                <a:latin typeface="Baskerville Old Face" pitchFamily="18" charset="0"/>
              </a:rPr>
              <a:t>Although the UK economy is in desperate need of serious expansionary monetary policy, the Bank of England wants to avoid dropping the bank rate down to 0 (as detailed in class in the Friedman debate). This would eliminate the bank’s ability to cut the rate in the future as a policy tool, significantly limiting any power the bank may have.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smtClean="0">
                <a:latin typeface="Baskerville Old Face" pitchFamily="18" charset="0"/>
              </a:rPr>
              <a:t>Our Policy Recommendation</a:t>
            </a:r>
          </a:p>
        </p:txBody>
      </p:sp>
      <p:sp>
        <p:nvSpPr>
          <p:cNvPr id="58370" name="Content Placeholder 2"/>
          <p:cNvSpPr>
            <a:spLocks noGrp="1"/>
          </p:cNvSpPr>
          <p:nvPr>
            <p:ph idx="1"/>
          </p:nvPr>
        </p:nvSpPr>
        <p:spPr/>
        <p:txBody>
          <a:bodyPr/>
          <a:lstStyle/>
          <a:p>
            <a:pPr eaLnBrk="1" hangingPunct="1">
              <a:lnSpc>
                <a:spcPct val="90000"/>
              </a:lnSpc>
            </a:pPr>
            <a:r>
              <a:rPr lang="en-US" smtClean="0">
                <a:latin typeface="Baskerville Old Face" pitchFamily="18" charset="0"/>
              </a:rPr>
              <a:t>Based upon 1% bank rate:</a:t>
            </a:r>
          </a:p>
          <a:p>
            <a:pPr lvl="1" eaLnBrk="1" hangingPunct="1">
              <a:lnSpc>
                <a:spcPct val="90000"/>
              </a:lnSpc>
            </a:pPr>
            <a:r>
              <a:rPr lang="en-US" smtClean="0">
                <a:latin typeface="Baskerville Old Face" pitchFamily="18" charset="0"/>
              </a:rPr>
              <a:t>Cut the bank rate 50 points to .5% to help stimulate the economy out of its current GDP contraction</a:t>
            </a:r>
          </a:p>
          <a:p>
            <a:pPr lvl="1" eaLnBrk="1" hangingPunct="1">
              <a:lnSpc>
                <a:spcPct val="90000"/>
              </a:lnSpc>
            </a:pPr>
            <a:endParaRPr lang="en-US" smtClean="0">
              <a:latin typeface="Baskerville Old Face" pitchFamily="18" charset="0"/>
            </a:endParaRPr>
          </a:p>
          <a:p>
            <a:pPr lvl="1" eaLnBrk="1" hangingPunct="1">
              <a:lnSpc>
                <a:spcPct val="90000"/>
              </a:lnSpc>
              <a:buFont typeface="Arial" charset="0"/>
              <a:buNone/>
            </a:pPr>
            <a:r>
              <a:rPr lang="en-US" smtClean="0">
                <a:latin typeface="Baskerville Old Face" pitchFamily="18" charset="0"/>
              </a:rPr>
              <a:t>While our basic monetary policy model would suggest an increase in bank rate given the high inflation (R</a:t>
            </a:r>
            <a:r>
              <a:rPr lang="en-US" baseline="-25000" smtClean="0">
                <a:latin typeface="Baskerville Old Face" pitchFamily="18" charset="0"/>
              </a:rPr>
              <a:t>t</a:t>
            </a:r>
            <a:r>
              <a:rPr lang="en-US" smtClean="0">
                <a:latin typeface="Baskerville Old Face" pitchFamily="18" charset="0"/>
              </a:rPr>
              <a:t>-r)=m(π</a:t>
            </a:r>
            <a:r>
              <a:rPr lang="en-US" baseline="-25000" smtClean="0">
                <a:latin typeface="Baskerville Old Face" pitchFamily="18" charset="0"/>
              </a:rPr>
              <a:t>t</a:t>
            </a:r>
            <a:r>
              <a:rPr lang="en-US" smtClean="0">
                <a:latin typeface="Baskerville Old Face" pitchFamily="18" charset="0"/>
              </a:rPr>
              <a:t>-π</a:t>
            </a:r>
            <a:r>
              <a:rPr lang="en-US" baseline="-25000" smtClean="0">
                <a:latin typeface="Baskerville Old Face" pitchFamily="18" charset="0"/>
              </a:rPr>
              <a:t>bar</a:t>
            </a:r>
            <a:r>
              <a:rPr lang="en-US" smtClean="0">
                <a:latin typeface="Baskerville Old Face" pitchFamily="18" charset="0"/>
              </a:rPr>
              <a:t>) , our output concerns dominate our inflation-targeting policy and we want to enact expansionary measures by decreasing the rate to increase the output gap. (Y</a:t>
            </a:r>
            <a:r>
              <a:rPr lang="en-US" baseline="-25000" smtClean="0">
                <a:latin typeface="Baskerville Old Face" pitchFamily="18" charset="0"/>
              </a:rPr>
              <a:t>t</a:t>
            </a:r>
            <a:r>
              <a:rPr lang="en-US" smtClean="0">
                <a:latin typeface="Baskerville Old Face" pitchFamily="18" charset="0"/>
              </a:rPr>
              <a:t>=a-b(R</a:t>
            </a:r>
            <a:r>
              <a:rPr lang="en-US" baseline="-25000" smtClean="0">
                <a:latin typeface="Baskerville Old Face" pitchFamily="18" charset="0"/>
              </a:rPr>
              <a:t>t</a:t>
            </a:r>
            <a:r>
              <a:rPr lang="en-US" smtClean="0">
                <a:latin typeface="Baskerville Old Face" pitchFamily="18" charset="0"/>
              </a:rPr>
              <a:t>-r)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p:txBody>
          <a:bodyPr/>
          <a:lstStyle/>
          <a:p>
            <a:pPr eaLnBrk="1" hangingPunct="1"/>
            <a:r>
              <a:rPr lang="en-US" smtClean="0"/>
              <a:t>Forecasts</a:t>
            </a:r>
          </a:p>
        </p:txBody>
      </p:sp>
      <p:sp>
        <p:nvSpPr>
          <p:cNvPr id="59394" name="Content Placeholder 2"/>
          <p:cNvSpPr>
            <a:spLocks noGrp="1"/>
          </p:cNvSpPr>
          <p:nvPr>
            <p:ph idx="1"/>
          </p:nvPr>
        </p:nvSpPr>
        <p:spPr/>
        <p:txBody>
          <a:bodyPr/>
          <a:lstStyle/>
          <a:p>
            <a:pPr eaLnBrk="1" hangingPunct="1"/>
            <a:r>
              <a:rPr lang="en-US" smtClean="0"/>
              <a:t>Create some bullshit numbers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423862" y="717551"/>
            <a:ext cx="8081963" cy="307777"/>
          </a:xfrm>
          <a:prstGeom prst="rect">
            <a:avLst/>
          </a:prstGeom>
          <a:noFill/>
          <a:ln w="9525">
            <a:noFill/>
            <a:miter lim="800000"/>
            <a:headEnd/>
            <a:tailEnd/>
          </a:ln>
        </p:spPr>
        <p:txBody>
          <a:bodyPr>
            <a:spAutoFit/>
          </a:bodyPr>
          <a:lstStyle/>
          <a:p>
            <a:r>
              <a:rPr lang="en-US" sz="1400">
                <a:solidFill>
                  <a:srgbClr val="960000"/>
                </a:solidFill>
                <a:latin typeface="Calibri" pitchFamily="34" charset="0"/>
              </a:rPr>
              <a:t>Chart 5.6 </a:t>
            </a:r>
            <a:r>
              <a:rPr lang="en-US" sz="1400">
                <a:latin typeface="Times"/>
              </a:rPr>
              <a:t> </a:t>
            </a:r>
            <a:r>
              <a:rPr lang="en-US" sz="1400">
                <a:latin typeface="Calibri" pitchFamily="34" charset="0"/>
              </a:rPr>
              <a:t>CPI inflation projection based on constant nominal interest rates at 1%</a:t>
            </a:r>
            <a:endParaRPr lang="en-US" sz="1400">
              <a:latin typeface="Times"/>
            </a:endParaRPr>
          </a:p>
        </p:txBody>
      </p:sp>
      <p:sp>
        <p:nvSpPr>
          <p:cNvPr id="67587" name="Rectangle 3"/>
          <p:cNvSpPr>
            <a:spLocks noChangeArrowheads="1"/>
          </p:cNvSpPr>
          <p:nvPr/>
        </p:nvSpPr>
        <p:spPr bwMode="auto">
          <a:xfrm>
            <a:off x="79374" y="6575426"/>
            <a:ext cx="8426451" cy="369332"/>
          </a:xfrm>
          <a:prstGeom prst="rect">
            <a:avLst/>
          </a:prstGeom>
          <a:noFill/>
          <a:ln w="9525">
            <a:noFill/>
            <a:miter lim="800000"/>
            <a:headEnd/>
            <a:tailEnd/>
          </a:ln>
        </p:spPr>
        <p:txBody>
          <a:bodyPr>
            <a:spAutoFit/>
          </a:bodyPr>
          <a:lstStyle/>
          <a:p>
            <a:endParaRPr lang="en-GB">
              <a:latin typeface="Calibri" pitchFamily="34" charset="0"/>
            </a:endParaRPr>
          </a:p>
        </p:txBody>
      </p:sp>
      <p:sp>
        <p:nvSpPr>
          <p:cNvPr id="67588" name="Rectangle 4"/>
          <p:cNvSpPr>
            <a:spLocks noChangeArrowheads="1"/>
          </p:cNvSpPr>
          <p:nvPr/>
        </p:nvSpPr>
        <p:spPr bwMode="auto">
          <a:xfrm>
            <a:off x="177801" y="6451601"/>
            <a:ext cx="3469219" cy="369332"/>
          </a:xfrm>
          <a:prstGeom prst="rect">
            <a:avLst/>
          </a:prstGeom>
          <a:noFill/>
          <a:ln w="9525">
            <a:noFill/>
            <a:miter lim="800000"/>
            <a:headEnd/>
            <a:tailEnd/>
          </a:ln>
        </p:spPr>
        <p:txBody>
          <a:bodyPr wrap="none">
            <a:spAutoFit/>
          </a:bodyPr>
          <a:lstStyle/>
          <a:p>
            <a:r>
              <a:rPr lang="en-US">
                <a:latin typeface="Calibri" pitchFamily="34" charset="0"/>
              </a:rPr>
              <a:t>See footnote to </a:t>
            </a:r>
            <a:r>
              <a:rPr lang="en-US" b="1">
                <a:latin typeface="Calibri" pitchFamily="34" charset="0"/>
              </a:rPr>
              <a:t>Charts 5.4</a:t>
            </a:r>
            <a:r>
              <a:rPr lang="en-US">
                <a:latin typeface="Calibri" pitchFamily="34" charset="0"/>
              </a:rPr>
              <a:t> and </a:t>
            </a:r>
            <a:r>
              <a:rPr lang="en-US" b="1">
                <a:latin typeface="Calibri" pitchFamily="34" charset="0"/>
              </a:rPr>
              <a:t>5.5</a:t>
            </a:r>
            <a:r>
              <a:rPr lang="en-US">
                <a:latin typeface="Calibri" pitchFamily="34" charset="0"/>
              </a:rPr>
              <a:t>.</a:t>
            </a:r>
          </a:p>
        </p:txBody>
      </p:sp>
      <p:pic>
        <p:nvPicPr>
          <p:cNvPr id="67589" name="Picture 9" descr="cpiconsfeb09"/>
          <p:cNvPicPr>
            <a:picLocks noChangeAspect="1" noChangeArrowheads="1"/>
          </p:cNvPicPr>
          <p:nvPr/>
        </p:nvPicPr>
        <p:blipFill>
          <a:blip r:embed="rId3"/>
          <a:srcRect/>
          <a:stretch>
            <a:fillRect/>
          </a:stretch>
        </p:blipFill>
        <p:spPr bwMode="auto">
          <a:xfrm>
            <a:off x="1828802" y="1076325"/>
            <a:ext cx="5656263" cy="5391150"/>
          </a:xfrm>
          <a:prstGeom prst="rect">
            <a:avLst/>
          </a:prstGeom>
          <a:noFill/>
          <a:ln w="9525">
            <a:noFill/>
            <a:miter lim="800000"/>
            <a:headEnd/>
            <a:tailEnd/>
          </a:ln>
        </p:spPr>
      </p:pic>
      <p:sp>
        <p:nvSpPr>
          <p:cNvPr id="67590" name="TextBox 5"/>
          <p:cNvSpPr txBox="1">
            <a:spLocks noChangeArrowheads="1"/>
          </p:cNvSpPr>
          <p:nvPr/>
        </p:nvSpPr>
        <p:spPr bwMode="auto">
          <a:xfrm>
            <a:off x="423862" y="152401"/>
            <a:ext cx="8081963" cy="523220"/>
          </a:xfrm>
          <a:prstGeom prst="rect">
            <a:avLst/>
          </a:prstGeom>
          <a:noFill/>
          <a:ln w="9525">
            <a:noFill/>
            <a:miter lim="800000"/>
            <a:headEnd/>
            <a:tailEnd/>
          </a:ln>
        </p:spPr>
        <p:txBody>
          <a:bodyPr>
            <a:spAutoFit/>
          </a:bodyPr>
          <a:lstStyle/>
          <a:p>
            <a:r>
              <a:rPr lang="en-US" sz="2800" b="1">
                <a:latin typeface="Baskerville Old Face" pitchFamily="18" charset="0"/>
              </a:rPr>
              <a:t>Inflation Forecast Based on Current Interest Rate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pPr eaLnBrk="1" hangingPunct="1"/>
            <a:r>
              <a:rPr lang="en-US" smtClean="0">
                <a:latin typeface="Baskerville Old Face" pitchFamily="18" charset="0"/>
              </a:rPr>
              <a:t>BUT…</a:t>
            </a:r>
          </a:p>
        </p:txBody>
      </p:sp>
      <p:sp>
        <p:nvSpPr>
          <p:cNvPr id="60418" name="Rectangle 3"/>
          <p:cNvSpPr>
            <a:spLocks noGrp="1" noChangeArrowheads="1"/>
          </p:cNvSpPr>
          <p:nvPr>
            <p:ph type="body" idx="1"/>
          </p:nvPr>
        </p:nvSpPr>
        <p:spPr>
          <a:xfrm>
            <a:off x="457200" y="1600201"/>
            <a:ext cx="6248400" cy="4525963"/>
          </a:xfrm>
        </p:spPr>
        <p:txBody>
          <a:bodyPr/>
          <a:lstStyle/>
          <a:p>
            <a:pPr eaLnBrk="1" hangingPunct="1">
              <a:lnSpc>
                <a:spcPct val="80000"/>
              </a:lnSpc>
              <a:buFont typeface="Arial" charset="0"/>
              <a:buNone/>
            </a:pPr>
            <a:r>
              <a:rPr lang="en-US" sz="3000" smtClean="0">
                <a:latin typeface="Baskerville Old Face" pitchFamily="18" charset="0"/>
              </a:rPr>
              <a:t>Prior to our completion of this project, the Bank of England already took action, acting as we would have suggested.</a:t>
            </a:r>
          </a:p>
          <a:p>
            <a:pPr eaLnBrk="1" hangingPunct="1">
              <a:lnSpc>
                <a:spcPct val="80000"/>
              </a:lnSpc>
              <a:buFont typeface="Arial" charset="0"/>
              <a:buNone/>
            </a:pPr>
            <a:endParaRPr lang="en-US" sz="3000" smtClean="0">
              <a:latin typeface="Baskerville Old Face" pitchFamily="18" charset="0"/>
            </a:endParaRPr>
          </a:p>
          <a:p>
            <a:pPr eaLnBrk="1" hangingPunct="1">
              <a:lnSpc>
                <a:spcPct val="80000"/>
              </a:lnSpc>
              <a:buFont typeface="Arial" charset="0"/>
              <a:buNone/>
            </a:pPr>
            <a:r>
              <a:rPr lang="en-US" sz="3000" smtClean="0">
                <a:latin typeface="Baskerville Old Face" pitchFamily="18" charset="0"/>
              </a:rPr>
              <a:t>Policy as of 3/5/09:</a:t>
            </a:r>
          </a:p>
          <a:p>
            <a:pPr eaLnBrk="1" hangingPunct="1">
              <a:lnSpc>
                <a:spcPct val="80000"/>
              </a:lnSpc>
            </a:pPr>
            <a:r>
              <a:rPr lang="en-US" sz="3000" smtClean="0">
                <a:latin typeface="Baskerville Old Face" pitchFamily="18" charset="0"/>
              </a:rPr>
              <a:t>Decrease in Bank Rate 50 basis points to 0.5%.</a:t>
            </a:r>
          </a:p>
          <a:p>
            <a:pPr eaLnBrk="1" hangingPunct="1">
              <a:lnSpc>
                <a:spcPct val="80000"/>
              </a:lnSpc>
            </a:pPr>
            <a:r>
              <a:rPr lang="en-US" sz="3000" smtClean="0">
                <a:latin typeface="Baskerville Old Face" pitchFamily="18" charset="0"/>
              </a:rPr>
              <a:t>Quantitative Easing - issuance of central bank reserves £ 75 Billion Asset Purchase program </a:t>
            </a:r>
          </a:p>
        </p:txBody>
      </p:sp>
      <p:pic>
        <p:nvPicPr>
          <p:cNvPr id="60419" name="Picture 4" descr="images.jpeg"/>
          <p:cNvPicPr>
            <a:picLocks noChangeAspect="1"/>
          </p:cNvPicPr>
          <p:nvPr/>
        </p:nvPicPr>
        <p:blipFill>
          <a:blip r:embed="rId2"/>
          <a:srcRect/>
          <a:stretch>
            <a:fillRect/>
          </a:stretch>
        </p:blipFill>
        <p:spPr bwMode="auto">
          <a:xfrm>
            <a:off x="6705600" y="1600200"/>
            <a:ext cx="2041525" cy="373380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pPr eaLnBrk="1" hangingPunct="1"/>
            <a:r>
              <a:rPr lang="en-US" sz="4000" smtClean="0">
                <a:latin typeface="Baskerville Old Face" pitchFamily="18" charset="0"/>
              </a:rPr>
              <a:t>Next Month’s Policy Recommendation</a:t>
            </a:r>
          </a:p>
        </p:txBody>
      </p:sp>
      <p:sp>
        <p:nvSpPr>
          <p:cNvPr id="9219" name="Rectangle 3"/>
          <p:cNvSpPr>
            <a:spLocks noGrp="1" noChangeArrowheads="1"/>
          </p:cNvSpPr>
          <p:nvPr>
            <p:ph type="body" idx="1"/>
          </p:nvPr>
        </p:nvSpPr>
        <p:spPr/>
        <p:txBody>
          <a:bodyPr rtlCol="0">
            <a:normAutofit lnSpcReduction="10000"/>
          </a:bodyPr>
          <a:lstStyle/>
          <a:p>
            <a:pPr eaLnBrk="1" fontAlgn="auto" hangingPunct="1">
              <a:spcAft>
                <a:spcPts val="0"/>
              </a:spcAft>
              <a:buFont typeface="Arial"/>
              <a:buNone/>
              <a:defRPr/>
            </a:pPr>
            <a:r>
              <a:rPr lang="en-US" dirty="0" smtClean="0">
                <a:latin typeface="Baskerville Old Face"/>
                <a:cs typeface="Baskerville Old Face"/>
              </a:rPr>
              <a:t>Since we have no inflation or output data to work from since Q 4 2008, we can’t yet judge the results of the most recent policy decision.</a:t>
            </a:r>
          </a:p>
          <a:p>
            <a:pPr eaLnBrk="1" fontAlgn="auto" hangingPunct="1">
              <a:spcAft>
                <a:spcPts val="0"/>
              </a:spcAft>
              <a:buFont typeface="Arial"/>
              <a:buChar char="•"/>
              <a:defRPr/>
            </a:pPr>
            <a:r>
              <a:rPr lang="en-US" dirty="0" smtClean="0">
                <a:latin typeface="Baskerville Old Face"/>
                <a:cs typeface="Baskerville Old Face"/>
              </a:rPr>
              <a:t>Depending </a:t>
            </a:r>
            <a:r>
              <a:rPr lang="en-US" dirty="0">
                <a:latin typeface="Baskerville Old Face"/>
                <a:cs typeface="Baskerville Old Face"/>
              </a:rPr>
              <a:t>on the results of this month’s economic activity it may be necessary to have another 25 basis point cut to 0.25%.</a:t>
            </a:r>
          </a:p>
          <a:p>
            <a:pPr eaLnBrk="1" fontAlgn="auto" hangingPunct="1">
              <a:spcAft>
                <a:spcPts val="0"/>
              </a:spcAft>
              <a:buFont typeface="Arial"/>
              <a:buChar char="•"/>
              <a:defRPr/>
            </a:pPr>
            <a:r>
              <a:rPr lang="en-US" dirty="0">
                <a:latin typeface="Baskerville Old Face"/>
                <a:cs typeface="Baskerville Old Face"/>
              </a:rPr>
              <a:t>And wait further to see the effects of the £75 Billion Asset Purchase program over the next 3 months.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395</TotalTime>
  <Words>2404</Words>
  <Application>Microsoft Macintosh PowerPoint</Application>
  <PresentationFormat>On-screen Show (4:3)</PresentationFormat>
  <Paragraphs>234</Paragraphs>
  <Slides>46</Slides>
  <Notes>12</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Slide 1</vt:lpstr>
      <vt:lpstr>Bank’s Primary Objective</vt:lpstr>
      <vt:lpstr>The UK’s Recent Economic History</vt:lpstr>
      <vt:lpstr>Current Economic Climate</vt:lpstr>
      <vt:lpstr>Quarterly GDP Growth</vt:lpstr>
      <vt:lpstr>Slide 6</vt:lpstr>
      <vt:lpstr>Slide 7</vt:lpstr>
      <vt:lpstr>Slide 8</vt:lpstr>
      <vt:lpstr>Current UK Policy</vt:lpstr>
      <vt:lpstr>Domestic Activity</vt:lpstr>
      <vt:lpstr>Domestic Conditions</vt:lpstr>
      <vt:lpstr>Slide 12</vt:lpstr>
      <vt:lpstr>The Response of Businesses</vt:lpstr>
      <vt:lpstr>Slide 14</vt:lpstr>
      <vt:lpstr>Slide 15</vt:lpstr>
      <vt:lpstr>Consumption Outlook</vt:lpstr>
      <vt:lpstr>Slide 17</vt:lpstr>
      <vt:lpstr>Employment</vt:lpstr>
      <vt:lpstr>Slide 19</vt:lpstr>
      <vt:lpstr>Slide 20</vt:lpstr>
      <vt:lpstr>UK Exports</vt:lpstr>
      <vt:lpstr>Slide 22</vt:lpstr>
      <vt:lpstr>Exchange Rate</vt:lpstr>
      <vt:lpstr>CPI Inflation Value Added Tax</vt:lpstr>
      <vt:lpstr>Slide 25</vt:lpstr>
      <vt:lpstr>Slide 26</vt:lpstr>
      <vt:lpstr>Slide 27</vt:lpstr>
      <vt:lpstr>Financial Markets</vt:lpstr>
      <vt:lpstr>Lending</vt:lpstr>
      <vt:lpstr>Slide 30</vt:lpstr>
      <vt:lpstr>Slide 31</vt:lpstr>
      <vt:lpstr>Slide 32</vt:lpstr>
      <vt:lpstr>Slide 33</vt:lpstr>
      <vt:lpstr>Credit Default and Viability of Banks</vt:lpstr>
      <vt:lpstr>Slide 35</vt:lpstr>
      <vt:lpstr>Slide 36</vt:lpstr>
      <vt:lpstr>Bank Rate</vt:lpstr>
      <vt:lpstr>Asset Purchase Facility</vt:lpstr>
      <vt:lpstr>Quantitative Easing</vt:lpstr>
      <vt:lpstr>Our Policy Recommendation</vt:lpstr>
      <vt:lpstr>A quick note.</vt:lpstr>
      <vt:lpstr>Our Policy Recommendation</vt:lpstr>
      <vt:lpstr>Forecasts</vt:lpstr>
      <vt:lpstr>Slide 44</vt:lpstr>
      <vt:lpstr>BUT…</vt:lpstr>
      <vt:lpstr>Next Month’s Policy Recommendation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Nicholas Jozefczyk</dc:creator>
  <cp:lastModifiedBy>Vinny</cp:lastModifiedBy>
  <cp:revision>20</cp:revision>
  <dcterms:created xsi:type="dcterms:W3CDTF">2009-03-11T22:09:24Z</dcterms:created>
  <dcterms:modified xsi:type="dcterms:W3CDTF">2009-03-12T06:01:07Z</dcterms:modified>
</cp:coreProperties>
</file>