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2" r:id="rId1"/>
  </p:sldMasterIdLst>
  <p:notesMasterIdLst>
    <p:notesMasterId r:id="rId35"/>
  </p:notesMasterIdLst>
  <p:sldIdLst>
    <p:sldId id="270" r:id="rId2"/>
    <p:sldId id="272" r:id="rId3"/>
    <p:sldId id="275"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56" r:id="rId21"/>
    <p:sldId id="257" r:id="rId22"/>
    <p:sldId id="269" r:id="rId23"/>
    <p:sldId id="276" r:id="rId24"/>
    <p:sldId id="265" r:id="rId25"/>
    <p:sldId id="258" r:id="rId26"/>
    <p:sldId id="259" r:id="rId27"/>
    <p:sldId id="260" r:id="rId28"/>
    <p:sldId id="266" r:id="rId29"/>
    <p:sldId id="267" r:id="rId30"/>
    <p:sldId id="261" r:id="rId31"/>
    <p:sldId id="262" r:id="rId32"/>
    <p:sldId id="268" r:id="rId33"/>
    <p:sldId id="277"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6545" autoAdjust="0"/>
    <p:restoredTop sz="94660"/>
  </p:normalViewPr>
  <p:slideViewPr>
    <p:cSldViewPr>
      <p:cViewPr varScale="1">
        <p:scale>
          <a:sx n="104" d="100"/>
          <a:sy n="104" d="100"/>
        </p:scale>
        <p:origin x="-138"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CBC13F7E-1C42-43A1-BED7-9603E0FEC64D}" type="datetimeFigureOut">
              <a:rPr lang="en-US"/>
              <a:pPr>
                <a:defRPr/>
              </a:pPr>
              <a:t>3/11/2009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05C1897-C97A-4BEF-9F69-DAD06CEC256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4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BF9125-17F1-4A70-B0BC-7F86F31994D1}" type="slidenum">
              <a:rPr lang="en-US"/>
              <a:pPr/>
              <a:t>25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5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5F5B96-3079-48D4-AA2E-B1F989500D5E}" type="slidenum">
              <a:rPr lang="en-US"/>
              <a:pPr/>
              <a:t>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A19DF2C-47E3-45FC-B6C1-D625594D9F59}" type="slidenum">
              <a:rPr lang="en-US"/>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smtClean="0"/>
              <a:t>Click to edit Master title style</a:t>
            </a:r>
            <a:endParaRPr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endParaRPr lang="en-US"/>
          </a:p>
        </p:txBody>
      </p:sp>
      <p:sp>
        <p:nvSpPr>
          <p:cNvPr id="11" name="Slide Number Placeholder 28"/>
          <p:cNvSpPr>
            <a:spLocks noGrp="1"/>
          </p:cNvSpPr>
          <p:nvPr>
            <p:ph type="sldNum" sz="quarter" idx="12"/>
          </p:nvPr>
        </p:nvSpPr>
        <p:spPr>
          <a:xfrm>
            <a:off x="8001000" y="228600"/>
            <a:ext cx="838200" cy="381000"/>
          </a:xfrm>
        </p:spPr>
        <p:txBody>
          <a:bodyPr/>
          <a:lstStyle>
            <a:lvl1pPr>
              <a:defRPr smtClean="0">
                <a:solidFill>
                  <a:schemeClr val="tx2"/>
                </a:solidFill>
              </a:defRPr>
            </a:lvl1pPr>
          </a:lstStyle>
          <a:p>
            <a:pPr>
              <a:defRPr/>
            </a:pPr>
            <a:fld id="{EA586719-BB57-4F8D-AD4A-FC3335C452B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612648" y="1600200"/>
            <a:ext cx="81534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C8E29A81-4676-428C-B836-1FCD96AF75E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smtClean="0"/>
              <a:t>Click to edit Master title style</a:t>
            </a:r>
            <a:endParaRPr lang="en-US"/>
          </a:p>
        </p:txBody>
      </p:sp>
      <p:sp>
        <p:nvSpPr>
          <p:cNvPr id="7" name="Date Placeholder 11"/>
          <p:cNvSpPr>
            <a:spLocks noGrp="1"/>
          </p:cNvSpPr>
          <p:nvPr>
            <p:ph type="dt" sz="half" idx="10"/>
          </p:nvPr>
        </p:nvSpPr>
        <p:spPr/>
        <p:txBody>
          <a:bodyPr/>
          <a:lstStyle>
            <a:lvl1pPr>
              <a:defRPr/>
            </a:lvl1pPr>
          </a:lstStyle>
          <a:p>
            <a:pPr>
              <a:defRPr/>
            </a:pPr>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smtClean="0">
                <a:solidFill>
                  <a:srgbClr val="FFFFFF"/>
                </a:solidFill>
              </a:defRPr>
            </a:lvl1pPr>
          </a:lstStyle>
          <a:p>
            <a:pPr>
              <a:defRPr/>
            </a:pPr>
            <a:fld id="{68FAFA12-CFC3-4826-BF78-F1A886DC1696}" type="slidenum">
              <a:rPr lang="en-US"/>
              <a:pPr>
                <a:defRPr/>
              </a:pPr>
              <a:t>‹#›</a:t>
            </a:fld>
            <a:endParaRPr lang="en-US"/>
          </a:p>
        </p:txBody>
      </p:sp>
      <p:sp>
        <p:nvSpPr>
          <p:cNvPr id="9" name="Footer Placeholder 13"/>
          <p:cNvSpPr>
            <a:spLocks noGrp="1"/>
          </p:cNvSpPr>
          <p:nvPr>
            <p:ph type="ftr" sz="quarter" idx="12"/>
          </p:nvPr>
        </p:nvSpPr>
        <p:spPr/>
        <p:txBody>
          <a:bodyPr/>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609600"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844901" y="1589567"/>
            <a:ext cx="38862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p:txBody>
          <a:bodyPr rtlCol="0"/>
          <a:lstStyle>
            <a:lvl1pPr>
              <a:defRPr/>
            </a:lvl1pPr>
          </a:lstStyle>
          <a:p>
            <a:pPr>
              <a:defRPr/>
            </a:pPr>
            <a:endParaRPr lang="en-US"/>
          </a:p>
        </p:txBody>
      </p:sp>
      <p:sp>
        <p:nvSpPr>
          <p:cNvPr id="6" name="Slide Number Placeholder 9"/>
          <p:cNvSpPr>
            <a:spLocks noGrp="1"/>
          </p:cNvSpPr>
          <p:nvPr>
            <p:ph type="sldNum" sz="quarter" idx="11"/>
          </p:nvPr>
        </p:nvSpPr>
        <p:spPr/>
        <p:txBody>
          <a:bodyPr rtlCol="0"/>
          <a:lstStyle>
            <a:lvl1pPr>
              <a:defRPr/>
            </a:lvl1pPr>
          </a:lstStyle>
          <a:p>
            <a:pPr>
              <a:defRPr/>
            </a:pPr>
            <a:fld id="{47291504-E6E1-4FA7-A156-B492B319119C}" type="slidenum">
              <a:rPr lang="en-US"/>
              <a:pPr>
                <a:defRPr/>
              </a:pPr>
              <a:t>‹#›</a:t>
            </a:fld>
            <a:endParaRPr lang="en-US"/>
          </a:p>
        </p:txBody>
      </p:sp>
      <p:sp>
        <p:nvSpPr>
          <p:cNvPr id="7" name="Footer Placeholder 11"/>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smtClean="0"/>
              <a:t>Click to edit Master title style</a:t>
            </a:r>
            <a:endParaRPr lang="en-US"/>
          </a:p>
        </p:txBody>
      </p:sp>
      <p:sp>
        <p:nvSpPr>
          <p:cNvPr id="11" name="Content Placeholder 10"/>
          <p:cNvSpPr>
            <a:spLocks noGrp="1"/>
          </p:cNvSpPr>
          <p:nvPr>
            <p:ph sz="quarter" idx="2"/>
          </p:nvPr>
        </p:nvSpPr>
        <p:spPr>
          <a:xfrm>
            <a:off x="609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quarter" idx="4"/>
          </p:nvPr>
        </p:nvSpPr>
        <p:spPr>
          <a:xfrm>
            <a:off x="4800600" y="2438400"/>
            <a:ext cx="3886200" cy="358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smtClean="0"/>
              <a:t>Click to edit Master text styles</a:t>
            </a:r>
          </a:p>
        </p:txBody>
      </p:sp>
      <p:sp>
        <p:nvSpPr>
          <p:cNvPr id="7" name="Date Placeholder 9"/>
          <p:cNvSpPr>
            <a:spLocks noGrp="1"/>
          </p:cNvSpPr>
          <p:nvPr>
            <p:ph type="dt" sz="half" idx="10"/>
          </p:nvPr>
        </p:nvSpPr>
        <p:spPr/>
        <p:txBody>
          <a:bodyPr rtlCol="0"/>
          <a:lstStyle>
            <a:lvl1pPr>
              <a:defRPr/>
            </a:lvl1pPr>
          </a:lstStyle>
          <a:p>
            <a:pPr>
              <a:defRPr/>
            </a:pPr>
            <a:endParaRPr lang="en-US"/>
          </a:p>
        </p:txBody>
      </p:sp>
      <p:sp>
        <p:nvSpPr>
          <p:cNvPr id="8" name="Slide Number Placeholder 11"/>
          <p:cNvSpPr>
            <a:spLocks noGrp="1"/>
          </p:cNvSpPr>
          <p:nvPr>
            <p:ph type="sldNum" sz="quarter" idx="11"/>
          </p:nvPr>
        </p:nvSpPr>
        <p:spPr/>
        <p:txBody>
          <a:bodyPr rtlCol="0"/>
          <a:lstStyle>
            <a:lvl1pPr>
              <a:defRPr/>
            </a:lvl1pPr>
          </a:lstStyle>
          <a:p>
            <a:pPr>
              <a:defRPr/>
            </a:pPr>
            <a:fld id="{98C68D34-97E8-4121-97DC-805D07FE2B31}" type="slidenum">
              <a:rPr lang="en-US"/>
              <a:pPr>
                <a:defRPr/>
              </a:pPr>
              <a:t>‹#›</a:t>
            </a:fld>
            <a:endParaRPr lang="en-US"/>
          </a:p>
        </p:txBody>
      </p:sp>
      <p:sp>
        <p:nvSpPr>
          <p:cNvPr id="9" name="Footer Placeholder 13"/>
          <p:cNvSpPr>
            <a:spLocks noGrp="1"/>
          </p:cNvSpPr>
          <p:nvPr>
            <p:ph type="ftr" sz="quarter" idx="12"/>
          </p:nvPr>
        </p:nvSpPr>
        <p:spPr/>
        <p:txBody>
          <a:bodyPr rtlCol="0"/>
          <a:lstStyle>
            <a:lvl1pPr>
              <a:defRPr/>
            </a:lvl1pPr>
          </a:lstStyle>
          <a:p>
            <a:pPr>
              <a:defRPr/>
            </a:pP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180B21E2-092F-4576-A469-0E42A2E696F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smtClean="0">
                <a:solidFill>
                  <a:schemeClr val="tx2"/>
                </a:solidFill>
              </a:defRPr>
            </a:lvl1pPr>
          </a:lstStyle>
          <a:p>
            <a:pPr>
              <a:defRPr/>
            </a:pPr>
            <a:fld id="{5982039E-225E-4AE7-8616-3A5C1B19B747}"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smtClean="0"/>
              <a:t>Click to edit Master title style</a:t>
            </a:r>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42CC4322-FD22-48A5-B39F-F1C8A8F4354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smtClean="0"/>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smtClean="0"/>
            </a:lvl1pPr>
          </a:lstStyle>
          <a:p>
            <a:pPr>
              <a:defRPr/>
            </a:pPr>
            <a:fld id="{92A2619C-5A22-4EF3-B222-0043EF53A9D6}" type="slidenum">
              <a:rPr lang="en-US"/>
              <a:pPr>
                <a:defRPr/>
              </a:pPr>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88CBF14F-AE79-44B8-86DD-BB7140E98C0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endParaRPr lang="en-US"/>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6A587327-2E60-499E-9811-0E565B098A10}"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pPr>
              <a:defRPr/>
            </a:pPr>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defRPr>
            </a:lvl1pPr>
          </a:lstStyle>
          <a:p>
            <a:pPr>
              <a:defRPr/>
            </a:pPr>
            <a:endParaRPr lang="en-US"/>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smtClean="0">
                <a:solidFill>
                  <a:srgbClr val="FFFFFF"/>
                </a:solidFill>
              </a:defRPr>
            </a:lvl1pPr>
          </a:lstStyle>
          <a:p>
            <a:pPr>
              <a:defRPr/>
            </a:pPr>
            <a:fld id="{0D7C0E4A-B36E-458A-B9F1-8763689ACDC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95" r:id="rId1"/>
    <p:sldLayoutId id="2147483991" r:id="rId2"/>
    <p:sldLayoutId id="2147483996" r:id="rId3"/>
    <p:sldLayoutId id="2147483997" r:id="rId4"/>
    <p:sldLayoutId id="2147483998" r:id="rId5"/>
    <p:sldLayoutId id="2147483992" r:id="rId6"/>
    <p:sldLayoutId id="2147483999" r:id="rId7"/>
    <p:sldLayoutId id="2147483993" r:id="rId8"/>
    <p:sldLayoutId id="2147484000" r:id="rId9"/>
    <p:sldLayoutId id="2147483994" r:id="rId10"/>
    <p:sldLayoutId id="2147484001" r:id="rId11"/>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p:titleStyle>
    <p:bodyStyle>
      <a:lvl1pPr marL="319088" indent="-319088" algn="l" rtl="0" fontAlgn="base">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838200"/>
            <a:ext cx="6477000" cy="1828800"/>
          </a:xfrm>
        </p:spPr>
        <p:txBody>
          <a:bodyPr>
            <a:normAutofit/>
          </a:bodyPr>
          <a:lstStyle/>
          <a:p>
            <a:pPr fontAlgn="auto">
              <a:spcAft>
                <a:spcPts val="0"/>
              </a:spcAft>
              <a:defRPr/>
            </a:pPr>
            <a:r>
              <a:rPr lang="en-US" dirty="0" smtClean="0"/>
              <a:t>Market Efficiency</a:t>
            </a:r>
            <a:endParaRPr lang="en-US" dirty="0"/>
          </a:p>
        </p:txBody>
      </p:sp>
      <p:sp>
        <p:nvSpPr>
          <p:cNvPr id="9219" name="Subtitle 2"/>
          <p:cNvSpPr>
            <a:spLocks noGrp="1"/>
          </p:cNvSpPr>
          <p:nvPr>
            <p:ph type="subTitle" idx="1"/>
          </p:nvPr>
        </p:nvSpPr>
        <p:spPr>
          <a:xfrm>
            <a:off x="2362200" y="6049963"/>
            <a:ext cx="6705600" cy="685800"/>
          </a:xfrm>
        </p:spPr>
        <p:txBody>
          <a:bodyPr/>
          <a:lstStyle/>
          <a:p>
            <a:endParaRPr lang="en-US" smtClean="0"/>
          </a:p>
        </p:txBody>
      </p:sp>
      <p:sp>
        <p:nvSpPr>
          <p:cNvPr id="9220" name="Rectangle 3"/>
          <p:cNvSpPr>
            <a:spLocks noChangeArrowheads="1"/>
          </p:cNvSpPr>
          <p:nvPr/>
        </p:nvSpPr>
        <p:spPr bwMode="auto">
          <a:xfrm>
            <a:off x="1219200" y="3733800"/>
            <a:ext cx="4572000" cy="1200150"/>
          </a:xfrm>
          <a:prstGeom prst="rect">
            <a:avLst/>
          </a:prstGeom>
          <a:noFill/>
          <a:ln w="9525">
            <a:noFill/>
            <a:miter lim="800000"/>
            <a:headEnd/>
            <a:tailEnd/>
          </a:ln>
        </p:spPr>
        <p:txBody>
          <a:bodyPr>
            <a:spAutoFit/>
          </a:bodyPr>
          <a:lstStyle/>
          <a:p>
            <a:r>
              <a:rPr lang="en-US"/>
              <a:t>James Chiu </a:t>
            </a:r>
          </a:p>
          <a:p>
            <a:r>
              <a:rPr lang="en-US"/>
              <a:t>Jarrett Fishpaw</a:t>
            </a:r>
          </a:p>
          <a:p>
            <a:r>
              <a:rPr lang="en-US"/>
              <a:t>Vinson Pham</a:t>
            </a:r>
          </a:p>
          <a:p>
            <a:r>
              <a:rPr lang="en-US"/>
              <a:t>Nick Jozefczyk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612775" y="228600"/>
            <a:ext cx="8153400" cy="990600"/>
          </a:xfrm>
        </p:spPr>
        <p:txBody>
          <a:bodyPr/>
          <a:lstStyle/>
          <a:p>
            <a:r>
              <a:rPr lang="en-US" smtClean="0"/>
              <a:t>Efficiency Market Hypothesis</a:t>
            </a: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320040" indent="-320040" fontAlgn="auto">
              <a:spcAft>
                <a:spcPts val="0"/>
              </a:spcAft>
              <a:buFont typeface="Wingdings"/>
              <a:buChar char=""/>
              <a:defRPr/>
            </a:pPr>
            <a:r>
              <a:rPr lang="en-US" dirty="0" smtClean="0"/>
              <a:t>It is impossible to "beat the market" because stock market efficiency causes existing share prices to </a:t>
            </a:r>
            <a:r>
              <a:rPr lang="en-US" u="sng" dirty="0" smtClean="0"/>
              <a:t>always incorporate and reflect all relevant information.</a:t>
            </a:r>
          </a:p>
          <a:p>
            <a:pPr marL="320040" indent="-320040" fontAlgn="auto">
              <a:spcAft>
                <a:spcPts val="0"/>
              </a:spcAft>
              <a:buFont typeface="Wingdings"/>
              <a:buNone/>
              <a:defRPr/>
            </a:pPr>
            <a:endParaRPr lang="en-US" u="sng" dirty="0" smtClean="0"/>
          </a:p>
          <a:p>
            <a:pPr marL="320040" indent="-320040" fontAlgn="auto">
              <a:spcAft>
                <a:spcPts val="0"/>
              </a:spcAft>
              <a:buFont typeface="Wingdings"/>
              <a:buChar char=""/>
              <a:defRPr/>
            </a:pPr>
            <a:r>
              <a:rPr lang="en-US" dirty="0" smtClean="0"/>
              <a:t>This means that stocks always trade at their fair value on stock exchanges, making it </a:t>
            </a:r>
            <a:r>
              <a:rPr lang="en-US" u="sng" dirty="0" smtClean="0"/>
              <a:t>impossible</a:t>
            </a:r>
            <a:r>
              <a:rPr lang="en-US" dirty="0" smtClean="0"/>
              <a:t> for investors to either purchase undervalued stocks or sell stocks for inflated prices. </a:t>
            </a:r>
          </a:p>
          <a:p>
            <a:pPr marL="320040" indent="-320040" fontAlgn="auto">
              <a:spcAft>
                <a:spcPts val="0"/>
              </a:spcAft>
              <a:buFont typeface="Wingdings"/>
              <a:buNone/>
              <a:defRPr/>
            </a:pPr>
            <a:endParaRPr lang="en-US" dirty="0" smtClean="0"/>
          </a:p>
          <a:p>
            <a:pPr marL="320040" indent="-320040" fontAlgn="auto">
              <a:spcAft>
                <a:spcPts val="0"/>
              </a:spcAft>
              <a:buFont typeface="Wingdings"/>
              <a:buChar char=""/>
              <a:defRPr/>
            </a:pPr>
            <a:r>
              <a:rPr lang="en-US" dirty="0" smtClean="0"/>
              <a:t>Because of this, it should be impossible to outperform the overall market through expert stock selection or market timing, and that the only way an investor can possibly obtain higher returns is by purchasing riskier investments.</a:t>
            </a:r>
          </a:p>
          <a:p>
            <a:pPr marL="320040" indent="-320040" fontAlgn="auto">
              <a:spcAft>
                <a:spcPts val="0"/>
              </a:spcAft>
              <a:buFont typeface="Wingdings"/>
              <a:buChar char=""/>
              <a:defRPr/>
            </a:pPr>
            <a:endParaRPr lang="en-US"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612775" y="228600"/>
            <a:ext cx="8153400" cy="990600"/>
          </a:xfrm>
        </p:spPr>
        <p:txBody>
          <a:bodyPr/>
          <a:lstStyle/>
          <a:p>
            <a:r>
              <a:rPr lang="en-US" smtClean="0"/>
              <a:t>Degrees of Efficiency </a:t>
            </a: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514350" indent="-514350" fontAlgn="auto">
              <a:spcAft>
                <a:spcPts val="0"/>
              </a:spcAft>
              <a:buFont typeface="Wingdings"/>
              <a:buAutoNum type="arabicPeriod"/>
              <a:defRPr/>
            </a:pPr>
            <a:r>
              <a:rPr lang="en-US" i="1" u="sng" dirty="0" smtClean="0"/>
              <a:t>Strong efficiency</a:t>
            </a:r>
            <a:r>
              <a:rPr lang="en-US" b="1" u="sng" dirty="0" smtClean="0"/>
              <a:t> </a:t>
            </a:r>
          </a:p>
          <a:p>
            <a:pPr marL="834390" lvl="1" indent="-514350" fontAlgn="auto">
              <a:spcAft>
                <a:spcPts val="0"/>
              </a:spcAft>
              <a:buFont typeface="Wingdings 2"/>
              <a:buChar char=""/>
              <a:defRPr/>
            </a:pPr>
            <a:r>
              <a:rPr lang="en-US" dirty="0" smtClean="0"/>
              <a:t>This is the strongest version, which states that </a:t>
            </a:r>
            <a:r>
              <a:rPr lang="en-US" i="1" dirty="0" smtClean="0"/>
              <a:t>all</a:t>
            </a:r>
            <a:r>
              <a:rPr lang="en-US" dirty="0" smtClean="0"/>
              <a:t> information in a market, whether public or private, is accounted for in a stock price. Not even insider information could give an investor an advantage.</a:t>
            </a:r>
          </a:p>
          <a:p>
            <a:pPr marL="514350" indent="-514350" fontAlgn="auto">
              <a:spcAft>
                <a:spcPts val="0"/>
              </a:spcAft>
              <a:buFont typeface="Wingdings"/>
              <a:buAutoNum type="arabicPeriod"/>
              <a:defRPr/>
            </a:pPr>
            <a:r>
              <a:rPr lang="en-US" i="1" u="sng" dirty="0" smtClean="0"/>
              <a:t>Semi-strong efficiency</a:t>
            </a:r>
            <a:r>
              <a:rPr lang="en-US" b="1" u="sng" dirty="0" smtClean="0"/>
              <a:t> </a:t>
            </a:r>
          </a:p>
          <a:p>
            <a:pPr marL="834390" lvl="1" indent="-514350" fontAlgn="auto">
              <a:spcAft>
                <a:spcPts val="0"/>
              </a:spcAft>
              <a:buFont typeface="Wingdings 2"/>
              <a:buChar char=""/>
              <a:defRPr/>
            </a:pPr>
            <a:r>
              <a:rPr lang="en-US" dirty="0" smtClean="0"/>
              <a:t>This form of EMH implies that all public information is calculated into a stock's current share price. Neither fundamental nor technical analysis can be used to achieve superior gains.</a:t>
            </a:r>
          </a:p>
          <a:p>
            <a:pPr marL="514350" indent="-514350" fontAlgn="auto">
              <a:spcAft>
                <a:spcPts val="0"/>
              </a:spcAft>
              <a:buFont typeface="Wingdings"/>
              <a:buAutoNum type="arabicPeriod"/>
              <a:defRPr/>
            </a:pPr>
            <a:r>
              <a:rPr lang="en-US" i="1" u="sng" dirty="0" smtClean="0"/>
              <a:t>Weak efficiency</a:t>
            </a:r>
            <a:r>
              <a:rPr lang="en-US" b="1" u="sng" dirty="0" smtClean="0"/>
              <a:t> </a:t>
            </a:r>
          </a:p>
          <a:p>
            <a:pPr marL="834390" lvl="1" indent="-514350" fontAlgn="auto">
              <a:spcAft>
                <a:spcPts val="0"/>
              </a:spcAft>
              <a:buFont typeface="Wingdings 2"/>
              <a:buChar char=""/>
              <a:defRPr/>
            </a:pPr>
            <a:r>
              <a:rPr lang="en-US" dirty="0" smtClean="0"/>
              <a:t>This type of EMH claims that all past prices of a stock are reflected in today's stock price. Therefore, technical analysis cannot be used to predict and beat a market.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normAutofit fontScale="92500" lnSpcReduction="10000"/>
          </a:bodyPr>
          <a:lstStyle/>
          <a:p>
            <a:pPr fontAlgn="auto">
              <a:spcAft>
                <a:spcPts val="0"/>
              </a:spcAft>
              <a:buFont typeface="Wingdings"/>
              <a:buNone/>
              <a:defRPr/>
            </a:pPr>
            <a:r>
              <a:rPr lang="en-US" dirty="0" smtClean="0"/>
              <a:t>Rafael La Porta</a:t>
            </a:r>
          </a:p>
          <a:p>
            <a:pPr fontAlgn="auto">
              <a:spcAft>
                <a:spcPts val="0"/>
              </a:spcAft>
              <a:buFont typeface="Wingdings"/>
              <a:buNone/>
              <a:defRPr/>
            </a:pPr>
            <a:r>
              <a:rPr lang="en-US" dirty="0" smtClean="0"/>
              <a:t>Josef Lakonishok</a:t>
            </a:r>
          </a:p>
          <a:p>
            <a:pPr fontAlgn="auto">
              <a:spcAft>
                <a:spcPts val="0"/>
              </a:spcAft>
              <a:buFont typeface="Wingdings"/>
              <a:buNone/>
              <a:defRPr/>
            </a:pPr>
            <a:r>
              <a:rPr lang="en-US" dirty="0" smtClean="0"/>
              <a:t>Andrei Schleifer</a:t>
            </a:r>
          </a:p>
          <a:p>
            <a:pPr fontAlgn="auto">
              <a:spcAft>
                <a:spcPts val="0"/>
              </a:spcAft>
              <a:buFont typeface="Wingdings"/>
              <a:buNone/>
              <a:defRPr/>
            </a:pPr>
            <a:r>
              <a:rPr lang="en-US" dirty="0" smtClean="0"/>
              <a:t>Robert Vishny</a:t>
            </a:r>
            <a:endParaRPr lang="en-US" dirty="0"/>
          </a:p>
        </p:txBody>
      </p:sp>
      <p:sp>
        <p:nvSpPr>
          <p:cNvPr id="2" name="Title 1"/>
          <p:cNvSpPr>
            <a:spLocks noGrp="1"/>
          </p:cNvSpPr>
          <p:nvPr>
            <p:ph type="ctrTitle"/>
          </p:nvPr>
        </p:nvSpPr>
        <p:spPr>
          <a:xfrm>
            <a:off x="685800" y="1273175"/>
            <a:ext cx="7772400" cy="1470025"/>
          </a:xfrm>
        </p:spPr>
        <p:txBody>
          <a:bodyPr>
            <a:normAutofit fontScale="90000"/>
          </a:bodyPr>
          <a:lstStyle/>
          <a:p>
            <a:pPr fontAlgn="auto">
              <a:spcAft>
                <a:spcPts val="0"/>
              </a:spcAft>
              <a:defRPr/>
            </a:pPr>
            <a:r>
              <a:rPr lang="en-US" dirty="0" smtClean="0"/>
              <a:t/>
            </a:r>
            <a:br>
              <a:rPr lang="en-US" dirty="0" smtClean="0"/>
            </a:br>
            <a:r>
              <a:rPr lang="en-US" dirty="0" smtClean="0"/>
              <a:t/>
            </a:r>
            <a:br>
              <a:rPr lang="en-US" dirty="0" smtClean="0"/>
            </a:br>
            <a:r>
              <a:rPr lang="en-US" u="sng" dirty="0" smtClean="0"/>
              <a:t>Article 1</a:t>
            </a:r>
            <a:r>
              <a:rPr lang="en-US" dirty="0" smtClean="0"/>
              <a:t/>
            </a:r>
            <a:br>
              <a:rPr lang="en-US" dirty="0" smtClean="0"/>
            </a:br>
            <a:r>
              <a:rPr lang="en-US" dirty="0" smtClean="0"/>
              <a:t>Good News for Value Stocks:</a:t>
            </a:r>
            <a:br>
              <a:rPr lang="en-US" dirty="0" smtClean="0"/>
            </a:br>
            <a:r>
              <a:rPr lang="en-US" dirty="0" smtClean="0"/>
              <a:t>Further Evidence on </a:t>
            </a:r>
            <a:br>
              <a:rPr lang="en-US" dirty="0" smtClean="0"/>
            </a:br>
            <a:r>
              <a:rPr lang="en-US" dirty="0" smtClean="0"/>
              <a:t>Market Efficiency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12775" y="228600"/>
            <a:ext cx="8153400" cy="990600"/>
          </a:xfrm>
        </p:spPr>
        <p:txBody>
          <a:bodyPr/>
          <a:lstStyle/>
          <a:p>
            <a:r>
              <a:rPr lang="en-US" smtClean="0"/>
              <a:t>Basic Definitions</a:t>
            </a:r>
          </a:p>
        </p:txBody>
      </p:sp>
      <p:sp>
        <p:nvSpPr>
          <p:cNvPr id="3" name="Content Placeholder 2"/>
          <p:cNvSpPr>
            <a:spLocks noGrp="1"/>
          </p:cNvSpPr>
          <p:nvPr>
            <p:ph sz="quarter" idx="1"/>
          </p:nvPr>
        </p:nvSpPr>
        <p:spPr>
          <a:xfrm>
            <a:off x="612775" y="1600200"/>
            <a:ext cx="8153400" cy="4495800"/>
          </a:xfrm>
        </p:spPr>
        <p:txBody>
          <a:bodyPr>
            <a:normAutofit lnSpcReduction="10000"/>
          </a:bodyPr>
          <a:lstStyle/>
          <a:p>
            <a:pPr marL="320040" indent="-320040" fontAlgn="auto">
              <a:spcAft>
                <a:spcPts val="0"/>
              </a:spcAft>
              <a:buFont typeface="Wingdings"/>
              <a:buChar char=""/>
              <a:defRPr/>
            </a:pPr>
            <a:r>
              <a:rPr lang="en-US" u="sng" dirty="0" smtClean="0"/>
              <a:t>Value Stock </a:t>
            </a:r>
            <a:r>
              <a:rPr lang="en-US" dirty="0" smtClean="0"/>
              <a:t>– a stock which has showed poor growth in the past and is expected to continue growing slowly. Ranked lowest among stocks in growth in sales and ranked highest among stocks in cash-flow to price.</a:t>
            </a:r>
          </a:p>
          <a:p>
            <a:pPr marL="320040" indent="-320040" fontAlgn="auto">
              <a:spcAft>
                <a:spcPts val="0"/>
              </a:spcAft>
              <a:buFont typeface="Wingdings"/>
              <a:buChar char=""/>
              <a:defRPr/>
            </a:pPr>
            <a:r>
              <a:rPr lang="en-US" u="sng" dirty="0" smtClean="0"/>
              <a:t>Glamour Stock </a:t>
            </a:r>
            <a:r>
              <a:rPr lang="en-US" dirty="0" smtClean="0"/>
              <a:t>– a stock (usually well known) that has showed high growth in the past and is expected to continue growing strongly. These stocks are ranked lowest in cash flow to price and ranked highest in growth in sales.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12775" y="228600"/>
            <a:ext cx="8153400" cy="990600"/>
          </a:xfrm>
        </p:spPr>
        <p:txBody>
          <a:bodyPr/>
          <a:lstStyle/>
          <a:p>
            <a:r>
              <a:rPr lang="en-US" smtClean="0"/>
              <a:t>The Problem at Hand</a:t>
            </a:r>
          </a:p>
        </p:txBody>
      </p:sp>
      <p:sp>
        <p:nvSpPr>
          <p:cNvPr id="14339" name="Content Placeholder 2"/>
          <p:cNvSpPr>
            <a:spLocks noGrp="1"/>
          </p:cNvSpPr>
          <p:nvPr>
            <p:ph sz="quarter" idx="1"/>
          </p:nvPr>
        </p:nvSpPr>
        <p:spPr>
          <a:xfrm>
            <a:off x="612775" y="1600200"/>
            <a:ext cx="8153400" cy="4495800"/>
          </a:xfrm>
        </p:spPr>
        <p:txBody>
          <a:bodyPr/>
          <a:lstStyle/>
          <a:p>
            <a:r>
              <a:rPr lang="en-US" smtClean="0"/>
              <a:t>Over the past, value strategies (portfolios consisting of value stocks) have produced superior returns to glamour strategy.  This raises the question of whether such differences in returns is a result of compensation for risk (risk premium) or underlying behavioral factors.  Of these behavioral factors, the one that is focused on in this study is the role of expectational errors in influencing investment.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12775" y="228600"/>
            <a:ext cx="8153400" cy="990600"/>
          </a:xfrm>
        </p:spPr>
        <p:txBody>
          <a:bodyPr/>
          <a:lstStyle/>
          <a:p>
            <a:r>
              <a:rPr lang="en-US" smtClean="0"/>
              <a:t>Expectational Errors</a:t>
            </a:r>
          </a:p>
        </p:txBody>
      </p:sp>
      <p:sp>
        <p:nvSpPr>
          <p:cNvPr id="15363" name="Content Placeholder 2"/>
          <p:cNvSpPr>
            <a:spLocks noGrp="1"/>
          </p:cNvSpPr>
          <p:nvPr>
            <p:ph sz="quarter" idx="1"/>
          </p:nvPr>
        </p:nvSpPr>
        <p:spPr>
          <a:xfrm>
            <a:off x="612775" y="1600200"/>
            <a:ext cx="8153400" cy="4495800"/>
          </a:xfrm>
        </p:spPr>
        <p:txBody>
          <a:bodyPr/>
          <a:lstStyle/>
          <a:p>
            <a:r>
              <a:rPr lang="en-US" smtClean="0"/>
              <a:t>The idea of expectational errors deals with the idea of investors extrapolating growth rates too far into the future. Essentially, investors assume current growth rates will be maintained far into the future, meaning that currently high-growing glamour stocks are expected to continue growing strongly. This is not the case however, as earnings resemble more of a random walk, and are impossible to predict too far into the future.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612775" y="228600"/>
            <a:ext cx="8153400" cy="990600"/>
          </a:xfrm>
        </p:spPr>
        <p:txBody>
          <a:bodyPr/>
          <a:lstStyle/>
          <a:p>
            <a:r>
              <a:rPr lang="en-US" smtClean="0"/>
              <a:t>Expectational Errors Hypothesis</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This hypothesis examines the market’s reaction to earnings announcements to determine whether investors make systematic errors in pricing.</a:t>
            </a:r>
          </a:p>
          <a:p>
            <a:pPr marL="320040" indent="-320040" fontAlgn="auto">
              <a:spcAft>
                <a:spcPts val="0"/>
              </a:spcAft>
              <a:buFont typeface="Wingdings"/>
              <a:buChar char=""/>
              <a:defRPr/>
            </a:pPr>
            <a:r>
              <a:rPr lang="en-US" dirty="0" smtClean="0"/>
              <a:t>To study this, we examine two sets of returns for the portfolios over the five-year period: Annual buy-and-hold returns (regular yearly returns) and earnings announcement returns (3-day returns centered around earnings announcements, from t-1 to t+1.)</a:t>
            </a:r>
          </a:p>
          <a:p>
            <a:pPr marL="320040" indent="-320040" fontAlgn="auto">
              <a:spcAft>
                <a:spcPts val="0"/>
              </a:spcAft>
              <a:buFont typeface="Wingdings"/>
              <a:buChar char=""/>
              <a:defRPr/>
            </a:pPr>
            <a:r>
              <a:rPr lang="en-US" dirty="0" smtClean="0"/>
              <a:t>We test the hypothesis by determining whether earnings surprises are systematically positive for value stocks and systematically negative for glamour stocks.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612775" y="228600"/>
            <a:ext cx="8153400" cy="990600"/>
          </a:xfrm>
        </p:spPr>
        <p:txBody>
          <a:bodyPr/>
          <a:lstStyle/>
          <a:p>
            <a:r>
              <a:rPr lang="en-US" smtClean="0"/>
              <a:t>Results</a:t>
            </a:r>
          </a:p>
        </p:txBody>
      </p:sp>
      <p:sp>
        <p:nvSpPr>
          <p:cNvPr id="3" name="Content Placeholder 2"/>
          <p:cNvSpPr>
            <a:spLocks noGrp="1"/>
          </p:cNvSpPr>
          <p:nvPr>
            <p:ph sz="quarter" idx="1"/>
          </p:nvPr>
        </p:nvSpPr>
        <p:spPr>
          <a:xfrm>
            <a:off x="563563" y="1603375"/>
            <a:ext cx="8504237" cy="1825625"/>
          </a:xfrm>
        </p:spPr>
        <p:txBody>
          <a:bodyPr>
            <a:normAutofit lnSpcReduction="10000"/>
          </a:bodyPr>
          <a:lstStyle/>
          <a:p>
            <a:pPr marL="320040" indent="-320040" fontAlgn="auto">
              <a:spcAft>
                <a:spcPts val="0"/>
              </a:spcAft>
              <a:buFont typeface="Wingdings"/>
              <a:buChar char=""/>
              <a:defRPr/>
            </a:pPr>
            <a:r>
              <a:rPr lang="en-US" dirty="0" smtClean="0"/>
              <a:t>It was found that event returns (earning announcement/earning surprises) are substantially higher for the value portfolios (around 3.5%) than for the glamour portfolios (-0.5%).</a:t>
            </a:r>
          </a:p>
        </p:txBody>
      </p:sp>
      <p:pic>
        <p:nvPicPr>
          <p:cNvPr id="17412" name="Picture 4"/>
          <p:cNvPicPr>
            <a:picLocks noChangeAspect="1"/>
          </p:cNvPicPr>
          <p:nvPr/>
        </p:nvPicPr>
        <p:blipFill>
          <a:blip r:embed="rId2"/>
          <a:srcRect/>
          <a:stretch>
            <a:fillRect/>
          </a:stretch>
        </p:blipFill>
        <p:spPr bwMode="auto">
          <a:xfrm>
            <a:off x="1066800" y="3276600"/>
            <a:ext cx="6553200" cy="310673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12775" y="228600"/>
            <a:ext cx="8153400" cy="990600"/>
          </a:xfrm>
        </p:spPr>
        <p:txBody>
          <a:bodyPr/>
          <a:lstStyle/>
          <a:p>
            <a:r>
              <a:rPr lang="en-US" smtClean="0"/>
              <a:t>Results Cont’d</a:t>
            </a:r>
          </a:p>
        </p:txBody>
      </p:sp>
      <p:sp>
        <p:nvSpPr>
          <p:cNvPr id="18435" name="Content Placeholder 2"/>
          <p:cNvSpPr>
            <a:spLocks noGrp="1"/>
          </p:cNvSpPr>
          <p:nvPr>
            <p:ph sz="quarter" idx="1"/>
          </p:nvPr>
        </p:nvSpPr>
        <p:spPr>
          <a:xfrm>
            <a:off x="612775" y="1600200"/>
            <a:ext cx="8153400" cy="4495800"/>
          </a:xfrm>
        </p:spPr>
        <p:txBody>
          <a:bodyPr/>
          <a:lstStyle/>
          <a:p>
            <a:r>
              <a:rPr lang="en-US" smtClean="0"/>
              <a:t>The t-statistic also shows the difference between the two sets of event returns is significant.</a:t>
            </a:r>
          </a:p>
          <a:p>
            <a:r>
              <a:rPr lang="en-US" smtClean="0"/>
              <a:t>Substantially higher relative event returns persist for value stocks even 5 years after portfolio formation, with the effects gradually diminishing over time.</a:t>
            </a:r>
          </a:p>
          <a:p>
            <a:endParaRPr lang="en-US"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12775" y="228600"/>
            <a:ext cx="8153400" cy="990600"/>
          </a:xfrm>
        </p:spPr>
        <p:txBody>
          <a:bodyPr/>
          <a:lstStyle/>
          <a:p>
            <a:r>
              <a:rPr lang="en-US" smtClean="0"/>
              <a:t>Results Cont’d</a:t>
            </a:r>
          </a:p>
        </p:txBody>
      </p:sp>
      <p:sp>
        <p:nvSpPr>
          <p:cNvPr id="19459" name="Content Placeholder 2"/>
          <p:cNvSpPr>
            <a:spLocks noGrp="1"/>
          </p:cNvSpPr>
          <p:nvPr>
            <p:ph sz="quarter" idx="1"/>
          </p:nvPr>
        </p:nvSpPr>
        <p:spPr>
          <a:xfrm>
            <a:off x="612775" y="1600200"/>
            <a:ext cx="8153400" cy="4495800"/>
          </a:xfrm>
        </p:spPr>
        <p:txBody>
          <a:bodyPr/>
          <a:lstStyle/>
          <a:p>
            <a:r>
              <a:rPr lang="en-US" smtClean="0"/>
              <a:t>The return differences die out faster for events returns than for the annual buy-and-hold returns, suggesting earnings surprises are not the full story behind superior performance for value stocks.</a:t>
            </a:r>
          </a:p>
        </p:txBody>
      </p:sp>
      <p:pic>
        <p:nvPicPr>
          <p:cNvPr id="19460" name="Picture 3"/>
          <p:cNvPicPr>
            <a:picLocks noChangeAspect="1"/>
          </p:cNvPicPr>
          <p:nvPr/>
        </p:nvPicPr>
        <p:blipFill>
          <a:blip r:embed="rId2"/>
          <a:srcRect/>
          <a:stretch>
            <a:fillRect/>
          </a:stretch>
        </p:blipFill>
        <p:spPr bwMode="auto">
          <a:xfrm>
            <a:off x="301625" y="3657600"/>
            <a:ext cx="8569325" cy="2133600"/>
          </a:xfrm>
          <a:prstGeom prst="rect">
            <a:avLst/>
          </a:prstGeom>
          <a:noFill/>
          <a:ln w="9525">
            <a:noFill/>
            <a:miter lim="800000"/>
            <a:headEnd/>
            <a:tailEnd/>
          </a:ln>
        </p:spPr>
      </p:pic>
      <p:sp>
        <p:nvSpPr>
          <p:cNvPr id="19461" name="TextBox 4"/>
          <p:cNvSpPr txBox="1">
            <a:spLocks noChangeArrowheads="1"/>
          </p:cNvSpPr>
          <p:nvPr/>
        </p:nvSpPr>
        <p:spPr bwMode="auto">
          <a:xfrm>
            <a:off x="2438400" y="5715000"/>
            <a:ext cx="1219200" cy="369888"/>
          </a:xfrm>
          <a:prstGeom prst="rect">
            <a:avLst/>
          </a:prstGeom>
          <a:noFill/>
          <a:ln w="9525">
            <a:noFill/>
            <a:miter lim="800000"/>
            <a:headEnd/>
            <a:tailEnd/>
          </a:ln>
        </p:spPr>
        <p:txBody>
          <a:bodyPr>
            <a:spAutoFit/>
          </a:bodyPr>
          <a:lstStyle/>
          <a:p>
            <a:r>
              <a:rPr lang="en-US"/>
              <a:t>Glamour</a:t>
            </a:r>
          </a:p>
        </p:txBody>
      </p:sp>
      <p:sp>
        <p:nvSpPr>
          <p:cNvPr id="19462" name="TextBox 7"/>
          <p:cNvSpPr txBox="1">
            <a:spLocks noChangeArrowheads="1"/>
          </p:cNvSpPr>
          <p:nvPr/>
        </p:nvSpPr>
        <p:spPr bwMode="auto">
          <a:xfrm>
            <a:off x="5638800" y="5729288"/>
            <a:ext cx="990600" cy="369887"/>
          </a:xfrm>
          <a:prstGeom prst="rect">
            <a:avLst/>
          </a:prstGeom>
          <a:noFill/>
          <a:ln w="9525">
            <a:noFill/>
            <a:miter lim="800000"/>
            <a:headEnd/>
            <a:tailEnd/>
          </a:ln>
        </p:spPr>
        <p:txBody>
          <a:bodyPr>
            <a:spAutoFit/>
          </a:bodyPr>
          <a:lstStyle/>
          <a:p>
            <a:r>
              <a:rPr lang="en-US"/>
              <a:t>Value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12775" y="228600"/>
            <a:ext cx="8153400" cy="990600"/>
          </a:xfrm>
        </p:spPr>
        <p:txBody>
          <a:bodyPr/>
          <a:lstStyle/>
          <a:p>
            <a:r>
              <a:rPr lang="en-US" smtClean="0"/>
              <a:t>Results Cont’d</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These results suggest a significant portion of return differences between value and glamour portfolios is attributable to earnings surprises that are systematically more positive for value stocks.</a:t>
            </a:r>
          </a:p>
          <a:p>
            <a:pPr marL="320040" indent="-320040" fontAlgn="auto">
              <a:spcAft>
                <a:spcPts val="0"/>
              </a:spcAft>
              <a:buFont typeface="Wingdings"/>
              <a:buChar char=""/>
              <a:defRPr/>
            </a:pPr>
            <a:r>
              <a:rPr lang="en-US" dirty="0" smtClean="0"/>
              <a:t>This also suggests that learning about future earnings prospects is a slow process when it comes to pricing the information into stock prices.</a:t>
            </a:r>
          </a:p>
          <a:p>
            <a:pPr marL="320040" indent="-320040" fontAlgn="auto">
              <a:spcAft>
                <a:spcPts val="0"/>
              </a:spcAft>
              <a:buFont typeface="Wingdings"/>
              <a:buChar char=""/>
              <a:defRPr/>
            </a:pPr>
            <a:r>
              <a:rPr lang="en-US" dirty="0" smtClean="0"/>
              <a:t>The return differences for the event returns is a good indication of overall direction of returns for the value and glamour stocks, but not a good measure of overall magnitude.</a:t>
            </a:r>
          </a:p>
          <a:p>
            <a:pPr marL="320040" indent="-320040" fontAlgn="auto">
              <a:spcAft>
                <a:spcPts val="0"/>
              </a:spcAft>
              <a:buFont typeface="Wingdings"/>
              <a:buChar char=""/>
              <a:defRPr/>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775" y="228600"/>
            <a:ext cx="8153400" cy="990600"/>
          </a:xfrm>
        </p:spPr>
        <p:txBody>
          <a:bodyPr>
            <a:normAutofit fontScale="90000"/>
          </a:bodyPr>
          <a:lstStyle/>
          <a:p>
            <a:pPr fontAlgn="auto">
              <a:spcAft>
                <a:spcPts val="0"/>
              </a:spcAft>
              <a:defRPr/>
            </a:pPr>
            <a:r>
              <a:rPr lang="en-US" dirty="0" smtClean="0"/>
              <a:t>Does this exist for larger firm’s stocks as well</a:t>
            </a:r>
            <a:r>
              <a:rPr lang="en-US" dirty="0" smtClean="0">
                <a:latin typeface="Arial" pitchFamily="34" charset="0"/>
                <a:cs typeface="Arial" pitchFamily="34" charset="0"/>
              </a:rPr>
              <a:t>?</a:t>
            </a:r>
            <a:endParaRPr lang="en-US" dirty="0">
              <a:latin typeface="Arial" pitchFamily="34" charset="0"/>
              <a:cs typeface="Arial" pitchFamily="34" charset="0"/>
            </a:endParaRPr>
          </a:p>
        </p:txBody>
      </p:sp>
      <p:sp>
        <p:nvSpPr>
          <p:cNvPr id="3" name="Content Placeholder 2"/>
          <p:cNvSpPr>
            <a:spLocks noGrp="1"/>
          </p:cNvSpPr>
          <p:nvPr>
            <p:ph sz="quarter" idx="1"/>
          </p:nvPr>
        </p:nvSpPr>
        <p:spPr>
          <a:xfrm>
            <a:off x="612775" y="1600200"/>
            <a:ext cx="8153400" cy="4495800"/>
          </a:xfrm>
        </p:spPr>
        <p:txBody>
          <a:bodyPr>
            <a:normAutofit fontScale="85000" lnSpcReduction="20000"/>
          </a:bodyPr>
          <a:lstStyle/>
          <a:p>
            <a:pPr marL="320040" indent="-320040" fontAlgn="auto">
              <a:spcAft>
                <a:spcPts val="0"/>
              </a:spcAft>
              <a:buFont typeface="Wingdings"/>
              <a:buChar char=""/>
              <a:defRPr/>
            </a:pPr>
            <a:r>
              <a:rPr lang="en-US" dirty="0" smtClean="0"/>
              <a:t>The question arises whether or not this difference in event returns plays as significant a role in the annual returns of stocks for larger, more well-known firms.</a:t>
            </a:r>
          </a:p>
          <a:p>
            <a:pPr marL="320040" indent="-320040" fontAlgn="auto">
              <a:spcAft>
                <a:spcPts val="0"/>
              </a:spcAft>
              <a:buFont typeface="Wingdings"/>
              <a:buChar char=""/>
              <a:defRPr/>
            </a:pPr>
            <a:r>
              <a:rPr lang="en-US" dirty="0" smtClean="0"/>
              <a:t>It was found that the difference in event returns for the stocks of  larger firms is smaller and accounts for less of the total difference in returns between value and glamour stocks.</a:t>
            </a:r>
          </a:p>
          <a:p>
            <a:pPr marL="320040" indent="-320040" fontAlgn="auto">
              <a:spcAft>
                <a:spcPts val="0"/>
              </a:spcAft>
              <a:buFont typeface="Wingdings"/>
              <a:buChar char=""/>
              <a:defRPr/>
            </a:pPr>
            <a:r>
              <a:rPr lang="en-US" dirty="0" smtClean="0"/>
              <a:t>This could be the result of either:</a:t>
            </a:r>
          </a:p>
          <a:p>
            <a:pPr marL="640080" lvl="1" indent="-274320" fontAlgn="auto">
              <a:spcAft>
                <a:spcPts val="0"/>
              </a:spcAft>
              <a:buFont typeface="Wingdings 2"/>
              <a:buChar char=""/>
              <a:defRPr/>
            </a:pPr>
            <a:r>
              <a:rPr lang="en-US" dirty="0" smtClean="0"/>
              <a:t>1. The pricing of stocks for larger firms being more efficient with less systematic bias.</a:t>
            </a:r>
          </a:p>
          <a:p>
            <a:pPr marL="640080" lvl="1" indent="-274320" fontAlgn="auto">
              <a:spcAft>
                <a:spcPts val="0"/>
              </a:spcAft>
              <a:buFont typeface="Wingdings 2"/>
              <a:buChar char=""/>
              <a:defRPr/>
            </a:pPr>
            <a:r>
              <a:rPr lang="en-US" dirty="0" smtClean="0"/>
              <a:t>2. Since larger firms get more press coverage, information about the firms is more widespread outside of “events”, making such earnings announcements less meaningful.  Essentially, more widely-followed stocks adjust to news more continuously.</a:t>
            </a:r>
          </a:p>
          <a:p>
            <a:pPr marL="320040" indent="-320040" fontAlgn="auto">
              <a:spcAft>
                <a:spcPts val="0"/>
              </a:spcAft>
              <a:buFont typeface="Wingdings"/>
              <a:buChar char=""/>
              <a:defRPr/>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612775" y="228600"/>
            <a:ext cx="8153400" cy="990600"/>
          </a:xfrm>
        </p:spPr>
        <p:txBody>
          <a:bodyPr/>
          <a:lstStyle/>
          <a:p>
            <a:r>
              <a:rPr lang="en-US" smtClean="0"/>
              <a:t>What about Risk Compensation</a:t>
            </a:r>
            <a:r>
              <a:rPr lang="en-US" smtClean="0">
                <a:latin typeface="Arial" charset="0"/>
                <a:cs typeface="Arial" charset="0"/>
              </a:rPr>
              <a:t>?</a:t>
            </a:r>
          </a:p>
        </p:txBody>
      </p:sp>
      <p:sp>
        <p:nvSpPr>
          <p:cNvPr id="22531" name="Content Placeholder 2"/>
          <p:cNvSpPr>
            <a:spLocks noGrp="1"/>
          </p:cNvSpPr>
          <p:nvPr>
            <p:ph sz="quarter" idx="1"/>
          </p:nvPr>
        </p:nvSpPr>
        <p:spPr>
          <a:xfrm>
            <a:off x="612775" y="1600200"/>
            <a:ext cx="8153400" cy="4495800"/>
          </a:xfrm>
        </p:spPr>
        <p:txBody>
          <a:bodyPr/>
          <a:lstStyle/>
          <a:p>
            <a:r>
              <a:rPr lang="en-US" smtClean="0"/>
              <a:t>We’ve seen the effect of earnings surprises on the returns differences between glamour and value stocks. Now we look at the possible role of risk compensation in the return differential.</a:t>
            </a:r>
          </a:p>
          <a:p>
            <a:pPr>
              <a:buFont typeface="Wingdings" pitchFamily="2" charset="2"/>
              <a:buNone/>
            </a:pPr>
            <a:endParaRPr lang="en-US"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12775" y="228600"/>
            <a:ext cx="8153400" cy="990600"/>
          </a:xfrm>
        </p:spPr>
        <p:txBody>
          <a:bodyPr/>
          <a:lstStyle/>
          <a:p>
            <a:r>
              <a:rPr lang="en-US" smtClean="0"/>
              <a:t>Risk Premium</a:t>
            </a:r>
          </a:p>
        </p:txBody>
      </p:sp>
      <p:sp>
        <p:nvSpPr>
          <p:cNvPr id="3" name="Content Placeholder 2"/>
          <p:cNvSpPr>
            <a:spLocks noGrp="1"/>
          </p:cNvSpPr>
          <p:nvPr>
            <p:ph sz="quarter" idx="1"/>
          </p:nvPr>
        </p:nvSpPr>
        <p:spPr>
          <a:xfrm>
            <a:off x="612775" y="1600200"/>
            <a:ext cx="8153400" cy="4495800"/>
          </a:xfrm>
        </p:spPr>
        <p:txBody>
          <a:bodyPr>
            <a:normAutofit fontScale="92500" lnSpcReduction="20000"/>
          </a:bodyPr>
          <a:lstStyle/>
          <a:p>
            <a:pPr marL="320040" indent="-320040" fontAlgn="auto">
              <a:spcAft>
                <a:spcPts val="0"/>
              </a:spcAft>
              <a:buFont typeface="Wingdings"/>
              <a:buChar char=""/>
              <a:defRPr/>
            </a:pPr>
            <a:r>
              <a:rPr lang="en-US" dirty="0" smtClean="0"/>
              <a:t>It would be assumed that the higher returns for value stocks is an indication of a higher risk premium being attached to the stocks.</a:t>
            </a:r>
          </a:p>
          <a:p>
            <a:pPr marL="320040" indent="-320040" fontAlgn="auto">
              <a:spcAft>
                <a:spcPts val="0"/>
              </a:spcAft>
              <a:buFont typeface="Wingdings"/>
              <a:buChar char=""/>
              <a:defRPr/>
            </a:pPr>
            <a:endParaRPr lang="en-US" dirty="0" smtClean="0"/>
          </a:p>
          <a:p>
            <a:pPr marL="320040" indent="-320040" fontAlgn="auto">
              <a:spcAft>
                <a:spcPts val="0"/>
              </a:spcAft>
              <a:buFont typeface="Wingdings"/>
              <a:buChar char=""/>
              <a:defRPr/>
            </a:pPr>
            <a:r>
              <a:rPr lang="en-US" dirty="0" smtClean="0"/>
              <a:t>This is NOT the case however, as the return on glamour stocks in years t+1 and t+1 is actually negative (~0.5%) suggesting a negative ex ante risk.</a:t>
            </a:r>
          </a:p>
          <a:p>
            <a:pPr marL="320040" indent="-320040" fontAlgn="auto">
              <a:spcAft>
                <a:spcPts val="0"/>
              </a:spcAft>
              <a:buFont typeface="Wingdings"/>
              <a:buNone/>
              <a:defRPr/>
            </a:pPr>
            <a:endParaRPr lang="en-US" dirty="0" smtClean="0"/>
          </a:p>
          <a:p>
            <a:pPr marL="320040" indent="-320040" fontAlgn="auto">
              <a:spcAft>
                <a:spcPts val="0"/>
              </a:spcAft>
              <a:buFont typeface="Wingdings"/>
              <a:buNone/>
              <a:defRPr/>
            </a:pPr>
            <a:r>
              <a:rPr lang="en-US" dirty="0" smtClean="0"/>
              <a:t>Risk premium= r-rf = B (exp. market return-rf)</a:t>
            </a:r>
          </a:p>
          <a:p>
            <a:pPr marL="320040" indent="-320040" fontAlgn="auto">
              <a:spcAft>
                <a:spcPts val="0"/>
              </a:spcAft>
              <a:buFont typeface="Wingdings"/>
              <a:buNone/>
              <a:defRPr/>
            </a:pPr>
            <a:r>
              <a:rPr lang="en-US" dirty="0" smtClean="0"/>
              <a:t>r-rf is negative indicating that investors should be looking to sell off such value stocks if they have a positive ex ante risk, which glamour stocks certainly 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12775" y="228600"/>
            <a:ext cx="8153400" cy="990600"/>
          </a:xfrm>
        </p:spPr>
        <p:txBody>
          <a:bodyPr/>
          <a:lstStyle/>
          <a:p>
            <a:r>
              <a:rPr lang="en-US" smtClean="0"/>
              <a:t>Risk Cont’d</a:t>
            </a:r>
          </a:p>
        </p:txBody>
      </p:sp>
      <p:sp>
        <p:nvSpPr>
          <p:cNvPr id="3" name="Content Placeholder 2"/>
          <p:cNvSpPr>
            <a:spLocks noGrp="1"/>
          </p:cNvSpPr>
          <p:nvPr>
            <p:ph sz="quarter" idx="1"/>
          </p:nvPr>
        </p:nvSpPr>
        <p:spPr>
          <a:xfrm>
            <a:off x="612775" y="1600200"/>
            <a:ext cx="8153400" cy="4495800"/>
          </a:xfrm>
        </p:spPr>
        <p:txBody>
          <a:bodyPr>
            <a:normAutofit fontScale="92500" lnSpcReduction="10000"/>
          </a:bodyPr>
          <a:lstStyle/>
          <a:p>
            <a:pPr marL="320040" indent="-320040" fontAlgn="auto">
              <a:spcAft>
                <a:spcPts val="0"/>
              </a:spcAft>
              <a:buFont typeface="Wingdings"/>
              <a:buChar char=""/>
              <a:defRPr/>
            </a:pPr>
            <a:r>
              <a:rPr lang="en-US" dirty="0" smtClean="0"/>
              <a:t>Risk premium COULD however possibly be used to explain the significant portion of returns realized by value stocks around earnings reports. At these events, a significant amount of uncertainty is cleared up as earnings are announced, suggesting a disproportionately large share of risk premium should be realized as well.</a:t>
            </a:r>
          </a:p>
          <a:p>
            <a:pPr marL="320040" indent="-320040" fontAlgn="auto">
              <a:spcAft>
                <a:spcPts val="0"/>
              </a:spcAft>
              <a:buFont typeface="Wingdings"/>
              <a:buChar char=""/>
              <a:defRPr/>
            </a:pPr>
            <a:endParaRPr lang="en-US" dirty="0" smtClean="0"/>
          </a:p>
          <a:p>
            <a:pPr marL="320040" indent="-320040" fontAlgn="auto">
              <a:spcAft>
                <a:spcPts val="0"/>
              </a:spcAft>
              <a:buFont typeface="Wingdings"/>
              <a:buChar char=""/>
              <a:defRPr/>
            </a:pPr>
            <a:r>
              <a:rPr lang="en-US" dirty="0" smtClean="0"/>
              <a:t>This makes us examine a different understanding of risk premium, where for both glamour and value stocks, the event returns should be higher than non-event returns.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612775" y="228600"/>
            <a:ext cx="8153400" cy="990600"/>
          </a:xfrm>
        </p:spPr>
        <p:txBody>
          <a:bodyPr/>
          <a:lstStyle/>
          <a:p>
            <a:r>
              <a:rPr lang="en-US" smtClean="0"/>
              <a:t>Risk Cont’d</a:t>
            </a:r>
          </a:p>
        </p:txBody>
      </p:sp>
      <p:sp>
        <p:nvSpPr>
          <p:cNvPr id="25603" name="Content Placeholder 2"/>
          <p:cNvSpPr>
            <a:spLocks noGrp="1"/>
          </p:cNvSpPr>
          <p:nvPr>
            <p:ph sz="quarter" idx="1"/>
          </p:nvPr>
        </p:nvSpPr>
        <p:spPr>
          <a:xfrm>
            <a:off x="612775" y="1600200"/>
            <a:ext cx="8153400" cy="4495800"/>
          </a:xfrm>
        </p:spPr>
        <p:txBody>
          <a:bodyPr/>
          <a:lstStyle/>
          <a:p>
            <a:pPr>
              <a:buFont typeface="Wingdings" pitchFamily="2" charset="2"/>
              <a:buNone/>
            </a:pPr>
            <a:r>
              <a:rPr lang="en-US" smtClean="0"/>
              <a:t>Looking at the results:</a:t>
            </a:r>
          </a:p>
          <a:p>
            <a:endParaRPr lang="en-US" smtClean="0"/>
          </a:p>
          <a:p>
            <a:r>
              <a:rPr lang="en-US" smtClean="0"/>
              <a:t>For Glamour stocks, the event returns are less than the non-event returns. This can only be explained by the market receiving negative surprises for glamour firms on event days.</a:t>
            </a:r>
          </a:p>
          <a:p>
            <a:endParaRPr lang="en-US" smtClean="0"/>
          </a:p>
          <a:p>
            <a:r>
              <a:rPr lang="en-US" smtClean="0"/>
              <a:t>This also does not support the risk premium view.</a:t>
            </a:r>
          </a:p>
          <a:p>
            <a:pPr lvl="1"/>
            <a:endParaRPr lang="en-US" smtClean="0"/>
          </a:p>
          <a:p>
            <a:pPr lvl="1">
              <a:buFont typeface="Wingdings 2" pitchFamily="18" charset="2"/>
              <a:buNone/>
            </a:pPr>
            <a:endParaRPr lang="en-US"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612775" y="228600"/>
            <a:ext cx="8153400" cy="990600"/>
          </a:xfrm>
        </p:spPr>
        <p:txBody>
          <a:bodyPr/>
          <a:lstStyle/>
          <a:p>
            <a:r>
              <a:rPr lang="en-US" smtClean="0"/>
              <a:t>Conclusions</a:t>
            </a:r>
          </a:p>
        </p:txBody>
      </p:sp>
      <p:sp>
        <p:nvSpPr>
          <p:cNvPr id="3" name="Content Placeholder 2"/>
          <p:cNvSpPr>
            <a:spLocks noGrp="1"/>
          </p:cNvSpPr>
          <p:nvPr>
            <p:ph sz="quarter" idx="1"/>
          </p:nvPr>
        </p:nvSpPr>
        <p:spPr>
          <a:xfrm>
            <a:off x="612775" y="1600200"/>
            <a:ext cx="8153400" cy="4495800"/>
          </a:xfrm>
        </p:spPr>
        <p:txBody>
          <a:bodyPr>
            <a:normAutofit fontScale="85000" lnSpcReduction="10000"/>
          </a:bodyPr>
          <a:lstStyle/>
          <a:p>
            <a:pPr marL="320040" indent="-320040" fontAlgn="auto">
              <a:spcAft>
                <a:spcPts val="0"/>
              </a:spcAft>
              <a:buFont typeface="Wingdings"/>
              <a:buChar char=""/>
              <a:defRPr/>
            </a:pPr>
            <a:r>
              <a:rPr lang="en-US" dirty="0" smtClean="0"/>
              <a:t>There are many conclusions that can be garnered from these tests, many of them already mentioned in this presentation. They are:</a:t>
            </a:r>
          </a:p>
          <a:p>
            <a:pPr marL="640080" lvl="1" indent="-274320" fontAlgn="auto">
              <a:spcAft>
                <a:spcPts val="0"/>
              </a:spcAft>
              <a:buFont typeface="Wingdings 2"/>
              <a:buChar char=""/>
              <a:defRPr/>
            </a:pPr>
            <a:r>
              <a:rPr lang="en-US" dirty="0" smtClean="0"/>
              <a:t>The event returns for Value stocks, often featuring positive earnings surprises, are significantly greater than those for Glamour stocks, although this difference diminishes over time.</a:t>
            </a:r>
          </a:p>
          <a:p>
            <a:pPr marL="640080" lvl="1" indent="-274320" fontAlgn="auto">
              <a:spcAft>
                <a:spcPts val="0"/>
              </a:spcAft>
              <a:buFont typeface="Wingdings 2"/>
              <a:buChar char=""/>
              <a:defRPr/>
            </a:pPr>
            <a:r>
              <a:rPr lang="en-US" dirty="0" smtClean="0"/>
              <a:t>The non-event return for Glamour stocks is greater than the event return, which is inconsistent with the risk premia explanation for the differences in returns.</a:t>
            </a:r>
          </a:p>
          <a:p>
            <a:pPr marL="640080" lvl="1" indent="-274320" fontAlgn="auto">
              <a:spcAft>
                <a:spcPts val="0"/>
              </a:spcAft>
              <a:buFont typeface="Wingdings 2"/>
              <a:buChar char=""/>
              <a:defRPr/>
            </a:pPr>
            <a:r>
              <a:rPr lang="en-US" dirty="0" smtClean="0"/>
              <a:t>The event returns for large firms is often less than those for small firms, as large firms have more widely followed stocks that adjust to news more continuously throughout the quarter, diminishing the importance of earnings surprises.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612775" y="228600"/>
            <a:ext cx="8153400" cy="990600"/>
          </a:xfrm>
        </p:spPr>
        <p:txBody>
          <a:bodyPr/>
          <a:lstStyle/>
          <a:p>
            <a:pPr marL="342900" indent="-342900"/>
            <a:r>
              <a:rPr lang="en-US" smtClean="0"/>
              <a:t>Final Thought</a:t>
            </a:r>
          </a:p>
        </p:txBody>
      </p:sp>
      <p:sp>
        <p:nvSpPr>
          <p:cNvPr id="27651" name="TextBox 5"/>
          <p:cNvSpPr txBox="1">
            <a:spLocks noChangeArrowheads="1"/>
          </p:cNvSpPr>
          <p:nvPr/>
        </p:nvSpPr>
        <p:spPr bwMode="auto">
          <a:xfrm>
            <a:off x="457200" y="1600200"/>
            <a:ext cx="8153400" cy="5078413"/>
          </a:xfrm>
          <a:prstGeom prst="rect">
            <a:avLst/>
          </a:prstGeom>
          <a:noFill/>
          <a:ln w="9525">
            <a:noFill/>
            <a:miter lim="800000"/>
            <a:headEnd/>
            <a:tailEnd/>
          </a:ln>
        </p:spPr>
        <p:txBody>
          <a:bodyPr>
            <a:spAutoFit/>
          </a:bodyPr>
          <a:lstStyle/>
          <a:p>
            <a:r>
              <a:rPr lang="en-US" b="1"/>
              <a:t>Given these return differentials between Value and Glamour stocks, why is it that Glamour stocks are still so widely held?</a:t>
            </a:r>
          </a:p>
          <a:p>
            <a:endParaRPr lang="en-US" b="1"/>
          </a:p>
          <a:p>
            <a:r>
              <a:rPr lang="en-US" b="1"/>
              <a:t>There are a couple possible explanations for this:</a:t>
            </a:r>
          </a:p>
          <a:p>
            <a:r>
              <a:rPr lang="en-US"/>
              <a:t>1. Investors may prefer “good” companies that have superior past growth records.  Often, such stocks are perceived as being less risky than value stocks.  Another test by LSV (the authors) has actually disproven this notion by showing that value stocks are actually less risky than glamour.</a:t>
            </a:r>
          </a:p>
          <a:p>
            <a:endParaRPr lang="en-US"/>
          </a:p>
          <a:p>
            <a:r>
              <a:rPr lang="en-US"/>
              <a:t>		2. Institutional investors may prefer well known glamour stocks because they are easier to justify to their clients. Such investment managers are interested in increasing their clients investment, and glamour firms can help make such clients feel safer. Another test by LSV shows this tendency of institutional investors to overweight portfolios with glamour stocks. It is suggested that this could be the single greatest reason for the overall underperformance of investment managers relative to the S&amp;P 500 over the last 20+ years.</a:t>
            </a:r>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914400"/>
            <a:ext cx="7772400" cy="1927225"/>
          </a:xfrm>
        </p:spPr>
        <p:txBody>
          <a:bodyPr>
            <a:normAutofit fontScale="90000"/>
          </a:bodyPr>
          <a:lstStyle/>
          <a:p>
            <a:pPr fontAlgn="auto">
              <a:spcAft>
                <a:spcPts val="0"/>
              </a:spcAft>
              <a:defRPr/>
            </a:pPr>
            <a:r>
              <a:rPr lang="en-US" sz="3600" dirty="0" smtClean="0"/>
              <a:t/>
            </a:r>
            <a:br>
              <a:rPr lang="en-US" sz="3600" dirty="0" smtClean="0"/>
            </a:br>
            <a:r>
              <a:rPr lang="en-US" sz="3600" u="sng" dirty="0" smtClean="0"/>
              <a:t>Article 2</a:t>
            </a:r>
            <a:r>
              <a:rPr lang="en-US" sz="3600" dirty="0" smtClean="0"/>
              <a:t/>
            </a:r>
            <a:br>
              <a:rPr lang="en-US" sz="3600" dirty="0" smtClean="0"/>
            </a:br>
            <a:r>
              <a:rPr lang="en-US" sz="3600" dirty="0" smtClean="0"/>
              <a:t>Time-varying </a:t>
            </a:r>
            <a:r>
              <a:rPr lang="en-US" sz="3600" dirty="0"/>
              <a:t>betas and</a:t>
            </a:r>
            <a:br>
              <a:rPr lang="en-US" sz="3600" dirty="0"/>
            </a:br>
            <a:r>
              <a:rPr lang="en-US" sz="3600" dirty="0"/>
              <a:t> asymmetric effects of news: </a:t>
            </a:r>
            <a:br>
              <a:rPr lang="en-US" sz="3600" dirty="0"/>
            </a:br>
            <a:endParaRPr lang="en-US" sz="2400" dirty="0"/>
          </a:p>
        </p:txBody>
      </p:sp>
      <p:sp>
        <p:nvSpPr>
          <p:cNvPr id="6" name="Rectangle 3"/>
          <p:cNvSpPr txBox="1">
            <a:spLocks noChangeArrowheads="1"/>
          </p:cNvSpPr>
          <p:nvPr/>
        </p:nvSpPr>
        <p:spPr>
          <a:xfrm>
            <a:off x="1371600" y="5276850"/>
            <a:ext cx="6858000" cy="533400"/>
          </a:xfrm>
          <a:prstGeom prst="rect">
            <a:avLst/>
          </a:prstGeom>
        </p:spPr>
        <p:txBody>
          <a:bodyPr>
            <a:normAutofit fontScale="70000" lnSpcReduction="20000"/>
          </a:bodyPr>
          <a:lstStyle/>
          <a:p>
            <a:pPr algn="r" fontAlgn="auto">
              <a:spcBef>
                <a:spcPts val="600"/>
              </a:spcBef>
              <a:spcAft>
                <a:spcPts val="0"/>
              </a:spcAft>
              <a:buClr>
                <a:schemeClr val="accent1"/>
              </a:buClr>
              <a:buSzPct val="76000"/>
              <a:buFont typeface="Wingdings 3"/>
              <a:buNone/>
              <a:defRPr/>
            </a:pPr>
            <a:r>
              <a:rPr lang="en-US" sz="2000" dirty="0">
                <a:solidFill>
                  <a:schemeClr val="tx2"/>
                </a:solidFill>
                <a:latin typeface="+mj-lt"/>
                <a:ea typeface="+mj-ea"/>
                <a:cs typeface="+mj-cs"/>
              </a:rPr>
              <a:t>empirical analysis of </a:t>
            </a:r>
          </a:p>
          <a:p>
            <a:pPr algn="r" fontAlgn="auto">
              <a:spcBef>
                <a:spcPts val="600"/>
              </a:spcBef>
              <a:spcAft>
                <a:spcPts val="0"/>
              </a:spcAft>
              <a:buClr>
                <a:schemeClr val="accent1"/>
              </a:buClr>
              <a:buSzPct val="76000"/>
              <a:buFont typeface="Wingdings 3"/>
              <a:buNone/>
              <a:defRPr/>
            </a:pPr>
            <a:r>
              <a:rPr lang="en-US" sz="2000" dirty="0">
                <a:solidFill>
                  <a:schemeClr val="tx2"/>
                </a:solidFill>
                <a:latin typeface="+mj-lt"/>
                <a:ea typeface="+mj-ea"/>
                <a:cs typeface="+mj-cs"/>
              </a:rPr>
              <a:t>blue chip stock</a:t>
            </a:r>
            <a:endParaRPr lang="en-US" sz="2000"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612775" y="228600"/>
            <a:ext cx="8153400" cy="990600"/>
          </a:xfrm>
        </p:spPr>
        <p:txBody>
          <a:bodyPr/>
          <a:lstStyle/>
          <a:p>
            <a:r>
              <a:rPr lang="en-US" sz="4000" smtClean="0"/>
              <a:t>Goal:</a:t>
            </a:r>
          </a:p>
        </p:txBody>
      </p:sp>
      <p:sp>
        <p:nvSpPr>
          <p:cNvPr id="29699" name="Rectangle 3"/>
          <p:cNvSpPr>
            <a:spLocks noGrp="1" noChangeArrowheads="1"/>
          </p:cNvSpPr>
          <p:nvPr>
            <p:ph sz="quarter" idx="1"/>
          </p:nvPr>
        </p:nvSpPr>
        <p:spPr>
          <a:xfrm>
            <a:off x="612775" y="1600200"/>
            <a:ext cx="8153400" cy="4495800"/>
          </a:xfrm>
        </p:spPr>
        <p:txBody>
          <a:bodyPr/>
          <a:lstStyle/>
          <a:p>
            <a:r>
              <a:rPr lang="en-US" smtClean="0">
                <a:latin typeface="Times New Roman" pitchFamily="18" charset="0"/>
                <a:cs typeface="Times New Roman" pitchFamily="18" charset="0"/>
              </a:rPr>
              <a:t>To determine whether an asymmetric/ leverage effect exist between stock</a:t>
            </a:r>
          </a:p>
          <a:p>
            <a:pPr>
              <a:buFont typeface="Wingdings" pitchFamily="2" charset="2"/>
              <a:buNone/>
            </a:pPr>
            <a:endParaRPr lang="en-US" smtClean="0">
              <a:latin typeface="Times New Roman" pitchFamily="18" charset="0"/>
              <a:cs typeface="Times New Roman" pitchFamily="18" charset="0"/>
            </a:endParaRPr>
          </a:p>
          <a:p>
            <a:pPr algn="ctr">
              <a:buFont typeface="Wingdings" pitchFamily="2" charset="2"/>
              <a:buNone/>
            </a:pPr>
            <a:r>
              <a:rPr lang="en-US" smtClean="0">
                <a:latin typeface="Times New Roman" pitchFamily="18" charset="0"/>
                <a:cs typeface="Times New Roman" pitchFamily="18" charset="0"/>
              </a:rPr>
              <a:t>Or</a:t>
            </a:r>
          </a:p>
          <a:p>
            <a:pPr>
              <a:buFont typeface="Wingdings" pitchFamily="2" charset="2"/>
              <a:buNone/>
            </a:pP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Does beta increases with bad news and decreases with good news, just as does volatility?</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12775" y="228600"/>
            <a:ext cx="8153400" cy="990600"/>
          </a:xfrm>
        </p:spPr>
        <p:txBody>
          <a:bodyPr/>
          <a:lstStyle/>
          <a:p>
            <a:r>
              <a:rPr lang="en-US" smtClean="0"/>
              <a:t>How Beta relates to Stock Price</a:t>
            </a:r>
          </a:p>
        </p:txBody>
      </p:sp>
      <p:sp>
        <p:nvSpPr>
          <p:cNvPr id="30723" name="Content Placeholder 2"/>
          <p:cNvSpPr>
            <a:spLocks noGrp="1"/>
          </p:cNvSpPr>
          <p:nvPr>
            <p:ph sz="quarter" idx="1"/>
          </p:nvPr>
        </p:nvSpPr>
        <p:spPr>
          <a:xfrm>
            <a:off x="612775" y="1600200"/>
            <a:ext cx="8153400" cy="5029200"/>
          </a:xfrm>
        </p:spPr>
        <p:txBody>
          <a:bodyPr/>
          <a:lstStyle/>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a:p>
            <a:pPr>
              <a:buFont typeface="Wingdings" pitchFamily="2" charset="2"/>
              <a:buNone/>
            </a:pPr>
            <a:endParaRPr lang="en-US" smtClean="0"/>
          </a:p>
        </p:txBody>
      </p:sp>
      <p:grpSp>
        <p:nvGrpSpPr>
          <p:cNvPr id="30724" name="Group 19"/>
          <p:cNvGrpSpPr>
            <a:grpSpLocks/>
          </p:cNvGrpSpPr>
          <p:nvPr/>
        </p:nvGrpSpPr>
        <p:grpSpPr bwMode="auto">
          <a:xfrm>
            <a:off x="2286000" y="1992313"/>
            <a:ext cx="6096000" cy="2198687"/>
            <a:chOff x="914400" y="2057400"/>
            <a:chExt cx="6096000" cy="2198132"/>
          </a:xfrm>
        </p:grpSpPr>
        <p:pic>
          <p:nvPicPr>
            <p:cNvPr id="30732" name="Picture 2"/>
            <p:cNvPicPr>
              <a:picLocks noChangeAspect="1" noChangeArrowheads="1"/>
            </p:cNvPicPr>
            <p:nvPr/>
          </p:nvPicPr>
          <p:blipFill>
            <a:blip r:embed="rId2"/>
            <a:srcRect l="31250" t="30000" r="53125" b="66473"/>
            <a:stretch>
              <a:fillRect/>
            </a:stretch>
          </p:blipFill>
          <p:spPr bwMode="auto">
            <a:xfrm>
              <a:off x="914400" y="2057400"/>
              <a:ext cx="5943600" cy="838200"/>
            </a:xfrm>
            <a:prstGeom prst="rect">
              <a:avLst/>
            </a:prstGeom>
            <a:noFill/>
            <a:ln w="9525">
              <a:noFill/>
              <a:miter lim="800000"/>
              <a:headEnd/>
              <a:tailEnd/>
            </a:ln>
          </p:spPr>
        </p:pic>
        <p:pic>
          <p:nvPicPr>
            <p:cNvPr id="30733" name="Picture 2"/>
            <p:cNvPicPr>
              <a:picLocks noChangeAspect="1" noChangeArrowheads="1"/>
            </p:cNvPicPr>
            <p:nvPr/>
          </p:nvPicPr>
          <p:blipFill>
            <a:blip r:embed="rId2"/>
            <a:srcRect l="31250" t="36090" r="53125" b="59000"/>
            <a:stretch>
              <a:fillRect/>
            </a:stretch>
          </p:blipFill>
          <p:spPr bwMode="auto">
            <a:xfrm>
              <a:off x="1066800" y="2819400"/>
              <a:ext cx="5943600" cy="1167384"/>
            </a:xfrm>
            <a:prstGeom prst="rect">
              <a:avLst/>
            </a:prstGeom>
            <a:noFill/>
            <a:ln w="9525">
              <a:noFill/>
              <a:miter lim="800000"/>
              <a:headEnd/>
              <a:tailEnd/>
            </a:ln>
          </p:spPr>
        </p:pic>
        <p:cxnSp>
          <p:nvCxnSpPr>
            <p:cNvPr id="15" name="Straight Arrow Connector 14"/>
            <p:cNvCxnSpPr/>
            <p:nvPr/>
          </p:nvCxnSpPr>
          <p:spPr>
            <a:xfrm rot="10800000">
              <a:off x="3276600" y="3504835"/>
              <a:ext cx="838200" cy="609446"/>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735" name="TextBox 15"/>
            <p:cNvSpPr txBox="1">
              <a:spLocks noChangeArrowheads="1"/>
            </p:cNvSpPr>
            <p:nvPr/>
          </p:nvSpPr>
          <p:spPr bwMode="auto">
            <a:xfrm>
              <a:off x="4191000" y="3886200"/>
              <a:ext cx="2514600" cy="369332"/>
            </a:xfrm>
            <a:prstGeom prst="rect">
              <a:avLst/>
            </a:prstGeom>
            <a:noFill/>
            <a:ln w="9525">
              <a:noFill/>
              <a:miter lim="800000"/>
              <a:headEnd/>
              <a:tailEnd/>
            </a:ln>
          </p:spPr>
          <p:txBody>
            <a:bodyPr>
              <a:spAutoFit/>
            </a:bodyPr>
            <a:lstStyle/>
            <a:p>
              <a:r>
                <a:rPr lang="en-US" b="1" u="sng">
                  <a:solidFill>
                    <a:srgbClr val="FF0000"/>
                  </a:solidFill>
                </a:rPr>
                <a:t>Idiosyncratic Beta</a:t>
              </a:r>
            </a:p>
          </p:txBody>
        </p:sp>
      </p:grpSp>
      <p:sp>
        <p:nvSpPr>
          <p:cNvPr id="30725" name="TextBox 18"/>
          <p:cNvSpPr txBox="1">
            <a:spLocks noChangeArrowheads="1"/>
          </p:cNvSpPr>
          <p:nvPr/>
        </p:nvSpPr>
        <p:spPr bwMode="auto">
          <a:xfrm>
            <a:off x="304800" y="2057400"/>
            <a:ext cx="2667000" cy="1477963"/>
          </a:xfrm>
          <a:prstGeom prst="rect">
            <a:avLst/>
          </a:prstGeom>
          <a:noFill/>
          <a:ln w="9525">
            <a:noFill/>
            <a:miter lim="800000"/>
            <a:headEnd/>
            <a:tailEnd/>
          </a:ln>
        </p:spPr>
        <p:txBody>
          <a:bodyPr>
            <a:spAutoFit/>
          </a:bodyPr>
          <a:lstStyle/>
          <a:p>
            <a:r>
              <a:rPr lang="en-US" b="1"/>
              <a:t>Demanded Market Returns</a:t>
            </a:r>
          </a:p>
          <a:p>
            <a:endParaRPr lang="en-US" b="1"/>
          </a:p>
          <a:p>
            <a:r>
              <a:rPr lang="en-US" b="1"/>
              <a:t>Demanded Individual Firm Returns</a:t>
            </a:r>
          </a:p>
        </p:txBody>
      </p:sp>
      <p:pic>
        <p:nvPicPr>
          <p:cNvPr id="30726" name="Picture 4"/>
          <p:cNvPicPr>
            <a:picLocks noChangeAspect="1" noChangeArrowheads="1"/>
          </p:cNvPicPr>
          <p:nvPr/>
        </p:nvPicPr>
        <p:blipFill>
          <a:blip r:embed="rId3"/>
          <a:srcRect l="30624" t="48000" r="23125" b="46001"/>
          <a:stretch>
            <a:fillRect/>
          </a:stretch>
        </p:blipFill>
        <p:spPr bwMode="auto">
          <a:xfrm>
            <a:off x="381000" y="4876800"/>
            <a:ext cx="8458200" cy="685800"/>
          </a:xfrm>
          <a:prstGeom prst="rect">
            <a:avLst/>
          </a:prstGeom>
          <a:noFill/>
          <a:ln w="9525">
            <a:noFill/>
            <a:miter lim="800000"/>
            <a:headEnd/>
            <a:tailEnd/>
          </a:ln>
        </p:spPr>
      </p:pic>
      <p:sp>
        <p:nvSpPr>
          <p:cNvPr id="30727" name="TextBox 22"/>
          <p:cNvSpPr txBox="1">
            <a:spLocks noChangeArrowheads="1"/>
          </p:cNvSpPr>
          <p:nvPr/>
        </p:nvSpPr>
        <p:spPr bwMode="auto">
          <a:xfrm>
            <a:off x="228600" y="4476750"/>
            <a:ext cx="7162800" cy="400050"/>
          </a:xfrm>
          <a:prstGeom prst="rect">
            <a:avLst/>
          </a:prstGeom>
          <a:noFill/>
          <a:ln w="9525">
            <a:noFill/>
            <a:miter lim="800000"/>
            <a:headEnd/>
            <a:tailEnd/>
          </a:ln>
        </p:spPr>
        <p:txBody>
          <a:bodyPr>
            <a:spAutoFit/>
          </a:bodyPr>
          <a:lstStyle/>
          <a:p>
            <a:r>
              <a:rPr lang="en-US" sz="2000" u="sng">
                <a:solidFill>
                  <a:srgbClr val="002060"/>
                </a:solidFill>
              </a:rPr>
              <a:t>How the Idiosyncratic and Market Beta’s are related:</a:t>
            </a:r>
          </a:p>
        </p:txBody>
      </p:sp>
      <p:cxnSp>
        <p:nvCxnSpPr>
          <p:cNvPr id="29" name="Straight Arrow Connector 28"/>
          <p:cNvCxnSpPr/>
          <p:nvPr/>
        </p:nvCxnSpPr>
        <p:spPr>
          <a:xfrm rot="10800000">
            <a:off x="3200400" y="5562600"/>
            <a:ext cx="838200" cy="609600"/>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6858000" y="5562600"/>
            <a:ext cx="914400" cy="609600"/>
          </a:xfrm>
          <a:prstGeom prst="straightConnector1">
            <a:avLst/>
          </a:prstGeom>
          <a:ln w="73025" cmpd="sng">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730" name="TextBox 32"/>
          <p:cNvSpPr txBox="1">
            <a:spLocks noChangeArrowheads="1"/>
          </p:cNvSpPr>
          <p:nvPr/>
        </p:nvSpPr>
        <p:spPr bwMode="auto">
          <a:xfrm>
            <a:off x="5715000" y="6183313"/>
            <a:ext cx="2514600" cy="369887"/>
          </a:xfrm>
          <a:prstGeom prst="rect">
            <a:avLst/>
          </a:prstGeom>
          <a:noFill/>
          <a:ln w="9525">
            <a:noFill/>
            <a:miter lim="800000"/>
            <a:headEnd/>
            <a:tailEnd/>
          </a:ln>
        </p:spPr>
        <p:txBody>
          <a:bodyPr>
            <a:spAutoFit/>
          </a:bodyPr>
          <a:lstStyle/>
          <a:p>
            <a:r>
              <a:rPr lang="en-US" b="1" u="sng">
                <a:solidFill>
                  <a:srgbClr val="00B050"/>
                </a:solidFill>
              </a:rPr>
              <a:t>Market Beta</a:t>
            </a:r>
          </a:p>
        </p:txBody>
      </p:sp>
      <p:sp>
        <p:nvSpPr>
          <p:cNvPr id="30731" name="TextBox 33"/>
          <p:cNvSpPr txBox="1">
            <a:spLocks noChangeArrowheads="1"/>
          </p:cNvSpPr>
          <p:nvPr/>
        </p:nvSpPr>
        <p:spPr bwMode="auto">
          <a:xfrm>
            <a:off x="2971800" y="6172200"/>
            <a:ext cx="2514600" cy="369888"/>
          </a:xfrm>
          <a:prstGeom prst="rect">
            <a:avLst/>
          </a:prstGeom>
          <a:noFill/>
          <a:ln w="9525">
            <a:noFill/>
            <a:miter lim="800000"/>
            <a:headEnd/>
            <a:tailEnd/>
          </a:ln>
        </p:spPr>
        <p:txBody>
          <a:bodyPr>
            <a:spAutoFit/>
          </a:bodyPr>
          <a:lstStyle/>
          <a:p>
            <a:r>
              <a:rPr lang="en-US" b="1" u="sng">
                <a:solidFill>
                  <a:srgbClr val="FF0000"/>
                </a:solidFill>
              </a:rPr>
              <a:t>Idiosyncratic Beta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12775" y="228600"/>
            <a:ext cx="8153400" cy="990600"/>
          </a:xfrm>
        </p:spPr>
        <p:txBody>
          <a:bodyPr/>
          <a:lstStyle/>
          <a:p>
            <a:r>
              <a:rPr lang="en-US" smtClean="0"/>
              <a:t>Finding Beta</a:t>
            </a:r>
          </a:p>
        </p:txBody>
      </p:sp>
      <p:pic>
        <p:nvPicPr>
          <p:cNvPr id="31747" name="Picture 2"/>
          <p:cNvPicPr>
            <a:picLocks noGrp="1" noChangeAspect="1" noChangeArrowheads="1"/>
          </p:cNvPicPr>
          <p:nvPr>
            <p:ph sz="quarter" idx="1"/>
          </p:nvPr>
        </p:nvPicPr>
        <p:blipFill>
          <a:blip r:embed="rId2"/>
          <a:srcRect l="29298" t="45763" r="54811" b="38983"/>
          <a:stretch>
            <a:fillRect/>
          </a:stretch>
        </p:blipFill>
        <p:spPr>
          <a:xfrm>
            <a:off x="838200" y="1752600"/>
            <a:ext cx="6858000" cy="4114800"/>
          </a:xfrm>
          <a:noFill/>
        </p:spPr>
      </p:pic>
      <p:sp>
        <p:nvSpPr>
          <p:cNvPr id="5" name="TextBox 4"/>
          <p:cNvSpPr txBox="1"/>
          <p:nvPr/>
        </p:nvSpPr>
        <p:spPr>
          <a:xfrm>
            <a:off x="5867400" y="2133600"/>
            <a:ext cx="1371600" cy="923925"/>
          </a:xfrm>
          <a:prstGeom prst="rect">
            <a:avLst/>
          </a:prstGeom>
          <a:noFill/>
        </p:spPr>
        <p:txBody>
          <a:bodyPr>
            <a:spAutoFit/>
          </a:bodyPr>
          <a:lstStyle/>
          <a:p>
            <a:pPr algn="ctr">
              <a:defRPr/>
            </a:pPr>
            <a:r>
              <a:rPr lang="en-US" b="1" u="sng" dirty="0">
                <a:uFill>
                  <a:solidFill>
                    <a:srgbClr val="00B050"/>
                  </a:solidFill>
                </a:uFill>
              </a:rPr>
              <a:t>Demanded Market Returns</a:t>
            </a:r>
          </a:p>
        </p:txBody>
      </p:sp>
      <p:sp>
        <p:nvSpPr>
          <p:cNvPr id="6" name="TextBox 5"/>
          <p:cNvSpPr txBox="1"/>
          <p:nvPr/>
        </p:nvSpPr>
        <p:spPr>
          <a:xfrm>
            <a:off x="4191000" y="1981200"/>
            <a:ext cx="1371600" cy="1200150"/>
          </a:xfrm>
          <a:prstGeom prst="rect">
            <a:avLst/>
          </a:prstGeom>
          <a:noFill/>
        </p:spPr>
        <p:txBody>
          <a:bodyPr>
            <a:spAutoFit/>
          </a:bodyPr>
          <a:lstStyle/>
          <a:p>
            <a:pPr algn="ctr">
              <a:defRPr/>
            </a:pPr>
            <a:r>
              <a:rPr lang="en-US" b="1" u="sng" dirty="0">
                <a:uFill>
                  <a:solidFill>
                    <a:srgbClr val="FF0000"/>
                  </a:solidFill>
                </a:uFill>
              </a:rPr>
              <a:t>Demanded Individual Firm Returns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12775" y="228600"/>
            <a:ext cx="8153400" cy="990600"/>
          </a:xfrm>
        </p:spPr>
        <p:txBody>
          <a:bodyPr/>
          <a:lstStyle/>
          <a:p>
            <a:r>
              <a:rPr lang="en-US" smtClean="0"/>
              <a:t>Data collected from:</a:t>
            </a:r>
          </a:p>
        </p:txBody>
      </p:sp>
      <p:sp>
        <p:nvSpPr>
          <p:cNvPr id="32771" name="Rectangle 3"/>
          <p:cNvSpPr>
            <a:spLocks noGrp="1" noChangeArrowheads="1"/>
          </p:cNvSpPr>
          <p:nvPr>
            <p:ph sz="quarter" idx="1"/>
          </p:nvPr>
        </p:nvSpPr>
        <p:spPr>
          <a:xfrm>
            <a:off x="457200" y="1600200"/>
            <a:ext cx="2819400" cy="4525963"/>
          </a:xfrm>
        </p:spPr>
        <p:txBody>
          <a:bodyPr/>
          <a:lstStyle/>
          <a:p>
            <a:pPr>
              <a:lnSpc>
                <a:spcPct val="90000"/>
              </a:lnSpc>
            </a:pPr>
            <a:r>
              <a:rPr lang="en-US" sz="2000" smtClean="0"/>
              <a:t>Apple</a:t>
            </a:r>
          </a:p>
          <a:p>
            <a:pPr>
              <a:lnSpc>
                <a:spcPct val="90000"/>
              </a:lnSpc>
            </a:pPr>
            <a:r>
              <a:rPr lang="en-US" sz="2000" smtClean="0"/>
              <a:t>AT&amp;T</a:t>
            </a:r>
          </a:p>
          <a:p>
            <a:pPr>
              <a:lnSpc>
                <a:spcPct val="90000"/>
              </a:lnSpc>
            </a:pPr>
            <a:r>
              <a:rPr lang="en-US" sz="2000" smtClean="0"/>
              <a:t>Bank of America</a:t>
            </a:r>
          </a:p>
          <a:p>
            <a:pPr>
              <a:lnSpc>
                <a:spcPct val="90000"/>
              </a:lnSpc>
            </a:pPr>
            <a:r>
              <a:rPr lang="en-US" sz="2000" smtClean="0"/>
              <a:t>Bell Atlantic</a:t>
            </a:r>
          </a:p>
          <a:p>
            <a:pPr>
              <a:lnSpc>
                <a:spcPct val="90000"/>
              </a:lnSpc>
            </a:pPr>
            <a:r>
              <a:rPr lang="en-US" sz="2000" smtClean="0"/>
              <a:t>Chase</a:t>
            </a:r>
          </a:p>
          <a:p>
            <a:pPr>
              <a:lnSpc>
                <a:spcPct val="90000"/>
              </a:lnSpc>
            </a:pPr>
            <a:r>
              <a:rPr lang="en-US" sz="2000" smtClean="0"/>
              <a:t>Coca-Cola</a:t>
            </a:r>
          </a:p>
          <a:p>
            <a:pPr>
              <a:lnSpc>
                <a:spcPct val="90000"/>
              </a:lnSpc>
            </a:pPr>
            <a:r>
              <a:rPr lang="en-US" sz="2000" smtClean="0"/>
              <a:t>Compaq</a:t>
            </a:r>
          </a:p>
          <a:p>
            <a:pPr>
              <a:lnSpc>
                <a:spcPct val="90000"/>
              </a:lnSpc>
            </a:pPr>
            <a:r>
              <a:rPr lang="en-US" sz="2000" smtClean="0"/>
              <a:t>Disney</a:t>
            </a:r>
          </a:p>
        </p:txBody>
      </p:sp>
      <p:sp>
        <p:nvSpPr>
          <p:cNvPr id="12292" name="Rectangle 4"/>
          <p:cNvSpPr>
            <a:spLocks noChangeArrowheads="1"/>
          </p:cNvSpPr>
          <p:nvPr/>
        </p:nvSpPr>
        <p:spPr bwMode="auto">
          <a:xfrm>
            <a:off x="2971800" y="1600200"/>
            <a:ext cx="2819400" cy="4525963"/>
          </a:xfrm>
          <a:prstGeom prst="rect">
            <a:avLst/>
          </a:prstGeom>
          <a:noFill/>
          <a:ln w="9525">
            <a:noFill/>
            <a:miter lim="800000"/>
            <a:headEnd/>
            <a:tailEnd/>
          </a:ln>
          <a:effectLst/>
        </p:spPr>
        <p:txBody>
          <a:bodyPr/>
          <a:lstStyle/>
          <a:p>
            <a:pPr marL="342900" indent="-342900">
              <a:lnSpc>
                <a:spcPct val="80000"/>
              </a:lnSpc>
              <a:spcBef>
                <a:spcPct val="20000"/>
              </a:spcBef>
              <a:buFontTx/>
              <a:buChar char="•"/>
              <a:defRPr/>
            </a:pPr>
            <a:r>
              <a:rPr lang="en-US" sz="2000" dirty="0">
                <a:latin typeface="+mn-lt"/>
              </a:rPr>
              <a:t>Ford</a:t>
            </a:r>
          </a:p>
          <a:p>
            <a:pPr marL="342900" indent="-342900">
              <a:lnSpc>
                <a:spcPct val="80000"/>
              </a:lnSpc>
              <a:spcBef>
                <a:spcPct val="20000"/>
              </a:spcBef>
              <a:buFontTx/>
              <a:buChar char="•"/>
              <a:defRPr/>
            </a:pPr>
            <a:r>
              <a:rPr lang="en-US" sz="2000" dirty="0">
                <a:latin typeface="+mn-lt"/>
              </a:rPr>
              <a:t>Exxon</a:t>
            </a:r>
          </a:p>
          <a:p>
            <a:pPr marL="342900" indent="-342900">
              <a:lnSpc>
                <a:spcPct val="80000"/>
              </a:lnSpc>
              <a:spcBef>
                <a:spcPct val="20000"/>
              </a:spcBef>
              <a:buFontTx/>
              <a:buChar char="•"/>
              <a:defRPr/>
            </a:pPr>
            <a:r>
              <a:rPr lang="en-US" sz="2000" dirty="0">
                <a:latin typeface="+mn-lt"/>
              </a:rPr>
              <a:t>GAP</a:t>
            </a:r>
          </a:p>
          <a:p>
            <a:pPr marL="342900" indent="-342900">
              <a:lnSpc>
                <a:spcPct val="80000"/>
              </a:lnSpc>
              <a:spcBef>
                <a:spcPct val="20000"/>
              </a:spcBef>
              <a:buFontTx/>
              <a:buChar char="•"/>
              <a:defRPr/>
            </a:pPr>
            <a:r>
              <a:rPr lang="en-US" sz="2000" dirty="0">
                <a:latin typeface="+mn-lt"/>
              </a:rPr>
              <a:t>General Electric</a:t>
            </a:r>
          </a:p>
          <a:p>
            <a:pPr marL="342900" indent="-342900">
              <a:lnSpc>
                <a:spcPct val="80000"/>
              </a:lnSpc>
              <a:spcBef>
                <a:spcPct val="20000"/>
              </a:spcBef>
              <a:buFontTx/>
              <a:buChar char="•"/>
              <a:defRPr/>
            </a:pPr>
            <a:r>
              <a:rPr lang="en-US" sz="2000" dirty="0">
                <a:latin typeface="+mn-lt"/>
              </a:rPr>
              <a:t>Hewlett Packard</a:t>
            </a:r>
          </a:p>
          <a:p>
            <a:pPr marL="342900" indent="-342900">
              <a:lnSpc>
                <a:spcPct val="80000"/>
              </a:lnSpc>
              <a:spcBef>
                <a:spcPct val="20000"/>
              </a:spcBef>
              <a:buFontTx/>
              <a:buChar char="•"/>
              <a:defRPr/>
            </a:pPr>
            <a:r>
              <a:rPr lang="en-US" sz="2000" dirty="0">
                <a:latin typeface="+mn-lt"/>
              </a:rPr>
              <a:t>IBM</a:t>
            </a:r>
          </a:p>
          <a:p>
            <a:pPr marL="342900" indent="-342900">
              <a:lnSpc>
                <a:spcPct val="80000"/>
              </a:lnSpc>
              <a:spcBef>
                <a:spcPct val="20000"/>
              </a:spcBef>
              <a:buFontTx/>
              <a:buChar char="•"/>
              <a:defRPr/>
            </a:pPr>
            <a:r>
              <a:rPr lang="en-US" sz="2000" dirty="0">
                <a:latin typeface="+mn-lt"/>
              </a:rPr>
              <a:t>Intel</a:t>
            </a:r>
          </a:p>
          <a:p>
            <a:pPr marL="342900" indent="-342900">
              <a:lnSpc>
                <a:spcPct val="80000"/>
              </a:lnSpc>
              <a:spcBef>
                <a:spcPct val="20000"/>
              </a:spcBef>
              <a:buFontTx/>
              <a:buChar char="•"/>
              <a:defRPr/>
            </a:pPr>
            <a:r>
              <a:rPr lang="en-US" sz="2000" dirty="0">
                <a:latin typeface="+mn-lt"/>
              </a:rPr>
              <a:t>Johnson &amp; Johnson</a:t>
            </a:r>
          </a:p>
          <a:p>
            <a:pPr marL="342900" indent="-342900">
              <a:lnSpc>
                <a:spcPct val="80000"/>
              </a:lnSpc>
              <a:spcBef>
                <a:spcPct val="20000"/>
              </a:spcBef>
              <a:buFontTx/>
              <a:buChar char="•"/>
              <a:defRPr/>
            </a:pPr>
            <a:r>
              <a:rPr lang="en-US" sz="2000" dirty="0">
                <a:latin typeface="+mn-lt"/>
              </a:rPr>
              <a:t>JP Morgan</a:t>
            </a:r>
          </a:p>
          <a:p>
            <a:pPr marL="342900" indent="-342900">
              <a:lnSpc>
                <a:spcPct val="80000"/>
              </a:lnSpc>
              <a:spcBef>
                <a:spcPct val="20000"/>
              </a:spcBef>
              <a:buFontTx/>
              <a:buChar char="•"/>
              <a:defRPr/>
            </a:pPr>
            <a:endParaRPr lang="en-US" sz="2000" dirty="0">
              <a:latin typeface="+mn-lt"/>
            </a:endParaRPr>
          </a:p>
        </p:txBody>
      </p:sp>
      <p:sp>
        <p:nvSpPr>
          <p:cNvPr id="12293" name="Rectangle 5"/>
          <p:cNvSpPr>
            <a:spLocks noChangeArrowheads="1"/>
          </p:cNvSpPr>
          <p:nvPr/>
        </p:nvSpPr>
        <p:spPr bwMode="auto">
          <a:xfrm>
            <a:off x="5867400" y="1600200"/>
            <a:ext cx="2819400" cy="4525963"/>
          </a:xfrm>
          <a:prstGeom prst="rect">
            <a:avLst/>
          </a:prstGeom>
          <a:noFill/>
          <a:ln w="9525">
            <a:noFill/>
            <a:miter lim="800000"/>
            <a:headEnd/>
            <a:tailEnd/>
          </a:ln>
          <a:effectLst/>
        </p:spPr>
        <p:txBody>
          <a:bodyPr/>
          <a:lstStyle/>
          <a:p>
            <a:pPr marL="342900" indent="-342900">
              <a:lnSpc>
                <a:spcPct val="80000"/>
              </a:lnSpc>
              <a:spcBef>
                <a:spcPct val="20000"/>
              </a:spcBef>
              <a:buFontTx/>
              <a:buChar char="•"/>
              <a:defRPr/>
            </a:pPr>
            <a:r>
              <a:rPr lang="en-US" sz="2000" dirty="0">
                <a:latin typeface="+mj-lt"/>
              </a:rPr>
              <a:t>McDonald</a:t>
            </a:r>
          </a:p>
          <a:p>
            <a:pPr marL="342900" indent="-342900">
              <a:lnSpc>
                <a:spcPct val="80000"/>
              </a:lnSpc>
              <a:spcBef>
                <a:spcPct val="20000"/>
              </a:spcBef>
              <a:buFontTx/>
              <a:buChar char="•"/>
              <a:defRPr/>
            </a:pPr>
            <a:r>
              <a:rPr lang="en-US" sz="2000" dirty="0">
                <a:latin typeface="+mj-lt"/>
              </a:rPr>
              <a:t>Merck</a:t>
            </a:r>
          </a:p>
          <a:p>
            <a:pPr marL="342900" indent="-342900">
              <a:lnSpc>
                <a:spcPct val="80000"/>
              </a:lnSpc>
              <a:spcBef>
                <a:spcPct val="20000"/>
              </a:spcBef>
              <a:buFontTx/>
              <a:buChar char="•"/>
              <a:defRPr/>
            </a:pPr>
            <a:r>
              <a:rPr lang="en-US" sz="2000" dirty="0">
                <a:latin typeface="+mj-lt"/>
              </a:rPr>
              <a:t>Microsoft</a:t>
            </a:r>
          </a:p>
          <a:p>
            <a:pPr marL="342900" indent="-342900">
              <a:lnSpc>
                <a:spcPct val="80000"/>
              </a:lnSpc>
              <a:spcBef>
                <a:spcPct val="20000"/>
              </a:spcBef>
              <a:buFontTx/>
              <a:buChar char="•"/>
              <a:defRPr/>
            </a:pPr>
            <a:r>
              <a:rPr lang="en-US" sz="2000" dirty="0">
                <a:latin typeface="+mj-lt"/>
              </a:rPr>
              <a:t>Motorola</a:t>
            </a:r>
          </a:p>
          <a:p>
            <a:pPr marL="342900" indent="-342900">
              <a:lnSpc>
                <a:spcPct val="80000"/>
              </a:lnSpc>
              <a:spcBef>
                <a:spcPct val="20000"/>
              </a:spcBef>
              <a:buFontTx/>
              <a:buChar char="•"/>
              <a:defRPr/>
            </a:pPr>
            <a:r>
              <a:rPr lang="en-US" sz="2000" dirty="0">
                <a:latin typeface="+mj-lt"/>
              </a:rPr>
              <a:t>Nordstrom</a:t>
            </a:r>
          </a:p>
          <a:p>
            <a:pPr marL="342900" indent="-342900">
              <a:lnSpc>
                <a:spcPct val="80000"/>
              </a:lnSpc>
              <a:spcBef>
                <a:spcPct val="20000"/>
              </a:spcBef>
              <a:buFontTx/>
              <a:buChar char="•"/>
              <a:defRPr/>
            </a:pPr>
            <a:r>
              <a:rPr lang="en-US" sz="2000" dirty="0">
                <a:latin typeface="+mj-lt"/>
              </a:rPr>
              <a:t>Sears</a:t>
            </a:r>
          </a:p>
          <a:p>
            <a:pPr marL="342900" indent="-342900">
              <a:lnSpc>
                <a:spcPct val="80000"/>
              </a:lnSpc>
              <a:spcBef>
                <a:spcPct val="20000"/>
              </a:spcBef>
              <a:buFontTx/>
              <a:buChar char="•"/>
              <a:defRPr/>
            </a:pPr>
            <a:r>
              <a:rPr lang="en-US" sz="2000" dirty="0">
                <a:latin typeface="+mj-lt"/>
              </a:rPr>
              <a:t>Sun</a:t>
            </a:r>
          </a:p>
          <a:p>
            <a:pPr marL="342900" indent="-342900">
              <a:lnSpc>
                <a:spcPct val="80000"/>
              </a:lnSpc>
              <a:spcBef>
                <a:spcPct val="20000"/>
              </a:spcBef>
              <a:buFontTx/>
              <a:buChar char="•"/>
              <a:defRPr/>
            </a:pPr>
            <a:r>
              <a:rPr lang="en-US" sz="2000" dirty="0">
                <a:latin typeface="+mj-lt"/>
              </a:rPr>
              <a:t>Time Warner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12775" y="228600"/>
            <a:ext cx="8153400" cy="990600"/>
          </a:xfrm>
        </p:spPr>
        <p:txBody>
          <a:bodyPr/>
          <a:lstStyle/>
          <a:p>
            <a:r>
              <a:rPr lang="en-US" sz="4000" smtClean="0"/>
              <a:t>Known:</a:t>
            </a:r>
          </a:p>
        </p:txBody>
      </p:sp>
      <p:sp>
        <p:nvSpPr>
          <p:cNvPr id="4099" name="Rectangle 3"/>
          <p:cNvSpPr>
            <a:spLocks noGrp="1" noChangeArrowheads="1"/>
          </p:cNvSpPr>
          <p:nvPr>
            <p:ph sz="quarter" idx="1"/>
          </p:nvPr>
        </p:nvSpPr>
        <p:spPr>
          <a:xfrm>
            <a:off x="612775" y="1600200"/>
            <a:ext cx="8153400" cy="4495800"/>
          </a:xfrm>
        </p:spPr>
        <p:txBody>
          <a:bodyPr>
            <a:normAutofit fontScale="92500" lnSpcReduction="20000"/>
          </a:bodyPr>
          <a:lstStyle/>
          <a:p>
            <a:pPr marL="609600" indent="-609600" fontAlgn="auto">
              <a:spcAft>
                <a:spcPts val="0"/>
              </a:spcAft>
              <a:buFont typeface="Wingdings"/>
              <a:buChar char=""/>
              <a:defRPr/>
            </a:pPr>
            <a:r>
              <a:rPr lang="en-US" sz="2400" dirty="0">
                <a:latin typeface="Times New Roman" pitchFamily="18" charset="0"/>
                <a:cs typeface="Times New Roman" pitchFamily="18" charset="0"/>
              </a:rPr>
              <a:t>Volatility tends to rise following negative returns and fall following positive </a:t>
            </a:r>
            <a:r>
              <a:rPr lang="en-US" sz="2400" dirty="0" smtClean="0">
                <a:latin typeface="Times New Roman" pitchFamily="18" charset="0"/>
                <a:cs typeface="Times New Roman" pitchFamily="18" charset="0"/>
              </a:rPr>
              <a:t>returns</a:t>
            </a:r>
          </a:p>
          <a:p>
            <a:pPr marL="609600" indent="-609600" fontAlgn="auto">
              <a:spcAft>
                <a:spcPts val="0"/>
              </a:spcAft>
              <a:buFont typeface="Wingdings"/>
              <a:buChar char=""/>
              <a:defRPr/>
            </a:pPr>
            <a:endParaRPr lang="en-US" sz="2400" dirty="0" smtClean="0">
              <a:latin typeface="Times New Roman" pitchFamily="18" charset="0"/>
              <a:cs typeface="Times New Roman" pitchFamily="18" charset="0"/>
            </a:endParaRPr>
          </a:p>
          <a:p>
            <a:pPr marL="609600" indent="-609600" fontAlgn="auto">
              <a:spcAft>
                <a:spcPts val="0"/>
              </a:spcAft>
              <a:buFont typeface="Wingdings"/>
              <a:buChar char=""/>
              <a:defRPr/>
            </a:pPr>
            <a:r>
              <a:rPr lang="en-US" sz="2400" dirty="0" smtClean="0">
                <a:latin typeface="Times New Roman" pitchFamily="18" charset="0"/>
                <a:cs typeface="Times New Roman" pitchFamily="18" charset="0"/>
              </a:rPr>
              <a:t>The asymmetric effect of news on volatility has been addressed in terms of two mechanisms: </a:t>
            </a:r>
          </a:p>
          <a:p>
            <a:pPr marL="990600" lvl="1" indent="-533400" fontAlgn="auto">
              <a:spcAft>
                <a:spcPts val="0"/>
              </a:spcAft>
              <a:buFontTx/>
              <a:buAutoNum type="arabicPeriod"/>
              <a:defRPr/>
            </a:pPr>
            <a:r>
              <a:rPr lang="en-US" sz="2400" b="1" dirty="0" smtClean="0">
                <a:solidFill>
                  <a:srgbClr val="FF0000"/>
                </a:solidFill>
                <a:latin typeface="Times New Roman" pitchFamily="18" charset="0"/>
                <a:cs typeface="Times New Roman" pitchFamily="18" charset="0"/>
              </a:rPr>
              <a:t>Financial and operational leverage </a:t>
            </a:r>
          </a:p>
          <a:p>
            <a:pPr marL="990600" lvl="1" indent="-533400" fontAlgn="auto">
              <a:spcAft>
                <a:spcPts val="0"/>
              </a:spcAft>
              <a:buFontTx/>
              <a:buAutoNum type="arabicPeriod"/>
              <a:defRPr/>
            </a:pPr>
            <a:r>
              <a:rPr lang="en-US" sz="2400" b="1" dirty="0" smtClean="0">
                <a:solidFill>
                  <a:srgbClr val="00B050"/>
                </a:solidFill>
                <a:latin typeface="Times New Roman" pitchFamily="18" charset="0"/>
                <a:cs typeface="Times New Roman" pitchFamily="18" charset="0"/>
              </a:rPr>
              <a:t>Determinants of market risk premium</a:t>
            </a:r>
          </a:p>
          <a:p>
            <a:pPr marL="609600" indent="-609600" fontAlgn="auto">
              <a:spcAft>
                <a:spcPts val="0"/>
              </a:spcAft>
              <a:buFont typeface="Wingdings"/>
              <a:buChar char=""/>
              <a:defRPr/>
            </a:pPr>
            <a:endParaRPr lang="en-US" sz="2400" b="1" dirty="0" smtClean="0">
              <a:latin typeface="Times New Roman" pitchFamily="18" charset="0"/>
              <a:cs typeface="Times New Roman" pitchFamily="18" charset="0"/>
            </a:endParaRPr>
          </a:p>
          <a:p>
            <a:pPr marL="609600" indent="-609600" fontAlgn="auto">
              <a:spcAft>
                <a:spcPts val="0"/>
              </a:spcAft>
              <a:buFont typeface="Wingdings"/>
              <a:buChar char=""/>
              <a:defRPr/>
            </a:pPr>
            <a:r>
              <a:rPr lang="en-US" sz="2400" dirty="0" smtClean="0">
                <a:latin typeface="Times New Roman" pitchFamily="18" charset="0"/>
                <a:cs typeface="Times New Roman" pitchFamily="18" charset="0"/>
              </a:rPr>
              <a:t>All firms stock beta’s are affected from at least one of these two market forces.  This leaves three models:</a:t>
            </a:r>
          </a:p>
          <a:p>
            <a:pPr marL="929640" lvl="1" indent="-609600" fontAlgn="auto">
              <a:spcAft>
                <a:spcPts val="0"/>
              </a:spcAft>
              <a:buFont typeface="Wingdings 2"/>
              <a:buChar char=""/>
              <a:defRPr/>
            </a:pPr>
            <a:r>
              <a:rPr lang="en-US" sz="2100" u="sng" dirty="0" smtClean="0">
                <a:uFill>
                  <a:solidFill>
                    <a:srgbClr val="FF0000"/>
                  </a:solidFill>
                </a:uFill>
                <a:latin typeface="Times New Roman" pitchFamily="18" charset="0"/>
                <a:cs typeface="Times New Roman" pitchFamily="18" charset="0"/>
              </a:rPr>
              <a:t>Idiosyncratic Model</a:t>
            </a:r>
          </a:p>
          <a:p>
            <a:pPr marL="929640" lvl="1" indent="-609600" fontAlgn="auto">
              <a:spcAft>
                <a:spcPts val="0"/>
              </a:spcAft>
              <a:buFont typeface="Wingdings 2"/>
              <a:buChar char=""/>
              <a:defRPr/>
            </a:pPr>
            <a:r>
              <a:rPr lang="en-US" sz="2100" u="sng" dirty="0" smtClean="0">
                <a:uFill>
                  <a:solidFill>
                    <a:srgbClr val="00B050"/>
                  </a:solidFill>
                </a:uFill>
                <a:latin typeface="Times New Roman" pitchFamily="18" charset="0"/>
                <a:cs typeface="Times New Roman" pitchFamily="18" charset="0"/>
              </a:rPr>
              <a:t>Market Model</a:t>
            </a:r>
          </a:p>
          <a:p>
            <a:pPr marL="929640" lvl="1" indent="-609600" fontAlgn="auto">
              <a:spcAft>
                <a:spcPts val="0"/>
              </a:spcAft>
              <a:buFont typeface="Wingdings 2"/>
              <a:buChar char=""/>
              <a:defRPr/>
            </a:pPr>
            <a:r>
              <a:rPr lang="en-US" sz="2100" dirty="0" smtClean="0">
                <a:latin typeface="Times New Roman" pitchFamily="18" charset="0"/>
                <a:cs typeface="Times New Roman" pitchFamily="18" charset="0"/>
              </a:rPr>
              <a:t>Joint Model</a:t>
            </a:r>
          </a:p>
          <a:p>
            <a:pPr marL="609600" indent="-609600" fontAlgn="auto">
              <a:spcAft>
                <a:spcPts val="0"/>
              </a:spcAft>
              <a:buFont typeface="Wingdings"/>
              <a:buChar char=""/>
              <a:defRPr/>
            </a:pPr>
            <a:endParaRPr lang="en-US" sz="2400" dirty="0" smtClean="0">
              <a:latin typeface="Times New Roman" pitchFamily="18" charset="0"/>
              <a:cs typeface="Times New Roman" pitchFamily="18" charset="0"/>
            </a:endParaRPr>
          </a:p>
          <a:p>
            <a:pPr marL="990600" lvl="1" indent="-533400" fontAlgn="auto">
              <a:spcAft>
                <a:spcPts val="0"/>
              </a:spcAft>
              <a:buFontTx/>
              <a:buAutoNum type="arabicPeriod"/>
              <a:defRPr/>
            </a:pPr>
            <a:endParaRPr lang="en-US" sz="2400" b="1" dirty="0" smtClean="0">
              <a:solidFill>
                <a:srgbClr val="00B050"/>
              </a:solidFill>
              <a:latin typeface="Times New Roman" pitchFamily="18" charset="0"/>
              <a:cs typeface="Times New Roman" pitchFamily="18" charset="0"/>
            </a:endParaRPr>
          </a:p>
          <a:p>
            <a:pPr marL="990600" lvl="1" indent="-533400" fontAlgn="auto">
              <a:spcAft>
                <a:spcPts val="0"/>
              </a:spcAft>
              <a:buFont typeface="Wingdings 2"/>
              <a:buNone/>
              <a:defRPr/>
            </a:pPr>
            <a:endParaRPr lang="en-US" sz="2400" b="1" dirty="0" smtClean="0">
              <a:solidFill>
                <a:srgbClr val="00B05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12775" y="228600"/>
            <a:ext cx="8153400" cy="990600"/>
          </a:xfrm>
        </p:spPr>
        <p:txBody>
          <a:bodyPr/>
          <a:lstStyle/>
          <a:p>
            <a:r>
              <a:rPr lang="en-US" sz="3200" b="1" smtClean="0">
                <a:solidFill>
                  <a:srgbClr val="FF0000"/>
                </a:solidFill>
              </a:rPr>
              <a:t>1. </a:t>
            </a:r>
            <a:r>
              <a:rPr lang="en-US" sz="3200" u="sng" smtClean="0">
                <a:solidFill>
                  <a:srgbClr val="FF0000"/>
                </a:solidFill>
              </a:rPr>
              <a:t>Leverage Effect</a:t>
            </a:r>
            <a:endParaRPr lang="en-US" sz="3200" smtClean="0">
              <a:solidFill>
                <a:srgbClr val="FF0000"/>
              </a:solidFill>
            </a:endParaRPr>
          </a:p>
        </p:txBody>
      </p:sp>
      <p:sp>
        <p:nvSpPr>
          <p:cNvPr id="34819" name="Rectangle 3"/>
          <p:cNvSpPr>
            <a:spLocks noGrp="1" noChangeArrowheads="1"/>
          </p:cNvSpPr>
          <p:nvPr>
            <p:ph sz="quarter" idx="1"/>
          </p:nvPr>
        </p:nvSpPr>
        <p:spPr>
          <a:xfrm>
            <a:off x="612775" y="1600200"/>
            <a:ext cx="8153400" cy="4495800"/>
          </a:xfrm>
        </p:spPr>
        <p:txBody>
          <a:bodyPr/>
          <a:lstStyle/>
          <a:p>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If the value of a leveraged firm drops, then its equity becomes more highly leveraged.</a:t>
            </a:r>
          </a:p>
          <a:p>
            <a:pPr>
              <a:buFont typeface="Wingdings" pitchFamily="2" charset="2"/>
              <a:buNone/>
            </a:pPr>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This causes an increase in volatility.</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12775" y="228600"/>
            <a:ext cx="8153400" cy="990600"/>
          </a:xfrm>
        </p:spPr>
        <p:txBody>
          <a:bodyPr/>
          <a:lstStyle/>
          <a:p>
            <a:r>
              <a:rPr lang="en-US" sz="3200" b="1" smtClean="0">
                <a:solidFill>
                  <a:srgbClr val="00B050"/>
                </a:solidFill>
              </a:rPr>
              <a:t>2. </a:t>
            </a:r>
            <a:r>
              <a:rPr lang="en-US" sz="3200" u="sng" smtClean="0">
                <a:solidFill>
                  <a:srgbClr val="00B050"/>
                </a:solidFill>
              </a:rPr>
              <a:t>Market Risk Premium</a:t>
            </a:r>
          </a:p>
        </p:txBody>
      </p:sp>
      <p:sp>
        <p:nvSpPr>
          <p:cNvPr id="7171" name="Rectangle 3"/>
          <p:cNvSpPr>
            <a:spLocks noGrp="1" noChangeArrowheads="1"/>
          </p:cNvSpPr>
          <p:nvPr>
            <p:ph sz="quarter" idx="1"/>
          </p:nvPr>
        </p:nvSpPr>
        <p:spPr>
          <a:xfrm>
            <a:off x="612775" y="1600200"/>
            <a:ext cx="8153400" cy="4495800"/>
          </a:xfrm>
        </p:spPr>
        <p:txBody>
          <a:bodyPr>
            <a:normAutofit lnSpcReduction="10000"/>
          </a:bodyPr>
          <a:lstStyle/>
          <a:p>
            <a:pPr marL="320040" indent="-320040" fontAlgn="auto">
              <a:spcAft>
                <a:spcPts val="0"/>
              </a:spcAft>
              <a:buFont typeface="Wingdings"/>
              <a:buChar char=""/>
              <a:defRPr/>
            </a:pP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r>
              <a:rPr lang="en-US" dirty="0" smtClean="0">
                <a:latin typeface="Times New Roman" pitchFamily="18" charset="0"/>
                <a:cs typeface="Times New Roman" pitchFamily="18" charset="0"/>
              </a:rPr>
              <a:t>Expected </a:t>
            </a:r>
            <a:r>
              <a:rPr lang="en-US" dirty="0">
                <a:latin typeface="Times New Roman" pitchFamily="18" charset="0"/>
                <a:cs typeface="Times New Roman" pitchFamily="18" charset="0"/>
              </a:rPr>
              <a:t>market risk premium is an increasing function of market volatility</a:t>
            </a:r>
            <a:r>
              <a:rPr lang="en-US" dirty="0" smtClean="0">
                <a:latin typeface="Times New Roman" pitchFamily="18" charset="0"/>
                <a:cs typeface="Times New Roman" pitchFamily="18" charset="0"/>
              </a:rPr>
              <a:t>.</a:t>
            </a:r>
          </a:p>
          <a:p>
            <a:pPr marL="320040" indent="-320040" fontAlgn="auto">
              <a:spcAft>
                <a:spcPts val="0"/>
              </a:spcAft>
              <a:buFont typeface="Wingdings"/>
              <a:buChar char=""/>
              <a:defRPr/>
            </a:pPr>
            <a:endParaRPr lang="en-US" dirty="0">
              <a:latin typeface="Times New Roman" pitchFamily="18" charset="0"/>
              <a:cs typeface="Times New Roman" pitchFamily="18" charset="0"/>
            </a:endParaRPr>
          </a:p>
          <a:p>
            <a:pPr marL="320040" indent="-320040" fontAlgn="auto">
              <a:spcAft>
                <a:spcPts val="0"/>
              </a:spcAft>
              <a:buFont typeface="Wingdings"/>
              <a:buChar char=""/>
              <a:defRPr/>
            </a:pPr>
            <a:r>
              <a:rPr lang="en-US" dirty="0">
                <a:latin typeface="Times New Roman" pitchFamily="18" charset="0"/>
                <a:cs typeface="Times New Roman" pitchFamily="18" charset="0"/>
              </a:rPr>
              <a:t>An increase in market volatility implies a increase in expected return </a:t>
            </a: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endParaRPr lang="en-US" dirty="0" smtClean="0">
              <a:latin typeface="Times New Roman" pitchFamily="18" charset="0"/>
              <a:cs typeface="Times New Roman" pitchFamily="18" charset="0"/>
            </a:endParaRPr>
          </a:p>
          <a:p>
            <a:pPr marL="320040" indent="-320040" fontAlgn="auto">
              <a:spcAft>
                <a:spcPts val="0"/>
              </a:spcAft>
              <a:buFont typeface="Wingdings"/>
              <a:buChar char=""/>
              <a:defRPr/>
            </a:pPr>
            <a:r>
              <a:rPr lang="en-US" dirty="0" smtClean="0">
                <a:latin typeface="Times New Roman" pitchFamily="18" charset="0"/>
                <a:cs typeface="Times New Roman" pitchFamily="18" charset="0"/>
              </a:rPr>
              <a:t>This lowers </a:t>
            </a:r>
            <a:r>
              <a:rPr lang="en-US" dirty="0">
                <a:latin typeface="Times New Roman" pitchFamily="18" charset="0"/>
                <a:cs typeface="Times New Roman" pitchFamily="18" charset="0"/>
              </a:rPr>
              <a:t>the stock price, contributing to the asymmetric effect in volatility</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srcRect l="20824" t="30508" r="43159" b="59322"/>
          <a:stretch>
            <a:fillRect/>
          </a:stretch>
        </p:blipFill>
        <p:spPr bwMode="auto">
          <a:xfrm>
            <a:off x="76200" y="5029200"/>
            <a:ext cx="9067800" cy="1600200"/>
          </a:xfrm>
          <a:prstGeom prst="rect">
            <a:avLst/>
          </a:prstGeom>
          <a:noFill/>
          <a:ln w="9525">
            <a:noFill/>
            <a:miter lim="800000"/>
            <a:headEnd/>
            <a:tailEnd/>
          </a:ln>
        </p:spPr>
      </p:pic>
      <p:sp>
        <p:nvSpPr>
          <p:cNvPr id="36867" name="Title 1"/>
          <p:cNvSpPr>
            <a:spLocks noGrp="1"/>
          </p:cNvSpPr>
          <p:nvPr>
            <p:ph type="title"/>
          </p:nvPr>
        </p:nvSpPr>
        <p:spPr>
          <a:xfrm>
            <a:off x="612775" y="228600"/>
            <a:ext cx="8153400" cy="990600"/>
          </a:xfrm>
        </p:spPr>
        <p:txBody>
          <a:bodyPr/>
          <a:lstStyle/>
          <a:p>
            <a:r>
              <a:rPr lang="en-US" smtClean="0"/>
              <a:t>Estimating Beta</a:t>
            </a:r>
          </a:p>
        </p:txBody>
      </p:sp>
      <p:sp>
        <p:nvSpPr>
          <p:cNvPr id="6" name="Content Placeholder 5"/>
          <p:cNvSpPr>
            <a:spLocks noGrp="1"/>
          </p:cNvSpPr>
          <p:nvPr>
            <p:ph sz="quarter" idx="1"/>
          </p:nvPr>
        </p:nvSpPr>
        <p:spPr>
          <a:xfrm>
            <a:off x="612775" y="1600200"/>
            <a:ext cx="8153400" cy="3429000"/>
          </a:xfrm>
        </p:spPr>
        <p:txBody>
          <a:bodyPr>
            <a:normAutofit fontScale="77500" lnSpcReduction="20000"/>
          </a:bodyPr>
          <a:lstStyle/>
          <a:p>
            <a:pPr marL="320040" indent="-320040" fontAlgn="auto">
              <a:spcAft>
                <a:spcPts val="0"/>
              </a:spcAft>
              <a:buFont typeface="Arial" pitchFamily="34" charset="0"/>
              <a:buChar char="•"/>
              <a:defRPr/>
            </a:pPr>
            <a:r>
              <a:rPr lang="en-US" sz="3200" dirty="0" smtClean="0"/>
              <a:t>The individual firms effects </a:t>
            </a:r>
            <a:r>
              <a:rPr lang="en-US" sz="3200" dirty="0" smtClean="0">
                <a:solidFill>
                  <a:srgbClr val="FF0000"/>
                </a:solidFill>
              </a:rPr>
              <a:t>(</a:t>
            </a:r>
            <a:r>
              <a:rPr lang="en-US" sz="3200" dirty="0" err="1" smtClean="0">
                <a:solidFill>
                  <a:srgbClr val="FF0000"/>
                </a:solidFill>
              </a:rPr>
              <a:t>i</a:t>
            </a:r>
            <a:r>
              <a:rPr lang="en-US" sz="3200" dirty="0" smtClean="0">
                <a:solidFill>
                  <a:srgbClr val="FF0000"/>
                </a:solidFill>
              </a:rPr>
              <a:t>)</a:t>
            </a:r>
            <a:r>
              <a:rPr lang="en-US" sz="3200" dirty="0" smtClean="0"/>
              <a:t> and the Market effects</a:t>
            </a:r>
            <a:r>
              <a:rPr lang="en-US" sz="3200" dirty="0" smtClean="0">
                <a:solidFill>
                  <a:srgbClr val="00B050"/>
                </a:solidFill>
              </a:rPr>
              <a:t>, (m) </a:t>
            </a:r>
            <a:r>
              <a:rPr lang="en-US" sz="3200" dirty="0" smtClean="0"/>
              <a:t>terms allow for leverage effects in the conditional betas </a:t>
            </a:r>
          </a:p>
          <a:p>
            <a:pPr marL="640080" lvl="1" indent="-274320" fontAlgn="auto">
              <a:spcAft>
                <a:spcPts val="0"/>
              </a:spcAft>
              <a:buFont typeface="Arial" pitchFamily="34" charset="0"/>
              <a:buChar char="•"/>
              <a:defRPr/>
            </a:pPr>
            <a:r>
              <a:rPr lang="en-US" dirty="0" smtClean="0"/>
              <a:t>Suggested by Chan (1988) and Ball and Kothari (1989).</a:t>
            </a:r>
          </a:p>
          <a:p>
            <a:pPr marL="640080" lvl="1" indent="-274320" fontAlgn="auto">
              <a:spcAft>
                <a:spcPts val="0"/>
              </a:spcAft>
              <a:buFont typeface="Arial" pitchFamily="34" charset="0"/>
              <a:buChar char="•"/>
              <a:defRPr/>
            </a:pPr>
            <a:endParaRPr lang="en-US" dirty="0" smtClean="0"/>
          </a:p>
          <a:p>
            <a:pPr marL="320040" indent="-320040" fontAlgn="auto">
              <a:spcAft>
                <a:spcPts val="0"/>
              </a:spcAft>
              <a:buFont typeface="Arial" pitchFamily="34" charset="0"/>
              <a:buChar char="•"/>
              <a:defRPr/>
            </a:pPr>
            <a:r>
              <a:rPr lang="en-US" sz="3200" dirty="0" smtClean="0"/>
              <a:t>If </a:t>
            </a:r>
            <a:r>
              <a:rPr lang="en-US" sz="3200" dirty="0" smtClean="0">
                <a:solidFill>
                  <a:srgbClr val="FF0000"/>
                </a:solidFill>
              </a:rPr>
              <a:t>(</a:t>
            </a:r>
            <a:r>
              <a:rPr lang="en-US" sz="3200" dirty="0" err="1" smtClean="0">
                <a:solidFill>
                  <a:srgbClr val="FF0000"/>
                </a:solidFill>
              </a:rPr>
              <a:t>i</a:t>
            </a:r>
            <a:r>
              <a:rPr lang="en-US" sz="3200" dirty="0" smtClean="0">
                <a:solidFill>
                  <a:srgbClr val="FF0000"/>
                </a:solidFill>
              </a:rPr>
              <a:t>) </a:t>
            </a:r>
            <a:r>
              <a:rPr lang="en-US" sz="3200" dirty="0" smtClean="0"/>
              <a:t>is negative, the conditional beta rises in response to negative idiosyncratic returns (non-market returns) and drops in response to positive idiosyncratic returns. </a:t>
            </a:r>
          </a:p>
          <a:p>
            <a:pPr marL="320040" indent="-320040" fontAlgn="auto">
              <a:spcAft>
                <a:spcPts val="0"/>
              </a:spcAft>
              <a:buFont typeface="Arial" pitchFamily="34" charset="0"/>
              <a:buChar char="•"/>
              <a:defRPr/>
            </a:pPr>
            <a:r>
              <a:rPr lang="en-US" sz="3200" dirty="0" smtClean="0"/>
              <a:t>Similarly, if </a:t>
            </a:r>
            <a:r>
              <a:rPr lang="en-US" sz="3200" dirty="0" smtClean="0">
                <a:solidFill>
                  <a:srgbClr val="00B050"/>
                </a:solidFill>
              </a:rPr>
              <a:t>(m)</a:t>
            </a:r>
            <a:r>
              <a:rPr lang="en-US" sz="3200" dirty="0" smtClean="0"/>
              <a:t> is negative, the conditional beta rises in response to negative market returns and drops in response to positive market returns.</a:t>
            </a:r>
          </a:p>
          <a:p>
            <a:pPr marL="320040" indent="-320040" fontAlgn="auto">
              <a:spcAft>
                <a:spcPts val="0"/>
              </a:spcAft>
              <a:buFont typeface="Wingdings"/>
              <a:buChar char=""/>
              <a:defRPr/>
            </a:pPr>
            <a:endParaRPr lang="en-US" dirty="0"/>
          </a:p>
        </p:txBody>
      </p:sp>
      <p:sp>
        <p:nvSpPr>
          <p:cNvPr id="8" name="Oval 7"/>
          <p:cNvSpPr/>
          <p:nvPr/>
        </p:nvSpPr>
        <p:spPr>
          <a:xfrm>
            <a:off x="4876800" y="5410200"/>
            <a:ext cx="1447800" cy="7620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Oval 8"/>
          <p:cNvSpPr/>
          <p:nvPr/>
        </p:nvSpPr>
        <p:spPr>
          <a:xfrm>
            <a:off x="6400800" y="5410200"/>
            <a:ext cx="1447800" cy="7620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3"/>
          <p:cNvPicPr>
            <a:picLocks noChangeAspect="1" noChangeArrowheads="1"/>
          </p:cNvPicPr>
          <p:nvPr/>
        </p:nvPicPr>
        <p:blipFill>
          <a:blip r:embed="rId3"/>
          <a:srcRect l="18124" t="28000" r="33125" b="53000"/>
          <a:stretch>
            <a:fillRect/>
          </a:stretch>
        </p:blipFill>
        <p:spPr bwMode="auto">
          <a:xfrm>
            <a:off x="228600" y="2514600"/>
            <a:ext cx="8758238" cy="2133600"/>
          </a:xfrm>
          <a:prstGeom prst="rect">
            <a:avLst/>
          </a:prstGeom>
          <a:noFill/>
          <a:ln w="9525">
            <a:noFill/>
            <a:miter lim="800000"/>
            <a:headEnd/>
            <a:tailEnd/>
          </a:ln>
        </p:spPr>
      </p:pic>
      <p:sp>
        <p:nvSpPr>
          <p:cNvPr id="37891" name="Title 1"/>
          <p:cNvSpPr>
            <a:spLocks noGrp="1"/>
          </p:cNvSpPr>
          <p:nvPr>
            <p:ph type="title"/>
          </p:nvPr>
        </p:nvSpPr>
        <p:spPr>
          <a:xfrm>
            <a:off x="612775" y="228600"/>
            <a:ext cx="8153400" cy="990600"/>
          </a:xfrm>
        </p:spPr>
        <p:txBody>
          <a:bodyPr/>
          <a:lstStyle/>
          <a:p>
            <a:r>
              <a:rPr lang="en-US" smtClean="0"/>
              <a:t>Multiple Models</a:t>
            </a:r>
          </a:p>
        </p:txBody>
      </p:sp>
      <p:sp>
        <p:nvSpPr>
          <p:cNvPr id="37892" name="Content Placeholder 2"/>
          <p:cNvSpPr>
            <a:spLocks noGrp="1"/>
          </p:cNvSpPr>
          <p:nvPr>
            <p:ph sz="quarter" idx="1"/>
          </p:nvPr>
        </p:nvSpPr>
        <p:spPr>
          <a:xfrm>
            <a:off x="533400" y="1676400"/>
            <a:ext cx="8153400" cy="4495800"/>
          </a:xfrm>
        </p:spPr>
        <p:txBody>
          <a:bodyPr/>
          <a:lstStyle/>
          <a:p>
            <a:r>
              <a:rPr lang="en-US" smtClean="0"/>
              <a:t>The same estimator applies to all models</a:t>
            </a:r>
          </a:p>
        </p:txBody>
      </p:sp>
      <p:sp>
        <p:nvSpPr>
          <p:cNvPr id="6" name="Oval 5"/>
          <p:cNvSpPr/>
          <p:nvPr/>
        </p:nvSpPr>
        <p:spPr>
          <a:xfrm>
            <a:off x="6400800" y="2590800"/>
            <a:ext cx="1066800" cy="6096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Oval 9"/>
          <p:cNvSpPr/>
          <p:nvPr/>
        </p:nvSpPr>
        <p:spPr>
          <a:xfrm>
            <a:off x="6477000" y="3276600"/>
            <a:ext cx="1066800" cy="609600"/>
          </a:xfrm>
          <a:prstGeom prst="ellipse">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Oval 10"/>
          <p:cNvSpPr/>
          <p:nvPr/>
        </p:nvSpPr>
        <p:spPr>
          <a:xfrm>
            <a:off x="6553200" y="3962400"/>
            <a:ext cx="1066800" cy="6096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00B050"/>
              </a:solidFill>
            </a:endParaRPr>
          </a:p>
        </p:txBody>
      </p:sp>
      <p:sp>
        <p:nvSpPr>
          <p:cNvPr id="12" name="Oval 11"/>
          <p:cNvSpPr/>
          <p:nvPr/>
        </p:nvSpPr>
        <p:spPr>
          <a:xfrm>
            <a:off x="7620000" y="2590800"/>
            <a:ext cx="1143000" cy="609600"/>
          </a:xfrm>
          <a:prstGeom prst="ellipse">
            <a:avLst/>
          </a:prstGeom>
          <a:noFill/>
          <a:ln w="666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457200" y="3733800"/>
            <a:ext cx="2057400" cy="15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57200" y="4418013"/>
            <a:ext cx="1600200" cy="1587"/>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12775" y="228600"/>
            <a:ext cx="8153400" cy="990600"/>
          </a:xfrm>
        </p:spPr>
        <p:txBody>
          <a:bodyPr/>
          <a:lstStyle/>
          <a:p>
            <a:r>
              <a:rPr lang="en-US" sz="4000" smtClean="0"/>
              <a:t>What this shows:</a:t>
            </a:r>
          </a:p>
        </p:txBody>
      </p:sp>
      <p:sp>
        <p:nvSpPr>
          <p:cNvPr id="38915" name="Rectangle 3"/>
          <p:cNvSpPr>
            <a:spLocks noGrp="1" noChangeArrowheads="1"/>
          </p:cNvSpPr>
          <p:nvPr>
            <p:ph sz="quarter" idx="1"/>
          </p:nvPr>
        </p:nvSpPr>
        <p:spPr>
          <a:xfrm>
            <a:off x="612775" y="1600200"/>
            <a:ext cx="8153400" cy="4495800"/>
          </a:xfrm>
        </p:spPr>
        <p:txBody>
          <a:bodyPr/>
          <a:lstStyle/>
          <a:p>
            <a:pPr>
              <a:lnSpc>
                <a:spcPct val="90000"/>
              </a:lnSpc>
            </a:pPr>
            <a:r>
              <a:rPr lang="en-US" sz="2400" smtClean="0">
                <a:latin typeface="Times New Roman" pitchFamily="18" charset="0"/>
                <a:cs typeface="Times New Roman" pitchFamily="18" charset="0"/>
              </a:rPr>
              <a:t>This evidence implies a way of explaining a time-varying beta</a:t>
            </a:r>
          </a:p>
          <a:p>
            <a:pPr>
              <a:lnSpc>
                <a:spcPct val="90000"/>
              </a:lnSpc>
            </a:pPr>
            <a:endParaRPr lang="en-US" sz="2400" smtClean="0">
              <a:latin typeface="Times New Roman" pitchFamily="18" charset="0"/>
              <a:cs typeface="Times New Roman" pitchFamily="18" charset="0"/>
            </a:endParaRPr>
          </a:p>
          <a:p>
            <a:pPr>
              <a:lnSpc>
                <a:spcPct val="90000"/>
              </a:lnSpc>
            </a:pPr>
            <a:r>
              <a:rPr lang="en-US" sz="2400" smtClean="0">
                <a:latin typeface="Times New Roman" pitchFamily="18" charset="0"/>
                <a:cs typeface="Times New Roman" pitchFamily="18" charset="0"/>
              </a:rPr>
              <a:t>If the risk premium is an increasing function of the volatility, and beta is a measure of sensitivity to risk, then the asymmetric effect in volatility may imply such an effect in beta too</a:t>
            </a:r>
          </a:p>
          <a:p>
            <a:pPr>
              <a:lnSpc>
                <a:spcPct val="90000"/>
              </a:lnSpc>
            </a:pPr>
            <a:endParaRPr lang="en-US" sz="2400" smtClean="0">
              <a:latin typeface="Times New Roman" pitchFamily="18" charset="0"/>
              <a:cs typeface="Times New Roman" pitchFamily="18" charset="0"/>
            </a:endParaRPr>
          </a:p>
          <a:p>
            <a:pPr>
              <a:lnSpc>
                <a:spcPct val="90000"/>
              </a:lnSpc>
            </a:pPr>
            <a:r>
              <a:rPr lang="en-US" sz="2400" smtClean="0">
                <a:latin typeface="Times New Roman" pitchFamily="18" charset="0"/>
                <a:cs typeface="Times New Roman" pitchFamily="18" charset="0"/>
              </a:rPr>
              <a:t>It suggests the possible existence of a positive relation between beta and volatility of individual stock return since these may be related to each other through asymmetric effects to news.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12775" y="228600"/>
            <a:ext cx="8153400" cy="990600"/>
          </a:xfrm>
        </p:spPr>
        <p:txBody>
          <a:bodyPr/>
          <a:lstStyle/>
          <a:p>
            <a:r>
              <a:rPr lang="en-US" sz="4000" smtClean="0"/>
              <a:t>Expected outcome</a:t>
            </a:r>
          </a:p>
        </p:txBody>
      </p:sp>
      <p:sp>
        <p:nvSpPr>
          <p:cNvPr id="39939" name="Rectangle 3"/>
          <p:cNvSpPr>
            <a:spLocks noGrp="1" noChangeArrowheads="1"/>
          </p:cNvSpPr>
          <p:nvPr>
            <p:ph sz="quarter" idx="1"/>
          </p:nvPr>
        </p:nvSpPr>
        <p:spPr>
          <a:xfrm>
            <a:off x="612775" y="1600200"/>
            <a:ext cx="8153400" cy="4495800"/>
          </a:xfrm>
        </p:spPr>
        <p:txBody>
          <a:bodyPr/>
          <a:lstStyle/>
          <a:p>
            <a:endParaRPr lang="en-US" smtClean="0">
              <a:latin typeface="Times New Roman" pitchFamily="18" charset="0"/>
              <a:cs typeface="Times New Roman" pitchFamily="18" charset="0"/>
            </a:endParaRPr>
          </a:p>
          <a:p>
            <a:r>
              <a:rPr lang="en-US" smtClean="0">
                <a:latin typeface="Times New Roman" pitchFamily="18" charset="0"/>
                <a:cs typeface="Times New Roman" pitchFamily="18" charset="0"/>
              </a:rPr>
              <a:t>The time variation of beta is a factor of:</a:t>
            </a:r>
          </a:p>
          <a:p>
            <a:pPr lvl="1"/>
            <a:r>
              <a:rPr lang="en-US" smtClean="0">
                <a:latin typeface="Times New Roman" pitchFamily="18" charset="0"/>
                <a:cs typeface="Times New Roman" pitchFamily="18" charset="0"/>
              </a:rPr>
              <a:t>The Firm’s leverage</a:t>
            </a:r>
          </a:p>
          <a:p>
            <a:pPr lvl="1"/>
            <a:r>
              <a:rPr lang="en-US" smtClean="0">
                <a:latin typeface="Times New Roman" pitchFamily="18" charset="0"/>
                <a:cs typeface="Times New Roman" pitchFamily="18" charset="0"/>
              </a:rPr>
              <a:t>The Market</a:t>
            </a:r>
          </a:p>
          <a:p>
            <a:pPr lvl="1"/>
            <a:endParaRPr lang="en-US"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a:xfrm>
            <a:off x="612775" y="228600"/>
            <a:ext cx="8153400" cy="990600"/>
          </a:xfrm>
        </p:spPr>
        <p:txBody>
          <a:bodyPr/>
          <a:lstStyle/>
          <a:p>
            <a:r>
              <a:rPr lang="en-US" smtClean="0"/>
              <a:t>Results</a:t>
            </a:r>
          </a:p>
        </p:txBody>
      </p:sp>
      <p:graphicFrame>
        <p:nvGraphicFramePr>
          <p:cNvPr id="4" name="Content Placeholder 3"/>
          <p:cNvGraphicFramePr>
            <a:graphicFrameLocks noGrp="1"/>
          </p:cNvGraphicFramePr>
          <p:nvPr>
            <p:ph sz="quarter" idx="1"/>
          </p:nvPr>
        </p:nvGraphicFramePr>
        <p:xfrm>
          <a:off x="612775" y="1671638"/>
          <a:ext cx="7540625" cy="5119687"/>
        </p:xfrm>
        <a:graphic>
          <a:graphicData uri="http://schemas.openxmlformats.org/drawingml/2006/table">
            <a:tbl>
              <a:tblPr firstRow="1" bandRow="1">
                <a:tableStyleId>{5C22544A-7EE6-4342-B048-85BDC9FD1C3A}</a:tableStyleId>
              </a:tblPr>
              <a:tblGrid>
                <a:gridCol w="2513542"/>
                <a:gridCol w="2513542"/>
                <a:gridCol w="2513542"/>
              </a:tblGrid>
              <a:tr h="354149">
                <a:tc>
                  <a:txBody>
                    <a:bodyPr/>
                    <a:lstStyle/>
                    <a:p>
                      <a:pPr algn="l"/>
                      <a:r>
                        <a:rPr lang="en-US" dirty="0" smtClean="0"/>
                        <a:t>Joint Model</a:t>
                      </a:r>
                      <a:endParaRPr lang="en-US" dirty="0"/>
                    </a:p>
                  </a:txBody>
                  <a:tcPr/>
                </a:tc>
                <a:tc>
                  <a:txBody>
                    <a:bodyPr/>
                    <a:lstStyle/>
                    <a:p>
                      <a:pPr algn="l"/>
                      <a:r>
                        <a:rPr lang="en-US" dirty="0" smtClean="0"/>
                        <a:t>Idiosyncratic Model</a:t>
                      </a:r>
                      <a:endParaRPr lang="en-US" dirty="0"/>
                    </a:p>
                  </a:txBody>
                  <a:tcPr/>
                </a:tc>
                <a:tc>
                  <a:txBody>
                    <a:bodyPr/>
                    <a:lstStyle/>
                    <a:p>
                      <a:pPr algn="l"/>
                      <a:r>
                        <a:rPr lang="en-US" dirty="0" smtClean="0"/>
                        <a:t>Market Model</a:t>
                      </a:r>
                      <a:endParaRPr lang="en-US" dirty="0"/>
                    </a:p>
                  </a:txBody>
                  <a:tcPr/>
                </a:tc>
              </a:tr>
              <a:tr h="354149">
                <a:tc>
                  <a:txBody>
                    <a:bodyPr/>
                    <a:lstStyle/>
                    <a:p>
                      <a:pPr algn="l"/>
                      <a:r>
                        <a:rPr lang="en-US" dirty="0" smtClean="0"/>
                        <a:t>Coca Cola</a:t>
                      </a:r>
                      <a:endParaRPr lang="en-US" dirty="0"/>
                    </a:p>
                  </a:txBody>
                  <a:tcPr/>
                </a:tc>
                <a:tc>
                  <a:txBody>
                    <a:bodyPr/>
                    <a:lstStyle/>
                    <a:p>
                      <a:pPr algn="l"/>
                      <a:r>
                        <a:rPr lang="en-US" dirty="0" smtClean="0"/>
                        <a:t>Exxon</a:t>
                      </a:r>
                      <a:endParaRPr lang="en-US" dirty="0"/>
                    </a:p>
                  </a:txBody>
                  <a:tcPr/>
                </a:tc>
                <a:tc>
                  <a:txBody>
                    <a:bodyPr/>
                    <a:lstStyle/>
                    <a:p>
                      <a:pPr algn="l"/>
                      <a:r>
                        <a:rPr lang="en-US" dirty="0" smtClean="0"/>
                        <a:t>Disney</a:t>
                      </a:r>
                      <a:endParaRPr lang="en-US" dirty="0"/>
                    </a:p>
                  </a:txBody>
                  <a:tcPr/>
                </a:tc>
              </a:tr>
              <a:tr h="354149">
                <a:tc>
                  <a:txBody>
                    <a:bodyPr/>
                    <a:lstStyle/>
                    <a:p>
                      <a:pPr algn="l"/>
                      <a:r>
                        <a:rPr lang="en-US" dirty="0" smtClean="0"/>
                        <a:t>Merck</a:t>
                      </a:r>
                      <a:endParaRPr lang="en-US" dirty="0"/>
                    </a:p>
                  </a:txBody>
                  <a:tcPr/>
                </a:tc>
                <a:tc>
                  <a:txBody>
                    <a:bodyPr/>
                    <a:lstStyle/>
                    <a:p>
                      <a:pPr algn="l"/>
                      <a:r>
                        <a:rPr lang="en-US" dirty="0" smtClean="0"/>
                        <a:t>Microsoft</a:t>
                      </a:r>
                      <a:endParaRPr lang="en-US" dirty="0"/>
                    </a:p>
                  </a:txBody>
                  <a:tcPr/>
                </a:tc>
                <a:tc>
                  <a:txBody>
                    <a:bodyPr/>
                    <a:lstStyle/>
                    <a:p>
                      <a:pPr algn="l"/>
                      <a:r>
                        <a:rPr lang="en-US" dirty="0" smtClean="0"/>
                        <a:t>Bell</a:t>
                      </a:r>
                      <a:endParaRPr lang="en-US" dirty="0"/>
                    </a:p>
                  </a:txBody>
                  <a:tcPr/>
                </a:tc>
              </a:tr>
              <a:tr h="354149">
                <a:tc>
                  <a:txBody>
                    <a:bodyPr/>
                    <a:lstStyle/>
                    <a:p>
                      <a:pPr algn="l"/>
                      <a:r>
                        <a:rPr lang="en-US" dirty="0" smtClean="0"/>
                        <a:t>General Electric</a:t>
                      </a:r>
                      <a:endParaRPr lang="en-US" dirty="0"/>
                    </a:p>
                  </a:txBody>
                  <a:tcPr/>
                </a:tc>
                <a:tc>
                  <a:txBody>
                    <a:bodyPr/>
                    <a:lstStyle/>
                    <a:p>
                      <a:pPr algn="l"/>
                      <a:r>
                        <a:rPr lang="en-US" dirty="0" smtClean="0"/>
                        <a:t>Apple</a:t>
                      </a:r>
                      <a:endParaRPr lang="en-US" dirty="0"/>
                    </a:p>
                  </a:txBody>
                  <a:tcPr/>
                </a:tc>
                <a:tc>
                  <a:txBody>
                    <a:bodyPr/>
                    <a:lstStyle/>
                    <a:p>
                      <a:pPr algn="l"/>
                      <a:r>
                        <a:rPr lang="en-US" dirty="0" smtClean="0"/>
                        <a:t>Nordstrom</a:t>
                      </a:r>
                      <a:endParaRPr lang="en-US" dirty="0"/>
                    </a:p>
                  </a:txBody>
                  <a:tcPr/>
                </a:tc>
              </a:tr>
              <a:tr h="354149">
                <a:tc>
                  <a:txBody>
                    <a:bodyPr/>
                    <a:lstStyle/>
                    <a:p>
                      <a:pPr algn="l"/>
                      <a:r>
                        <a:rPr lang="en-US" dirty="0" smtClean="0"/>
                        <a:t>Sears</a:t>
                      </a:r>
                      <a:endParaRPr lang="en-US" dirty="0"/>
                    </a:p>
                  </a:txBody>
                  <a:tcPr/>
                </a:tc>
                <a:tc>
                  <a:txBody>
                    <a:bodyPr/>
                    <a:lstStyle/>
                    <a:p>
                      <a:pPr algn="l"/>
                      <a:r>
                        <a:rPr lang="en-US" dirty="0" smtClean="0"/>
                        <a:t>Johnson &amp; Johnson</a:t>
                      </a:r>
                      <a:endParaRPr lang="en-US" dirty="0"/>
                    </a:p>
                  </a:txBody>
                  <a:tcPr/>
                </a:tc>
                <a:tc>
                  <a:txBody>
                    <a:bodyPr/>
                    <a:lstStyle/>
                    <a:p>
                      <a:pPr algn="l"/>
                      <a:r>
                        <a:rPr lang="en-US" dirty="0" smtClean="0"/>
                        <a:t>TW</a:t>
                      </a:r>
                      <a:endParaRPr lang="en-US" dirty="0"/>
                    </a:p>
                  </a:txBody>
                  <a:tcPr/>
                </a:tc>
              </a:tr>
              <a:tr h="354149">
                <a:tc>
                  <a:txBody>
                    <a:bodyPr/>
                    <a:lstStyle/>
                    <a:p>
                      <a:pPr algn="l"/>
                      <a:r>
                        <a:rPr lang="en-US" dirty="0" smtClean="0"/>
                        <a:t>Bank</a:t>
                      </a:r>
                      <a:r>
                        <a:rPr lang="en-US" baseline="0" dirty="0" smtClean="0"/>
                        <a:t> of America</a:t>
                      </a:r>
                      <a:endParaRPr lang="en-US" dirty="0"/>
                    </a:p>
                  </a:txBody>
                  <a:tcPr/>
                </a:tc>
                <a:tc>
                  <a:txBody>
                    <a:bodyPr/>
                    <a:lstStyle/>
                    <a:p>
                      <a:pPr algn="l"/>
                      <a:r>
                        <a:rPr lang="en-US" dirty="0" smtClean="0"/>
                        <a:t>Sun</a:t>
                      </a:r>
                      <a:endParaRPr lang="en-US" dirty="0"/>
                    </a:p>
                  </a:txBody>
                  <a:tcPr/>
                </a:tc>
                <a:tc>
                  <a:txBody>
                    <a:bodyPr/>
                    <a:lstStyle/>
                    <a:p>
                      <a:pPr algn="l"/>
                      <a:r>
                        <a:rPr lang="en-US" dirty="0" smtClean="0"/>
                        <a:t>AT&amp;T</a:t>
                      </a:r>
                      <a:endParaRPr lang="en-US" dirty="0"/>
                    </a:p>
                  </a:txBody>
                  <a:tcPr/>
                </a:tc>
              </a:tr>
              <a:tr h="354149">
                <a:tc>
                  <a:txBody>
                    <a:bodyPr/>
                    <a:lstStyle/>
                    <a:p>
                      <a:pPr algn="l"/>
                      <a:r>
                        <a:rPr lang="en-US" dirty="0" smtClean="0"/>
                        <a:t>Chase</a:t>
                      </a:r>
                    </a:p>
                  </a:txBody>
                  <a:tcPr/>
                </a:tc>
                <a:tc>
                  <a:txBody>
                    <a:bodyPr/>
                    <a:lstStyle/>
                    <a:p>
                      <a:pPr algn="l"/>
                      <a:r>
                        <a:rPr lang="en-US" dirty="0" smtClean="0"/>
                        <a:t>Motorola</a:t>
                      </a:r>
                      <a:endParaRPr lang="en-US" dirty="0"/>
                    </a:p>
                  </a:txBody>
                  <a:tcPr/>
                </a:tc>
                <a:tc>
                  <a:txBody>
                    <a:bodyPr/>
                    <a:lstStyle/>
                    <a:p>
                      <a:pPr algn="l"/>
                      <a:endParaRPr lang="en-US" dirty="0"/>
                    </a:p>
                  </a:txBody>
                  <a:tcPr/>
                </a:tc>
              </a:tr>
              <a:tr h="354149">
                <a:tc>
                  <a:txBody>
                    <a:bodyPr/>
                    <a:lstStyle/>
                    <a:p>
                      <a:pPr algn="l"/>
                      <a:r>
                        <a:rPr lang="en-US" dirty="0" smtClean="0"/>
                        <a:t>HP</a:t>
                      </a:r>
                      <a:endParaRPr lang="en-US" dirty="0"/>
                    </a:p>
                  </a:txBody>
                  <a:tcPr/>
                </a:tc>
                <a:tc>
                  <a:txBody>
                    <a:bodyPr/>
                    <a:lstStyle/>
                    <a:p>
                      <a:pPr algn="l"/>
                      <a:endParaRPr lang="en-US" dirty="0"/>
                    </a:p>
                  </a:txBody>
                  <a:tcPr/>
                </a:tc>
                <a:tc>
                  <a:txBody>
                    <a:bodyPr/>
                    <a:lstStyle/>
                    <a:p>
                      <a:pPr algn="l"/>
                      <a:endParaRPr lang="en-US"/>
                    </a:p>
                  </a:txBody>
                  <a:tcPr/>
                </a:tc>
              </a:tr>
              <a:tr h="354149">
                <a:tc>
                  <a:txBody>
                    <a:bodyPr/>
                    <a:lstStyle/>
                    <a:p>
                      <a:pPr algn="l"/>
                      <a:r>
                        <a:rPr lang="en-US" dirty="0" smtClean="0"/>
                        <a:t>Gap</a:t>
                      </a:r>
                      <a:endParaRPr lang="en-US" dirty="0"/>
                    </a:p>
                  </a:txBody>
                  <a:tcPr/>
                </a:tc>
                <a:tc>
                  <a:txBody>
                    <a:bodyPr/>
                    <a:lstStyle/>
                    <a:p>
                      <a:pPr algn="l"/>
                      <a:endParaRPr lang="en-US" dirty="0"/>
                    </a:p>
                  </a:txBody>
                  <a:tcPr/>
                </a:tc>
                <a:tc>
                  <a:txBody>
                    <a:bodyPr/>
                    <a:lstStyle/>
                    <a:p>
                      <a:pPr algn="l"/>
                      <a:endParaRPr lang="en-US" dirty="0"/>
                    </a:p>
                  </a:txBody>
                  <a:tcPr/>
                </a:tc>
              </a:tr>
              <a:tr h="354149">
                <a:tc>
                  <a:txBody>
                    <a:bodyPr/>
                    <a:lstStyle/>
                    <a:p>
                      <a:pPr algn="l"/>
                      <a:r>
                        <a:rPr lang="en-US" dirty="0" smtClean="0"/>
                        <a:t>JP Morgan</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McDonalds</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Intel</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Compaq</a:t>
                      </a:r>
                      <a:endParaRPr lang="en-US" dirty="0"/>
                    </a:p>
                  </a:txBody>
                  <a:tcPr/>
                </a:tc>
                <a:tc>
                  <a:txBody>
                    <a:bodyPr/>
                    <a:lstStyle/>
                    <a:p>
                      <a:pPr algn="l"/>
                      <a:endParaRPr lang="en-US"/>
                    </a:p>
                  </a:txBody>
                  <a:tcPr/>
                </a:tc>
                <a:tc>
                  <a:txBody>
                    <a:bodyPr/>
                    <a:lstStyle/>
                    <a:p>
                      <a:pPr algn="l"/>
                      <a:endParaRPr lang="en-US" dirty="0"/>
                    </a:p>
                  </a:txBody>
                  <a:tcPr/>
                </a:tc>
              </a:tr>
              <a:tr h="354149">
                <a:tc>
                  <a:txBody>
                    <a:bodyPr/>
                    <a:lstStyle/>
                    <a:p>
                      <a:pPr algn="l"/>
                      <a:r>
                        <a:rPr lang="en-US" dirty="0" smtClean="0"/>
                        <a:t>Ford</a:t>
                      </a:r>
                      <a:endParaRPr lang="en-US" dirty="0"/>
                    </a:p>
                  </a:txBody>
                  <a:tcPr/>
                </a:tc>
                <a:tc>
                  <a:txBody>
                    <a:bodyPr/>
                    <a:lstStyle/>
                    <a:p>
                      <a:pPr algn="l"/>
                      <a:endParaRPr lang="en-US"/>
                    </a:p>
                  </a:txBody>
                  <a:tcPr/>
                </a:tc>
                <a:tc>
                  <a:txBody>
                    <a:bodyPr/>
                    <a:lstStyle/>
                    <a:p>
                      <a:pPr algn="l"/>
                      <a:endParaRPr lang="en-US" dirty="0"/>
                    </a:p>
                  </a:txBody>
                  <a:tcPr/>
                </a:tc>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612775" y="228600"/>
            <a:ext cx="8153400" cy="990600"/>
          </a:xfrm>
        </p:spPr>
        <p:txBody>
          <a:bodyPr/>
          <a:lstStyle/>
          <a:p>
            <a:r>
              <a:rPr lang="en-US" smtClean="0"/>
              <a:t>Our Project</a:t>
            </a:r>
          </a:p>
        </p:txBody>
      </p:sp>
      <p:sp>
        <p:nvSpPr>
          <p:cNvPr id="41987" name="Content Placeholder 2"/>
          <p:cNvSpPr>
            <a:spLocks noGrp="1"/>
          </p:cNvSpPr>
          <p:nvPr>
            <p:ph sz="quarter" idx="1"/>
          </p:nvPr>
        </p:nvSpPr>
        <p:spPr>
          <a:xfrm>
            <a:off x="612775" y="1600200"/>
            <a:ext cx="8153400" cy="4495800"/>
          </a:xfrm>
        </p:spPr>
        <p:txBody>
          <a:bodyPr/>
          <a:lstStyle/>
          <a:p>
            <a:r>
              <a:rPr lang="en-US" smtClean="0"/>
              <a:t> We would like to attempt to apply their hedging strategy by combining a portfolio with both stocks</a:t>
            </a:r>
          </a:p>
          <a:p>
            <a:pPr lvl="1"/>
            <a:r>
              <a:rPr lang="en-US" smtClean="0"/>
              <a:t>Idiosyncratic Model</a:t>
            </a:r>
          </a:p>
          <a:p>
            <a:pPr lvl="1"/>
            <a:r>
              <a:rPr lang="en-US" smtClean="0"/>
              <a:t>Market Model</a:t>
            </a:r>
          </a:p>
          <a:p>
            <a:r>
              <a:rPr lang="en-US" smtClean="0"/>
              <a:t>This will allow us to:</a:t>
            </a:r>
          </a:p>
          <a:p>
            <a:pPr lvl="1"/>
            <a:r>
              <a:rPr lang="en-US" smtClean="0"/>
              <a:t>Test efficiency in the market</a:t>
            </a:r>
          </a:p>
          <a:p>
            <a:pPr lvl="1"/>
            <a:r>
              <a:rPr lang="en-US" smtClean="0"/>
              <a:t>Test this model’s ability to hedge risk</a:t>
            </a:r>
          </a:p>
          <a:p>
            <a:r>
              <a:rPr lang="en-US" smtClean="0"/>
              <a:t>We will also compare these results to a similar portfolio designed around glamour and value stocks</a:t>
            </a:r>
          </a:p>
          <a:p>
            <a:pPr lvl="1">
              <a:buFont typeface="Wingdings 2" pitchFamily="18" charset="2"/>
              <a:buNone/>
            </a:pPr>
            <a:endParaRPr lang="en-US" smtClean="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emplate>Median</Template>
  <TotalTime>308</TotalTime>
  <Words>1812</Words>
  <Application>Microsoft Office PowerPoint</Application>
  <PresentationFormat>On-screen Show (4:3)</PresentationFormat>
  <Paragraphs>216</Paragraphs>
  <Slides>33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Tw Cen MT</vt:lpstr>
      <vt:lpstr>Wingdings</vt:lpstr>
      <vt:lpstr>Wingdings 2</vt:lpstr>
      <vt:lpstr>Calibri</vt:lpstr>
      <vt:lpstr>Wingdings 3</vt:lpstr>
      <vt:lpstr>Times New Roman</vt:lpstr>
      <vt:lpstr>Median</vt:lpstr>
      <vt:lpstr>Market Efficiency</vt:lpstr>
      <vt:lpstr>Efficiency Market Hypothesis</vt:lpstr>
      <vt:lpstr>Degrees of Efficiency </vt:lpstr>
      <vt:lpstr>  Article 1 Good News for Value Stocks: Further Evidence on  Market Efficiency</vt:lpstr>
      <vt:lpstr>Basic Definitions</vt:lpstr>
      <vt:lpstr>The Problem at Hand</vt:lpstr>
      <vt:lpstr>Expectational Errors</vt:lpstr>
      <vt:lpstr>Expectational Errors Hypothesis</vt:lpstr>
      <vt:lpstr>Results</vt:lpstr>
      <vt:lpstr>Results Cont’d</vt:lpstr>
      <vt:lpstr>Results Cont’d</vt:lpstr>
      <vt:lpstr>Results Cont’d</vt:lpstr>
      <vt:lpstr>Does this exist for larger firm’s stocks as well?</vt:lpstr>
      <vt:lpstr>What about Risk Compensation?</vt:lpstr>
      <vt:lpstr>Risk Premium</vt:lpstr>
      <vt:lpstr>Risk Cont’d</vt:lpstr>
      <vt:lpstr>Risk Cont’d</vt:lpstr>
      <vt:lpstr>Conclusions</vt:lpstr>
      <vt:lpstr>Final Thought</vt:lpstr>
      <vt:lpstr> Article 2 Time-varying betas and  asymmetric effects of news:  </vt:lpstr>
      <vt:lpstr>Goal:</vt:lpstr>
      <vt:lpstr>How Beta relates to Stock Price</vt:lpstr>
      <vt:lpstr>Finding Beta</vt:lpstr>
      <vt:lpstr>Data collected from:</vt:lpstr>
      <vt:lpstr>Known:</vt:lpstr>
      <vt:lpstr>1. Leverage Effect</vt:lpstr>
      <vt:lpstr>2. Market Risk Premium</vt:lpstr>
      <vt:lpstr>Estimating Beta</vt:lpstr>
      <vt:lpstr>Multiple Models</vt:lpstr>
      <vt:lpstr>What this shows:</vt:lpstr>
      <vt:lpstr>Expected outcome</vt:lpstr>
      <vt:lpstr>Results</vt:lpstr>
      <vt:lpstr>Our Project</vt:lpstr>
    </vt:vector>
  </TitlesOfParts>
  <Company>UC Santa Cruz</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Time-varying betas and  asymmetric effects of news:</dc:title>
  <dc:creator>econ4981</dc:creator>
  <cp:lastModifiedBy>Vinny</cp:lastModifiedBy>
  <cp:revision>9</cp:revision>
  <dcterms:created xsi:type="dcterms:W3CDTF">2009-03-10T04:45:42Z</dcterms:created>
  <dcterms:modified xsi:type="dcterms:W3CDTF">2009-03-12T06:01:02Z</dcterms:modified>
</cp:coreProperties>
</file>