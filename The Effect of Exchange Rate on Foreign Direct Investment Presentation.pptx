
<file path=[Content_Types].xml><?xml version="1.0" encoding="utf-8"?>
<Types xmlns="http://schemas.openxmlformats.org/package/2006/content-types">
  <Override PartName="/ppt/charts/chart10.xml" ContentType="application/vnd.openxmlformats-officedocument.drawingml.chart+xml"/>
  <Override PartName="/ppt/slides/slide9.xml" ContentType="application/vnd.openxmlformats-officedocument.presentationml.slide+xml"/>
  <Override PartName="/ppt/charts/chart4.xml" ContentType="application/vnd.openxmlformats-officedocument.drawingml.chart+xml"/>
  <Override PartName="/ppt/slides/slide14.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Default Extension="rels" ContentType="application/vnd.openxmlformats-package.relationships+xml"/>
  <Default Extension="jpeg" ContentType="image/jpeg"/>
  <Override PartName="/ppt/slides/slide10.xml" ContentType="application/vnd.openxmlformats-officedocument.presentationml.slide+xml"/>
  <Override PartName="/ppt/slideLayouts/slideLayout5.xml" ContentType="application/vnd.openxmlformats-officedocument.presentationml.slideLayout+xml"/>
  <Override PartName="/ppt/slides/slide1.xml" ContentType="application/vnd.openxmlformats-officedocument.presentationml.slide+xml"/>
  <Override PartName="/ppt/charts/chart19.xml" ContentType="application/vnd.openxmlformats-officedocument.drawingml.chart+xml"/>
  <Override PartName="/docProps/app.xml" ContentType="application/vnd.openxmlformats-officedocument.extended-properties+xml"/>
  <Override PartName="/ppt/slideLayouts/slideLayout1.xml" ContentType="application/vnd.openxmlformats-officedocument.presentationml.slideLayout+xml"/>
  <Override PartName="/ppt/charts/chart15.xml" ContentType="application/vnd.openxmlformats-officedocument.drawingml.chart+xml"/>
  <Override PartName="/ppt/charts/chart9.xml" ContentType="application/vnd.openxmlformats-officedocument.drawingml.chart+xml"/>
  <Default Extension="xml" ContentType="application/xml"/>
  <Override PartName="/ppt/tableStyles.xml" ContentType="application/vnd.openxmlformats-officedocument.presentationml.tableStyles+xml"/>
  <Override PartName="/ppt/charts/chart11.xml" ContentType="application/vnd.openxmlformats-officedocument.drawingml.chart+xml"/>
  <Override PartName="/ppt/charts/chart5.xml" ContentType="application/vnd.openxmlformats-officedocument.drawingml.chart+xml"/>
  <Override PartName="/ppt/slides/slide15.xml" ContentType="application/vnd.openxmlformats-officedocument.presentationml.slide+xml"/>
  <Override PartName="/ppt/slideLayouts/slideLayout12.xml" ContentType="application/vnd.openxmlformats-officedocument.presentationml.slideLayout+xml"/>
  <Override PartName="/ppt/charts/chart1.xml" ContentType="application/vnd.openxmlformats-officedocument.drawingml.chart+xml"/>
  <Override PartName="/ppt/slides/slide6.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Default Extension="png" ContentType="image/png"/>
  <Override PartName="/ppt/slideLayouts/slideLayout2.xml" ContentType="application/vnd.openxmlformats-officedocument.presentationml.slideLayout+xml"/>
  <Override PartName="/ppt/charts/chart16.xml" ContentType="application/vnd.openxmlformats-officedocument.drawingml.chart+xml"/>
  <Override PartName="/ppt/charts/chart12.xml" ContentType="application/vnd.openxmlformats-officedocument.drawingml.chart+xml"/>
  <Override PartName="/ppt/charts/chart6.xml" ContentType="application/vnd.openxmlformats-officedocument.drawingml.chart+xml"/>
  <Override PartName="/ppt/charts/chart20.xml" ContentType="application/vnd.openxmlformats-officedocument.drawingml.chart+xml"/>
  <Override PartName="/ppt/slides/slide16.xml" ContentType="application/vnd.openxmlformats-officedocument.presentationml.slide+xml"/>
  <Override PartName="/ppt/slideLayouts/slideLayout13.xml" ContentType="application/vnd.openxmlformats-officedocument.presentationml.slideLayout+xml"/>
  <Override PartName="/ppt/slides/slide7.xml" ContentType="application/vnd.openxmlformats-officedocument.presentationml.slide+xml"/>
  <Override PartName="/ppt/charts/chart2.xml" ContentType="application/vnd.openxmlformats-officedocument.drawingml.chart+xml"/>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Layouts/slideLayout3.xml" ContentType="application/vnd.openxmlformats-officedocument.presentationml.slideLayout+xml"/>
  <Override PartName="/ppt/charts/chart17.xml" ContentType="application/vnd.openxmlformats-officedocument.drawingml.chart+xml"/>
  <Override PartName="/ppt/charts/chart13.xml" ContentType="application/vnd.openxmlformats-officedocument.drawingml.chart+xml"/>
  <Override PartName="/ppt/charts/chart7.xml" ContentType="application/vnd.openxmlformats-officedocument.drawingml.chart+xml"/>
  <Override PartName="/ppt/charts/chart21.xml" ContentType="application/vnd.openxmlformats-officedocument.drawingml.chart+xml"/>
  <Override PartName="/ppt/slides/slide17.xml" ContentType="application/vnd.openxmlformats-officedocument.presentationml.slide+xml"/>
  <Override PartName="/ppt/slideLayouts/slideLayout14.xml" ContentType="application/vnd.openxmlformats-officedocument.presentationml.slideLayout+xml"/>
  <Override PartName="/ppt/slides/slide8.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slides/slide13.xml" ContentType="application/vnd.openxmlformats-officedocument.presentationml.slide+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charts/chart18.xml" ContentType="application/vnd.openxmlformats-officedocument.drawingml.chart+xml"/>
  <Override PartName="/ppt/slideMasters/slideMaster1.xml" ContentType="application/vnd.openxmlformats-officedocument.presentationml.slideMaster+xml"/>
  <Override PartName="/ppt/theme/theme1.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Override PartName="/ppt/charts/chart8.xml" ContentType="application/vnd.openxmlformats-officedocument.drawingml.chart+xml"/>
  <Override PartName="/ppt/charts/chart14.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92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2" r:id="rId16"/>
    <p:sldId id="269" r:id="rId17"/>
    <p:sldId id="271"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showOutlineIcons="0">
    <p:restoredLeft sz="15620"/>
    <p:restoredTop sz="94660"/>
  </p:normalViewPr>
  <p:slideViewPr>
    <p:cSldViewPr snapToObjects="1">
      <p:cViewPr varScale="1">
        <p:scale>
          <a:sx n="106" d="100"/>
          <a:sy n="106" d="100"/>
        </p:scale>
        <p:origin x="-960" y="-10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20.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_rels/chart21.xml.rels><?xml version="1.0" encoding="UTF-8" standalone="yes"?>
<Relationships xmlns="http://schemas.openxmlformats.org/package/2006/relationships"><Relationship Id="rId1" Type="http://schemas.openxmlformats.org/officeDocument/2006/relationships/oleObject" Target="Macintosh%20HD:Users:James:Desktop:Econ%20249A%20Dat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Data!$B$2</c:f>
              <c:strCache>
                <c:ptCount val="1"/>
                <c:pt idx="0">
                  <c:v>China FDI</c:v>
                </c:pt>
              </c:strCache>
            </c:strRef>
          </c:tx>
          <c:marker>
            <c:symbol val="none"/>
          </c:marker>
          <c:val>
            <c:numRef>
              <c:f>Data!$B$3:$B$11</c:f>
              <c:numCache>
                <c:formatCode>#,##0</c:formatCode>
                <c:ptCount val="9"/>
                <c:pt idx="0">
                  <c:v>7.076E9</c:v>
                </c:pt>
                <c:pt idx="1">
                  <c:v>7.727E9</c:v>
                </c:pt>
                <c:pt idx="2">
                  <c:v>5.554E9</c:v>
                </c:pt>
                <c:pt idx="3">
                  <c:v>5.499E9</c:v>
                </c:pt>
                <c:pt idx="4">
                  <c:v>9.008E9</c:v>
                </c:pt>
                <c:pt idx="5">
                  <c:v>9.346E9</c:v>
                </c:pt>
                <c:pt idx="6">
                  <c:v>1.4759E10</c:v>
                </c:pt>
                <c:pt idx="7">
                  <c:v>1.8261E10</c:v>
                </c:pt>
                <c:pt idx="8">
                  <c:v>2.1428E10</c:v>
                </c:pt>
              </c:numCache>
            </c:numRef>
          </c:val>
        </c:ser>
        <c:marker val="1"/>
        <c:axId val="515837736"/>
        <c:axId val="515191640"/>
      </c:lineChart>
      <c:catAx>
        <c:axId val="515837736"/>
        <c:scaling>
          <c:orientation val="minMax"/>
        </c:scaling>
        <c:axPos val="b"/>
        <c:tickLblPos val="nextTo"/>
        <c:crossAx val="515191640"/>
        <c:crosses val="autoZero"/>
        <c:auto val="1"/>
        <c:lblAlgn val="ctr"/>
        <c:lblOffset val="100"/>
      </c:catAx>
      <c:valAx>
        <c:axId val="515191640"/>
        <c:scaling>
          <c:orientation val="minMax"/>
        </c:scaling>
        <c:axPos val="l"/>
        <c:majorGridlines/>
        <c:numFmt formatCode="#,##0" sourceLinked="1"/>
        <c:tickLblPos val="nextTo"/>
        <c:crossAx val="515837736"/>
        <c:crosses val="autoZero"/>
        <c:crossBetween val="between"/>
      </c:valAx>
    </c:plotArea>
    <c:legend>
      <c:legendPos val="r"/>
      <c:layout/>
    </c:legend>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Data!$I$2</c:f>
              <c:strCache>
                <c:ptCount val="1"/>
                <c:pt idx="0">
                  <c:v>China XV</c:v>
                </c:pt>
              </c:strCache>
            </c:strRef>
          </c:tx>
          <c:marker>
            <c:symbol val="none"/>
          </c:marker>
          <c:val>
            <c:numRef>
              <c:f>Data!$I$3:$I$11</c:f>
              <c:numCache>
                <c:formatCode>0.00000000</c:formatCode>
                <c:ptCount val="9"/>
                <c:pt idx="0">
                  <c:v>0.0008524</c:v>
                </c:pt>
                <c:pt idx="1">
                  <c:v>0.00032191</c:v>
                </c:pt>
                <c:pt idx="2">
                  <c:v>0.01309761</c:v>
                </c:pt>
                <c:pt idx="3">
                  <c:v>0.01386465</c:v>
                </c:pt>
                <c:pt idx="4" formatCode="General">
                  <c:v>0.00023271</c:v>
                </c:pt>
                <c:pt idx="5">
                  <c:v>0.09439501</c:v>
                </c:pt>
                <c:pt idx="6">
                  <c:v>0.07756576</c:v>
                </c:pt>
                <c:pt idx="7">
                  <c:v>0.13628369</c:v>
                </c:pt>
                <c:pt idx="8">
                  <c:v>0.14368158</c:v>
                </c:pt>
              </c:numCache>
            </c:numRef>
          </c:val>
        </c:ser>
        <c:marker val="1"/>
        <c:axId val="595763528"/>
        <c:axId val="493737992"/>
      </c:lineChart>
      <c:catAx>
        <c:axId val="595763528"/>
        <c:scaling>
          <c:orientation val="minMax"/>
        </c:scaling>
        <c:axPos val="b"/>
        <c:tickLblPos val="nextTo"/>
        <c:crossAx val="493737992"/>
        <c:crosses val="autoZero"/>
        <c:auto val="1"/>
        <c:lblAlgn val="ctr"/>
        <c:lblOffset val="100"/>
      </c:catAx>
      <c:valAx>
        <c:axId val="493737992"/>
        <c:scaling>
          <c:orientation val="minMax"/>
        </c:scaling>
        <c:axPos val="l"/>
        <c:majorGridlines/>
        <c:numFmt formatCode="0.00000000" sourceLinked="1"/>
        <c:tickLblPos val="nextTo"/>
        <c:crossAx val="595763528"/>
        <c:crosses val="autoZero"/>
        <c:crossBetween val="between"/>
      </c:valAx>
    </c:plotArea>
    <c:legend>
      <c:legendPos val="r"/>
      <c:layout/>
    </c:legend>
    <c:plotVisOnly val="1"/>
  </c:chart>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Data!$P$2</c:f>
              <c:strCache>
                <c:ptCount val="1"/>
                <c:pt idx="0">
                  <c:v>China XA</c:v>
                </c:pt>
              </c:strCache>
            </c:strRef>
          </c:tx>
          <c:marker>
            <c:symbol val="none"/>
          </c:marker>
          <c:val>
            <c:numRef>
              <c:f>Data!$P$3:$P$11</c:f>
              <c:numCache>
                <c:formatCode>0.00000000</c:formatCode>
                <c:ptCount val="9"/>
                <c:pt idx="0">
                  <c:v>8.278411670000001</c:v>
                </c:pt>
                <c:pt idx="1">
                  <c:v>8.27700583</c:v>
                </c:pt>
                <c:pt idx="2">
                  <c:v>8.28070083</c:v>
                </c:pt>
                <c:pt idx="3">
                  <c:v>8.280945</c:v>
                </c:pt>
                <c:pt idx="4">
                  <c:v>8.27679583</c:v>
                </c:pt>
                <c:pt idx="5">
                  <c:v>8.19419333</c:v>
                </c:pt>
                <c:pt idx="6">
                  <c:v>7.97306167</c:v>
                </c:pt>
                <c:pt idx="7">
                  <c:v>7.60383917</c:v>
                </c:pt>
                <c:pt idx="8">
                  <c:v>6.94831167</c:v>
                </c:pt>
              </c:numCache>
            </c:numRef>
          </c:val>
        </c:ser>
        <c:marker val="1"/>
        <c:axId val="515721256"/>
        <c:axId val="515215992"/>
      </c:lineChart>
      <c:catAx>
        <c:axId val="515721256"/>
        <c:scaling>
          <c:orientation val="minMax"/>
        </c:scaling>
        <c:axPos val="b"/>
        <c:tickLblPos val="nextTo"/>
        <c:crossAx val="515215992"/>
        <c:crosses val="autoZero"/>
        <c:auto val="1"/>
        <c:lblAlgn val="ctr"/>
        <c:lblOffset val="100"/>
      </c:catAx>
      <c:valAx>
        <c:axId val="515215992"/>
        <c:scaling>
          <c:orientation val="minMax"/>
        </c:scaling>
        <c:axPos val="l"/>
        <c:majorGridlines/>
        <c:numFmt formatCode="0.00000000" sourceLinked="1"/>
        <c:tickLblPos val="nextTo"/>
        <c:crossAx val="515721256"/>
        <c:crosses val="autoZero"/>
        <c:crossBetween val="between"/>
      </c:valAx>
    </c:plotArea>
    <c:legend>
      <c:legendPos val="r"/>
      <c:layout/>
    </c:legend>
    <c:plotVisOnly val="1"/>
  </c:chart>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Data!$C$2</c:f>
              <c:strCache>
                <c:ptCount val="1"/>
                <c:pt idx="0">
                  <c:v>Hong Kong FDI</c:v>
                </c:pt>
              </c:strCache>
            </c:strRef>
          </c:tx>
          <c:marker>
            <c:symbol val="none"/>
          </c:marker>
          <c:val>
            <c:numRef>
              <c:f>Data!$C$3:$C$11</c:f>
              <c:numCache>
                <c:formatCode>#,##0</c:formatCode>
                <c:ptCount val="9"/>
                <c:pt idx="0">
                  <c:v>2.892E9</c:v>
                </c:pt>
                <c:pt idx="1">
                  <c:v>2.212E9</c:v>
                </c:pt>
                <c:pt idx="2">
                  <c:v>2.817E9</c:v>
                </c:pt>
                <c:pt idx="3">
                  <c:v>3.023E9</c:v>
                </c:pt>
                <c:pt idx="4">
                  <c:v>2.344E9</c:v>
                </c:pt>
                <c:pt idx="5">
                  <c:v>2.238E9</c:v>
                </c:pt>
                <c:pt idx="6">
                  <c:v>3.133E9</c:v>
                </c:pt>
                <c:pt idx="7">
                  <c:v>3.668E9</c:v>
                </c:pt>
                <c:pt idx="8">
                  <c:v>3.742E9</c:v>
                </c:pt>
              </c:numCache>
            </c:numRef>
          </c:val>
        </c:ser>
        <c:marker val="1"/>
        <c:axId val="515825320"/>
        <c:axId val="515277480"/>
      </c:lineChart>
      <c:catAx>
        <c:axId val="515825320"/>
        <c:scaling>
          <c:orientation val="minMax"/>
        </c:scaling>
        <c:axPos val="b"/>
        <c:tickLblPos val="nextTo"/>
        <c:crossAx val="515277480"/>
        <c:crosses val="autoZero"/>
        <c:auto val="1"/>
        <c:lblAlgn val="ctr"/>
        <c:lblOffset val="100"/>
      </c:catAx>
      <c:valAx>
        <c:axId val="515277480"/>
        <c:scaling>
          <c:orientation val="minMax"/>
        </c:scaling>
        <c:axPos val="l"/>
        <c:majorGridlines/>
        <c:numFmt formatCode="#,##0" sourceLinked="1"/>
        <c:tickLblPos val="nextTo"/>
        <c:crossAx val="515825320"/>
        <c:crosses val="autoZero"/>
        <c:crossBetween val="between"/>
      </c:valAx>
    </c:plotArea>
    <c:legend>
      <c:legendPos val="r"/>
      <c:layout/>
    </c:legend>
    <c:plotVisOnly val="1"/>
  </c:chart>
  <c:externalData r:id="rId1"/>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Data!$J$2</c:f>
              <c:strCache>
                <c:ptCount val="1"/>
                <c:pt idx="0">
                  <c:v>Hong Kong XV</c:v>
                </c:pt>
              </c:strCache>
            </c:strRef>
          </c:tx>
          <c:marker>
            <c:symbol val="none"/>
          </c:marker>
          <c:val>
            <c:numRef>
              <c:f>Data!$J$3:$J$11</c:f>
              <c:numCache>
                <c:formatCode>0.00000000</c:formatCode>
                <c:ptCount val="9"/>
                <c:pt idx="0">
                  <c:v>0.0073877</c:v>
                </c:pt>
                <c:pt idx="1">
                  <c:v>0.00030763</c:v>
                </c:pt>
                <c:pt idx="2">
                  <c:v>0.0005384</c:v>
                </c:pt>
                <c:pt idx="3">
                  <c:v>0.01955035</c:v>
                </c:pt>
                <c:pt idx="4">
                  <c:v>0.01211876</c:v>
                </c:pt>
                <c:pt idx="5">
                  <c:v>0.01855929</c:v>
                </c:pt>
                <c:pt idx="6">
                  <c:v>0.01179537</c:v>
                </c:pt>
                <c:pt idx="7">
                  <c:v>0.02037231</c:v>
                </c:pt>
                <c:pt idx="8">
                  <c:v>0.02134095</c:v>
                </c:pt>
              </c:numCache>
            </c:numRef>
          </c:val>
        </c:ser>
        <c:marker val="1"/>
        <c:axId val="595758328"/>
        <c:axId val="595755960"/>
      </c:lineChart>
      <c:catAx>
        <c:axId val="595758328"/>
        <c:scaling>
          <c:orientation val="minMax"/>
        </c:scaling>
        <c:axPos val="b"/>
        <c:tickLblPos val="nextTo"/>
        <c:crossAx val="595755960"/>
        <c:crosses val="autoZero"/>
        <c:auto val="1"/>
        <c:lblAlgn val="ctr"/>
        <c:lblOffset val="100"/>
      </c:catAx>
      <c:valAx>
        <c:axId val="595755960"/>
        <c:scaling>
          <c:orientation val="minMax"/>
        </c:scaling>
        <c:axPos val="l"/>
        <c:majorGridlines/>
        <c:numFmt formatCode="0.00000000" sourceLinked="1"/>
        <c:tickLblPos val="nextTo"/>
        <c:crossAx val="595758328"/>
        <c:crosses val="autoZero"/>
        <c:crossBetween val="between"/>
      </c:valAx>
    </c:plotArea>
    <c:legend>
      <c:legendPos val="r"/>
      <c:layout/>
    </c:legend>
    <c:plotVisOnly val="1"/>
  </c:chart>
  <c:externalData r:id="rId1"/>
</c:chartSpace>
</file>

<file path=ppt/charts/chart6.xml><?xml version="1.0" encoding="utf-8"?>
<c:chartSpace xmlns:c="http://schemas.openxmlformats.org/drawingml/2006/chart" xmlns:a="http://schemas.openxmlformats.org/drawingml/2006/main" xmlns:r="http://schemas.openxmlformats.org/officeDocument/2006/relationships">
  <c:date1904 val="1"/>
  <c:lang val="en-US"/>
  <c:style val="18"/>
  <c:chart>
    <c:title>
      <c:tx>
        <c:rich>
          <a:bodyPr/>
          <a:lstStyle/>
          <a:p>
            <a:pPr>
              <a:defRPr/>
            </a:pPr>
            <a:r>
              <a:rPr lang="en-US" dirty="0" smtClean="0"/>
              <a:t>Hong </a:t>
            </a:r>
            <a:r>
              <a:rPr lang="en-US" dirty="0"/>
              <a:t>Kong</a:t>
            </a:r>
            <a:r>
              <a:rPr lang="en-US" dirty="0" smtClean="0"/>
              <a:t> XA </a:t>
            </a:r>
            <a:endParaRPr lang="en-US" dirty="0"/>
          </a:p>
        </c:rich>
      </c:tx>
      <c:layout/>
    </c:title>
    <c:plotArea>
      <c:layout/>
      <c:lineChart>
        <c:grouping val="standard"/>
        <c:ser>
          <c:idx val="0"/>
          <c:order val="0"/>
          <c:tx>
            <c:strRef>
              <c:f>Data!$Q$2</c:f>
              <c:strCache>
                <c:ptCount val="1"/>
                <c:pt idx="0">
                  <c:v>Hong Kong XA </c:v>
                </c:pt>
              </c:strCache>
            </c:strRef>
          </c:tx>
          <c:marker>
            <c:symbol val="none"/>
          </c:marker>
          <c:val>
            <c:numRef>
              <c:f>Data!$Q$3:$Q$11</c:f>
              <c:numCache>
                <c:formatCode>0.00000000</c:formatCode>
                <c:ptCount val="9"/>
                <c:pt idx="0">
                  <c:v>7.792355</c:v>
                </c:pt>
                <c:pt idx="1">
                  <c:v>7.7996725</c:v>
                </c:pt>
                <c:pt idx="2">
                  <c:v>7.7996725</c:v>
                </c:pt>
                <c:pt idx="3">
                  <c:v>7.784475</c:v>
                </c:pt>
                <c:pt idx="4">
                  <c:v>7.788814169999999</c:v>
                </c:pt>
                <c:pt idx="5">
                  <c:v>7.7773925</c:v>
                </c:pt>
                <c:pt idx="6">
                  <c:v>7.768135829999998</c:v>
                </c:pt>
                <c:pt idx="7">
                  <c:v>7.80166583</c:v>
                </c:pt>
                <c:pt idx="8">
                  <c:v>7.78612083</c:v>
                </c:pt>
              </c:numCache>
            </c:numRef>
          </c:val>
        </c:ser>
        <c:marker val="1"/>
        <c:axId val="595699112"/>
        <c:axId val="595851672"/>
      </c:lineChart>
      <c:catAx>
        <c:axId val="595699112"/>
        <c:scaling>
          <c:orientation val="minMax"/>
        </c:scaling>
        <c:axPos val="b"/>
        <c:tickLblPos val="nextTo"/>
        <c:crossAx val="595851672"/>
        <c:crosses val="autoZero"/>
        <c:auto val="1"/>
        <c:lblAlgn val="ctr"/>
        <c:lblOffset val="100"/>
      </c:catAx>
      <c:valAx>
        <c:axId val="595851672"/>
        <c:scaling>
          <c:orientation val="minMax"/>
        </c:scaling>
        <c:axPos val="l"/>
        <c:majorGridlines/>
        <c:numFmt formatCode="0.00000000" sourceLinked="1"/>
        <c:tickLblPos val="nextTo"/>
        <c:crossAx val="595699112"/>
        <c:crosses val="autoZero"/>
        <c:crossBetween val="between"/>
      </c:valAx>
    </c:plotArea>
    <c:legend>
      <c:legendPos val="r"/>
      <c:layout/>
    </c:legend>
    <c:plotVisOnly val="1"/>
  </c:chart>
  <c:externalData r:id="rId1"/>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Data!$D$2</c:f>
              <c:strCache>
                <c:ptCount val="1"/>
                <c:pt idx="0">
                  <c:v>Japan FDI</c:v>
                </c:pt>
              </c:strCache>
            </c:strRef>
          </c:tx>
          <c:marker>
            <c:symbol val="none"/>
          </c:marker>
          <c:val>
            <c:numRef>
              <c:f>Data!$D$3:$D$11</c:f>
              <c:numCache>
                <c:formatCode>#,##0</c:formatCode>
                <c:ptCount val="9"/>
                <c:pt idx="0">
                  <c:v>1.3838E10</c:v>
                </c:pt>
                <c:pt idx="1">
                  <c:v>1.1142E10</c:v>
                </c:pt>
                <c:pt idx="2">
                  <c:v>1.5507E10</c:v>
                </c:pt>
                <c:pt idx="3">
                  <c:v>1.1609E10</c:v>
                </c:pt>
                <c:pt idx="4">
                  <c:v>1.3534E10</c:v>
                </c:pt>
                <c:pt idx="5">
                  <c:v>1.5908E10</c:v>
                </c:pt>
                <c:pt idx="6">
                  <c:v>1.6745E10</c:v>
                </c:pt>
                <c:pt idx="7">
                  <c:v>1.6888E10</c:v>
                </c:pt>
                <c:pt idx="8">
                  <c:v>1.738E10</c:v>
                </c:pt>
              </c:numCache>
            </c:numRef>
          </c:val>
        </c:ser>
        <c:marker val="1"/>
        <c:axId val="515752744"/>
        <c:axId val="515619688"/>
      </c:lineChart>
      <c:catAx>
        <c:axId val="515752744"/>
        <c:scaling>
          <c:orientation val="minMax"/>
        </c:scaling>
        <c:axPos val="b"/>
        <c:tickLblPos val="nextTo"/>
        <c:crossAx val="515619688"/>
        <c:crosses val="autoZero"/>
        <c:auto val="1"/>
        <c:lblAlgn val="ctr"/>
        <c:lblOffset val="100"/>
      </c:catAx>
      <c:valAx>
        <c:axId val="515619688"/>
        <c:scaling>
          <c:orientation val="minMax"/>
        </c:scaling>
        <c:axPos val="l"/>
        <c:majorGridlines/>
        <c:numFmt formatCode="#,##0" sourceLinked="1"/>
        <c:tickLblPos val="nextTo"/>
        <c:crossAx val="515752744"/>
        <c:crosses val="autoZero"/>
        <c:crossBetween val="between"/>
      </c:valAx>
    </c:plotArea>
    <c:legend>
      <c:legendPos val="r"/>
      <c:layout/>
    </c:legend>
    <c:plotVisOnly val="1"/>
  </c:chart>
  <c:externalData r:id="rId1"/>
</c:chartSpace>
</file>

<file path=ppt/charts/chart8.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Data!$K$2</c:f>
              <c:strCache>
                <c:ptCount val="1"/>
                <c:pt idx="0">
                  <c:v>Japan XV</c:v>
                </c:pt>
              </c:strCache>
            </c:strRef>
          </c:tx>
          <c:marker>
            <c:symbol val="none"/>
          </c:marker>
          <c:val>
            <c:numRef>
              <c:f>Data!$K$3:$K$11</c:f>
              <c:numCache>
                <c:formatCode>0.00000000</c:formatCode>
                <c:ptCount val="9"/>
                <c:pt idx="0">
                  <c:v>1.9377532</c:v>
                </c:pt>
                <c:pt idx="1">
                  <c:v>3.16827844</c:v>
                </c:pt>
                <c:pt idx="2">
                  <c:v>5.497104069999999</c:v>
                </c:pt>
                <c:pt idx="3">
                  <c:v>4.48830102</c:v>
                </c:pt>
                <c:pt idx="4">
                  <c:v>2.42183478</c:v>
                </c:pt>
                <c:pt idx="5">
                  <c:v>5.07376076</c:v>
                </c:pt>
                <c:pt idx="6">
                  <c:v>1.82316414</c:v>
                </c:pt>
                <c:pt idx="7">
                  <c:v>3.65619904</c:v>
                </c:pt>
                <c:pt idx="8">
                  <c:v>5.346904919999999</c:v>
                </c:pt>
              </c:numCache>
            </c:numRef>
          </c:val>
        </c:ser>
        <c:marker val="1"/>
        <c:axId val="595819384"/>
        <c:axId val="595822344"/>
      </c:lineChart>
      <c:catAx>
        <c:axId val="595819384"/>
        <c:scaling>
          <c:orientation val="minMax"/>
        </c:scaling>
        <c:axPos val="b"/>
        <c:tickLblPos val="nextTo"/>
        <c:crossAx val="595822344"/>
        <c:crosses val="autoZero"/>
        <c:auto val="1"/>
        <c:lblAlgn val="ctr"/>
        <c:lblOffset val="100"/>
      </c:catAx>
      <c:valAx>
        <c:axId val="595822344"/>
        <c:scaling>
          <c:orientation val="minMax"/>
        </c:scaling>
        <c:axPos val="l"/>
        <c:majorGridlines/>
        <c:numFmt formatCode="0.00000000" sourceLinked="1"/>
        <c:tickLblPos val="nextTo"/>
        <c:crossAx val="595819384"/>
        <c:crosses val="autoZero"/>
        <c:crossBetween val="between"/>
      </c:valAx>
    </c:plotArea>
    <c:legend>
      <c:legendPos val="r"/>
      <c:layout/>
    </c:legend>
    <c:plotVisOnly val="1"/>
  </c:chart>
  <c:externalData r:id="rId1"/>
</c:chartSpace>
</file>

<file path=ppt/charts/chart9.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Data!$R$2</c:f>
              <c:strCache>
                <c:ptCount val="1"/>
                <c:pt idx="0">
                  <c:v>Japan XA</c:v>
                </c:pt>
              </c:strCache>
            </c:strRef>
          </c:tx>
          <c:marker>
            <c:symbol val="none"/>
          </c:marker>
          <c:val>
            <c:numRef>
              <c:f>Data!$R$3:$R$11</c:f>
              <c:numCache>
                <c:formatCode>0.00000000</c:formatCode>
                <c:ptCount val="9"/>
                <c:pt idx="0">
                  <c:v>107.82125</c:v>
                </c:pt>
                <c:pt idx="1">
                  <c:v>121.533583</c:v>
                </c:pt>
                <c:pt idx="2">
                  <c:v>125.258333</c:v>
                </c:pt>
                <c:pt idx="3">
                  <c:v>115.916417</c:v>
                </c:pt>
                <c:pt idx="4">
                  <c:v>108.163583</c:v>
                </c:pt>
                <c:pt idx="5">
                  <c:v>110.120667</c:v>
                </c:pt>
                <c:pt idx="6">
                  <c:v>116.36475</c:v>
                </c:pt>
                <c:pt idx="7">
                  <c:v>117.769</c:v>
                </c:pt>
                <c:pt idx="8">
                  <c:v>103.395775</c:v>
                </c:pt>
              </c:numCache>
            </c:numRef>
          </c:val>
        </c:ser>
        <c:marker val="1"/>
        <c:axId val="488948776"/>
        <c:axId val="488951800"/>
      </c:lineChart>
      <c:catAx>
        <c:axId val="488948776"/>
        <c:scaling>
          <c:orientation val="minMax"/>
        </c:scaling>
        <c:axPos val="b"/>
        <c:tickLblPos val="nextTo"/>
        <c:crossAx val="488951800"/>
        <c:crosses val="autoZero"/>
        <c:auto val="1"/>
        <c:lblAlgn val="ctr"/>
        <c:lblOffset val="100"/>
      </c:catAx>
      <c:valAx>
        <c:axId val="488951800"/>
        <c:scaling>
          <c:orientation val="minMax"/>
        </c:scaling>
        <c:axPos val="l"/>
        <c:majorGridlines/>
        <c:numFmt formatCode="0.00000000" sourceLinked="1"/>
        <c:tickLblPos val="nextTo"/>
        <c:crossAx val="488948776"/>
        <c:crosses val="autoZero"/>
        <c:crossBetween val="between"/>
      </c:valAx>
    </c:plotArea>
    <c:legend>
      <c:legendPos val="r"/>
      <c:layout/>
    </c:legend>
    <c:plotVisOnly val="1"/>
  </c:chart>
  <c:externalData r:id="rId1"/>
</c:chartSpace>
</file>

<file path=ppt/charts/chart10.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Data!$E$2</c:f>
              <c:strCache>
                <c:ptCount val="1"/>
                <c:pt idx="0">
                  <c:v>Korea, Republic of FDI</c:v>
                </c:pt>
              </c:strCache>
            </c:strRef>
          </c:tx>
          <c:marker>
            <c:symbol val="none"/>
          </c:marker>
          <c:val>
            <c:numRef>
              <c:f>Data!$E$3:$E$11</c:f>
              <c:numCache>
                <c:formatCode>#,##0</c:formatCode>
                <c:ptCount val="9"/>
                <c:pt idx="0">
                  <c:v>4.845E9</c:v>
                </c:pt>
                <c:pt idx="1">
                  <c:v>5.422E9</c:v>
                </c:pt>
                <c:pt idx="2">
                  <c:v>6.385E9</c:v>
                </c:pt>
                <c:pt idx="3">
                  <c:v>6.922E9</c:v>
                </c:pt>
                <c:pt idx="4">
                  <c:v>7.385E9</c:v>
                </c:pt>
                <c:pt idx="5">
                  <c:v>7.909E9</c:v>
                </c:pt>
                <c:pt idx="6">
                  <c:v>9.345E9</c:v>
                </c:pt>
                <c:pt idx="7">
                  <c:v>9.203E9</c:v>
                </c:pt>
                <c:pt idx="8">
                  <c:v>9.165E9</c:v>
                </c:pt>
              </c:numCache>
            </c:numRef>
          </c:val>
        </c:ser>
        <c:marker val="1"/>
        <c:axId val="595912920"/>
        <c:axId val="515455080"/>
      </c:lineChart>
      <c:catAx>
        <c:axId val="595912920"/>
        <c:scaling>
          <c:orientation val="minMax"/>
        </c:scaling>
        <c:axPos val="b"/>
        <c:tickLblPos val="nextTo"/>
        <c:crossAx val="515455080"/>
        <c:crosses val="autoZero"/>
        <c:auto val="1"/>
        <c:lblAlgn val="ctr"/>
        <c:lblOffset val="100"/>
      </c:catAx>
      <c:valAx>
        <c:axId val="515455080"/>
        <c:scaling>
          <c:orientation val="minMax"/>
        </c:scaling>
        <c:axPos val="l"/>
        <c:majorGridlines/>
        <c:numFmt formatCode="#,##0" sourceLinked="1"/>
        <c:tickLblPos val="nextTo"/>
        <c:crossAx val="595912920"/>
        <c:crosses val="autoZero"/>
        <c:crossBetween val="between"/>
      </c:valAx>
    </c:plotArea>
    <c:legend>
      <c:legendPos val="r"/>
      <c:layout/>
    </c:legend>
    <c:plotVisOnly val="1"/>
  </c:chart>
  <c:externalData r:id="rId1"/>
</c:chartSpace>
</file>

<file path=ppt/charts/chart11.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Data!$L$2</c:f>
              <c:strCache>
                <c:ptCount val="1"/>
                <c:pt idx="0">
                  <c:v>Korea, Republic of XV</c:v>
                </c:pt>
              </c:strCache>
            </c:strRef>
          </c:tx>
          <c:marker>
            <c:symbol val="none"/>
          </c:marker>
          <c:val>
            <c:numRef>
              <c:f>Data!$L$3:$L$11</c:f>
              <c:numCache>
                <c:formatCode>0.00000000</c:formatCode>
                <c:ptCount val="9"/>
                <c:pt idx="0">
                  <c:v>29.6763879</c:v>
                </c:pt>
                <c:pt idx="1">
                  <c:v>18.2849745</c:v>
                </c:pt>
                <c:pt idx="2">
                  <c:v>54.8507712</c:v>
                </c:pt>
                <c:pt idx="3">
                  <c:v>22.28911979999999</c:v>
                </c:pt>
                <c:pt idx="4">
                  <c:v>38.5999495</c:v>
                </c:pt>
                <c:pt idx="5">
                  <c:v>14.21346</c:v>
                </c:pt>
                <c:pt idx="6">
                  <c:v>16.3444533</c:v>
                </c:pt>
                <c:pt idx="7">
                  <c:v>8.43595504</c:v>
                </c:pt>
                <c:pt idx="8">
                  <c:v>166.217951</c:v>
                </c:pt>
              </c:numCache>
            </c:numRef>
          </c:val>
        </c:ser>
        <c:marker val="1"/>
        <c:axId val="515491128"/>
        <c:axId val="652821992"/>
      </c:lineChart>
      <c:catAx>
        <c:axId val="515491128"/>
        <c:scaling>
          <c:orientation val="minMax"/>
        </c:scaling>
        <c:axPos val="b"/>
        <c:tickLblPos val="nextTo"/>
        <c:crossAx val="652821992"/>
        <c:crosses val="autoZero"/>
        <c:auto val="1"/>
        <c:lblAlgn val="ctr"/>
        <c:lblOffset val="100"/>
      </c:catAx>
      <c:valAx>
        <c:axId val="652821992"/>
        <c:scaling>
          <c:orientation val="minMax"/>
        </c:scaling>
        <c:axPos val="l"/>
        <c:majorGridlines/>
        <c:numFmt formatCode="0.00000000" sourceLinked="1"/>
        <c:tickLblPos val="nextTo"/>
        <c:crossAx val="515491128"/>
        <c:crosses val="autoZero"/>
        <c:crossBetween val="between"/>
      </c:valAx>
    </c:plotArea>
    <c:legend>
      <c:legendPos val="r"/>
      <c:layout/>
    </c:legend>
    <c:plotVisOnly val="1"/>
  </c:chart>
  <c:externalData r:id="rId1"/>
</c:chartSpace>
</file>

<file path=ppt/charts/chart12.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Data!$S$2</c:f>
              <c:strCache>
                <c:ptCount val="1"/>
                <c:pt idx="0">
                  <c:v>Korea, Republic of XA</c:v>
                </c:pt>
              </c:strCache>
            </c:strRef>
          </c:tx>
          <c:marker>
            <c:symbol val="none"/>
          </c:marker>
          <c:val>
            <c:numRef>
              <c:f>Data!$S$3:$S$11</c:f>
              <c:numCache>
                <c:formatCode>0.00000000</c:formatCode>
                <c:ptCount val="9"/>
                <c:pt idx="0">
                  <c:v>1131.38</c:v>
                </c:pt>
                <c:pt idx="1">
                  <c:v>1291.7225</c:v>
                </c:pt>
                <c:pt idx="2">
                  <c:v>1250.47083</c:v>
                </c:pt>
                <c:pt idx="3">
                  <c:v>1191.93333</c:v>
                </c:pt>
                <c:pt idx="4">
                  <c:v>1145.995</c:v>
                </c:pt>
                <c:pt idx="5">
                  <c:v>1024.08583</c:v>
                </c:pt>
                <c:pt idx="6">
                  <c:v>954.401833</c:v>
                </c:pt>
                <c:pt idx="7">
                  <c:v>929.04175</c:v>
                </c:pt>
                <c:pt idx="8">
                  <c:v>1099.9435</c:v>
                </c:pt>
              </c:numCache>
            </c:numRef>
          </c:val>
        </c:ser>
        <c:marker val="1"/>
        <c:axId val="489472376"/>
        <c:axId val="595761112"/>
      </c:lineChart>
      <c:catAx>
        <c:axId val="489472376"/>
        <c:scaling>
          <c:orientation val="minMax"/>
        </c:scaling>
        <c:axPos val="b"/>
        <c:tickLblPos val="nextTo"/>
        <c:crossAx val="595761112"/>
        <c:crosses val="autoZero"/>
        <c:auto val="1"/>
        <c:lblAlgn val="ctr"/>
        <c:lblOffset val="100"/>
      </c:catAx>
      <c:valAx>
        <c:axId val="595761112"/>
        <c:scaling>
          <c:orientation val="minMax"/>
        </c:scaling>
        <c:axPos val="l"/>
        <c:majorGridlines/>
        <c:numFmt formatCode="0.00000000" sourceLinked="1"/>
        <c:tickLblPos val="nextTo"/>
        <c:crossAx val="489472376"/>
        <c:crosses val="autoZero"/>
        <c:crossBetween val="between"/>
      </c:valAx>
    </c:plotArea>
    <c:legend>
      <c:legendPos val="r"/>
      <c:layout/>
    </c:legend>
    <c:plotVisOnly val="1"/>
  </c:chart>
  <c:externalData r:id="rId1"/>
</c:chartSpace>
</file>

<file path=ppt/charts/chart13.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Data!$F$2</c:f>
              <c:strCache>
                <c:ptCount val="1"/>
                <c:pt idx="0">
                  <c:v>Singapore FDI</c:v>
                </c:pt>
              </c:strCache>
            </c:strRef>
          </c:tx>
          <c:marker>
            <c:symbol val="none"/>
          </c:marker>
          <c:val>
            <c:numRef>
              <c:f>Data!$F$3:$F$11</c:f>
              <c:numCache>
                <c:formatCode>#,##0</c:formatCode>
                <c:ptCount val="9"/>
                <c:pt idx="0">
                  <c:v>1.3975E10</c:v>
                </c:pt>
                <c:pt idx="1">
                  <c:v>1.7734E10</c:v>
                </c:pt>
                <c:pt idx="2">
                  <c:v>1.3056E10</c:v>
                </c:pt>
                <c:pt idx="3">
                  <c:v>1.3356E10</c:v>
                </c:pt>
                <c:pt idx="4">
                  <c:v>1.1641E10</c:v>
                </c:pt>
                <c:pt idx="5">
                  <c:v>1.0322E10</c:v>
                </c:pt>
                <c:pt idx="6">
                  <c:v>1.1631E10</c:v>
                </c:pt>
                <c:pt idx="7">
                  <c:v>1.4295E10</c:v>
                </c:pt>
                <c:pt idx="8">
                  <c:v>1.6544E10</c:v>
                </c:pt>
              </c:numCache>
            </c:numRef>
          </c:val>
        </c:ser>
        <c:marker val="1"/>
        <c:axId val="489306056"/>
        <c:axId val="515250872"/>
      </c:lineChart>
      <c:catAx>
        <c:axId val="489306056"/>
        <c:scaling>
          <c:orientation val="minMax"/>
        </c:scaling>
        <c:axPos val="b"/>
        <c:tickLblPos val="nextTo"/>
        <c:crossAx val="515250872"/>
        <c:crosses val="autoZero"/>
        <c:auto val="1"/>
        <c:lblAlgn val="ctr"/>
        <c:lblOffset val="100"/>
      </c:catAx>
      <c:valAx>
        <c:axId val="515250872"/>
        <c:scaling>
          <c:orientation val="minMax"/>
        </c:scaling>
        <c:axPos val="l"/>
        <c:majorGridlines/>
        <c:numFmt formatCode="#,##0" sourceLinked="1"/>
        <c:tickLblPos val="nextTo"/>
        <c:crossAx val="489306056"/>
        <c:crosses val="autoZero"/>
        <c:crossBetween val="between"/>
      </c:valAx>
    </c:plotArea>
    <c:legend>
      <c:legendPos val="r"/>
      <c:layout/>
    </c:legend>
    <c:plotVisOnly val="1"/>
  </c:chart>
  <c:externalData r:id="rId1"/>
</c:chartSpace>
</file>

<file path=ppt/charts/chart14.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Data!$M$2</c:f>
              <c:strCache>
                <c:ptCount val="1"/>
                <c:pt idx="0">
                  <c:v>Singapore XV</c:v>
                </c:pt>
              </c:strCache>
            </c:strRef>
          </c:tx>
          <c:marker>
            <c:symbol val="none"/>
          </c:marker>
          <c:val>
            <c:numRef>
              <c:f>Data!$M$3:$M$11</c:f>
              <c:numCache>
                <c:formatCode>0.00000000</c:formatCode>
                <c:ptCount val="9"/>
                <c:pt idx="0">
                  <c:v>0.02176341</c:v>
                </c:pt>
                <c:pt idx="1">
                  <c:v>0.03654785</c:v>
                </c:pt>
                <c:pt idx="2">
                  <c:v>0.03366051</c:v>
                </c:pt>
                <c:pt idx="3">
                  <c:v>0.01664344</c:v>
                </c:pt>
                <c:pt idx="4">
                  <c:v>0.02437301</c:v>
                </c:pt>
                <c:pt idx="5">
                  <c:v>0.02232425</c:v>
                </c:pt>
                <c:pt idx="6">
                  <c:v>0.02817358</c:v>
                </c:pt>
                <c:pt idx="7">
                  <c:v>0.03340537</c:v>
                </c:pt>
                <c:pt idx="8">
                  <c:v>0.05038742</c:v>
                </c:pt>
              </c:numCache>
            </c:numRef>
          </c:val>
        </c:ser>
        <c:marker val="1"/>
        <c:axId val="515632536"/>
        <c:axId val="515635624"/>
      </c:lineChart>
      <c:catAx>
        <c:axId val="515632536"/>
        <c:scaling>
          <c:orientation val="minMax"/>
        </c:scaling>
        <c:axPos val="b"/>
        <c:tickLblPos val="nextTo"/>
        <c:crossAx val="515635624"/>
        <c:crosses val="autoZero"/>
        <c:auto val="1"/>
        <c:lblAlgn val="ctr"/>
        <c:lblOffset val="100"/>
      </c:catAx>
      <c:valAx>
        <c:axId val="515635624"/>
        <c:scaling>
          <c:orientation val="minMax"/>
        </c:scaling>
        <c:axPos val="l"/>
        <c:majorGridlines/>
        <c:numFmt formatCode="0.00000000" sourceLinked="1"/>
        <c:tickLblPos val="nextTo"/>
        <c:crossAx val="515632536"/>
        <c:crosses val="autoZero"/>
        <c:crossBetween val="between"/>
      </c:valAx>
    </c:plotArea>
    <c:legend>
      <c:legendPos val="r"/>
      <c:layout/>
    </c:legend>
    <c:plotVisOnly val="1"/>
  </c:chart>
  <c:externalData r:id="rId1"/>
</c:chartSpace>
</file>

<file path=ppt/charts/chart15.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Data!$T$2</c:f>
              <c:strCache>
                <c:ptCount val="1"/>
                <c:pt idx="0">
                  <c:v>Singapore XA</c:v>
                </c:pt>
              </c:strCache>
            </c:strRef>
          </c:tx>
          <c:marker>
            <c:symbol val="none"/>
          </c:marker>
          <c:val>
            <c:numRef>
              <c:f>Data!$T$3:$T$11</c:f>
              <c:numCache>
                <c:formatCode>0.00000000</c:formatCode>
                <c:ptCount val="9"/>
                <c:pt idx="0">
                  <c:v>1.7248875</c:v>
                </c:pt>
                <c:pt idx="1">
                  <c:v>1.792575</c:v>
                </c:pt>
                <c:pt idx="2">
                  <c:v>1.79088</c:v>
                </c:pt>
                <c:pt idx="3">
                  <c:v>1.74276083</c:v>
                </c:pt>
                <c:pt idx="4">
                  <c:v>1.69025833</c:v>
                </c:pt>
                <c:pt idx="5">
                  <c:v>1.66413833</c:v>
                </c:pt>
                <c:pt idx="6">
                  <c:v>1.588585</c:v>
                </c:pt>
                <c:pt idx="7">
                  <c:v>1.50661667</c:v>
                </c:pt>
                <c:pt idx="8">
                  <c:v>1.41478167</c:v>
                </c:pt>
              </c:numCache>
            </c:numRef>
          </c:val>
        </c:ser>
        <c:marker val="1"/>
        <c:axId val="515834424"/>
        <c:axId val="515224392"/>
      </c:lineChart>
      <c:catAx>
        <c:axId val="515834424"/>
        <c:scaling>
          <c:orientation val="minMax"/>
        </c:scaling>
        <c:axPos val="b"/>
        <c:tickLblPos val="nextTo"/>
        <c:crossAx val="515224392"/>
        <c:crosses val="autoZero"/>
        <c:auto val="1"/>
        <c:lblAlgn val="ctr"/>
        <c:lblOffset val="100"/>
      </c:catAx>
      <c:valAx>
        <c:axId val="515224392"/>
        <c:scaling>
          <c:orientation val="minMax"/>
        </c:scaling>
        <c:axPos val="l"/>
        <c:majorGridlines/>
        <c:numFmt formatCode="0.00000000" sourceLinked="1"/>
        <c:tickLblPos val="nextTo"/>
        <c:crossAx val="515834424"/>
        <c:crosses val="autoZero"/>
        <c:crossBetween val="between"/>
      </c:valAx>
    </c:plotArea>
    <c:legend>
      <c:legendPos val="r"/>
      <c:layout/>
    </c:legend>
    <c:plotVisOnly val="1"/>
  </c:chart>
  <c:externalData r:id="rId1"/>
</c:chartSpace>
</file>

<file path=ppt/charts/chart16.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Data!$G$2</c:f>
              <c:strCache>
                <c:ptCount val="1"/>
                <c:pt idx="0">
                  <c:v>Taiwan FDI</c:v>
                </c:pt>
              </c:strCache>
            </c:strRef>
          </c:tx>
          <c:marker>
            <c:symbol val="none"/>
          </c:marker>
          <c:val>
            <c:numRef>
              <c:f>Data!$G$3:$G$11</c:f>
              <c:numCache>
                <c:formatCode>#,##0</c:formatCode>
                <c:ptCount val="9"/>
                <c:pt idx="0">
                  <c:v>3.126E9</c:v>
                </c:pt>
                <c:pt idx="1">
                  <c:v>3.488E9</c:v>
                </c:pt>
                <c:pt idx="2">
                  <c:v>3.709E9</c:v>
                </c:pt>
                <c:pt idx="3">
                  <c:v>3.925E9</c:v>
                </c:pt>
                <c:pt idx="4">
                  <c:v>3.832E9</c:v>
                </c:pt>
                <c:pt idx="5">
                  <c:v>3.589E9</c:v>
                </c:pt>
                <c:pt idx="6">
                  <c:v>4.221E9</c:v>
                </c:pt>
                <c:pt idx="7">
                  <c:v>3.616E9</c:v>
                </c:pt>
                <c:pt idx="8">
                  <c:v>3.816E9</c:v>
                </c:pt>
              </c:numCache>
            </c:numRef>
          </c:val>
        </c:ser>
        <c:marker val="1"/>
        <c:axId val="664929880"/>
        <c:axId val="665008904"/>
      </c:lineChart>
      <c:catAx>
        <c:axId val="664929880"/>
        <c:scaling>
          <c:orientation val="minMax"/>
        </c:scaling>
        <c:axPos val="b"/>
        <c:tickLblPos val="nextTo"/>
        <c:crossAx val="665008904"/>
        <c:crosses val="autoZero"/>
        <c:auto val="1"/>
        <c:lblAlgn val="ctr"/>
        <c:lblOffset val="100"/>
      </c:catAx>
      <c:valAx>
        <c:axId val="665008904"/>
        <c:scaling>
          <c:orientation val="minMax"/>
        </c:scaling>
        <c:axPos val="l"/>
        <c:majorGridlines/>
        <c:numFmt formatCode="#,##0" sourceLinked="1"/>
        <c:tickLblPos val="nextTo"/>
        <c:crossAx val="664929880"/>
        <c:crosses val="autoZero"/>
        <c:crossBetween val="between"/>
      </c:valAx>
    </c:plotArea>
    <c:legend>
      <c:legendPos val="r"/>
      <c:layout/>
    </c:legend>
    <c:plotVisOnly val="1"/>
  </c:chart>
  <c:externalData r:id="rId1"/>
</c:chartSpace>
</file>

<file path=ppt/charts/chart17.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Data!$N$2</c:f>
              <c:strCache>
                <c:ptCount val="1"/>
                <c:pt idx="0">
                  <c:v>Taiwan XV</c:v>
                </c:pt>
              </c:strCache>
            </c:strRef>
          </c:tx>
          <c:marker>
            <c:symbol val="none"/>
          </c:marker>
          <c:val>
            <c:numRef>
              <c:f>Data!$N$3:$N$11</c:f>
              <c:numCache>
                <c:formatCode>0.00000000</c:formatCode>
                <c:ptCount val="9"/>
                <c:pt idx="0">
                  <c:v>0.79166547</c:v>
                </c:pt>
                <c:pt idx="1">
                  <c:v>0.97383152</c:v>
                </c:pt>
                <c:pt idx="2">
                  <c:v>0.57235512</c:v>
                </c:pt>
                <c:pt idx="3">
                  <c:v>0.33896057</c:v>
                </c:pt>
                <c:pt idx="4">
                  <c:v>0.53548914</c:v>
                </c:pt>
                <c:pt idx="5">
                  <c:v>0.91165816</c:v>
                </c:pt>
                <c:pt idx="6">
                  <c:v>0.38639647</c:v>
                </c:pt>
                <c:pt idx="7">
                  <c:v>0.2900334</c:v>
                </c:pt>
                <c:pt idx="8">
                  <c:v>1.08780718</c:v>
                </c:pt>
              </c:numCache>
            </c:numRef>
          </c:val>
        </c:ser>
        <c:marker val="1"/>
        <c:axId val="504817128"/>
        <c:axId val="665191608"/>
      </c:lineChart>
      <c:catAx>
        <c:axId val="504817128"/>
        <c:scaling>
          <c:orientation val="minMax"/>
        </c:scaling>
        <c:axPos val="b"/>
        <c:tickLblPos val="nextTo"/>
        <c:crossAx val="665191608"/>
        <c:crosses val="autoZero"/>
        <c:auto val="1"/>
        <c:lblAlgn val="ctr"/>
        <c:lblOffset val="100"/>
      </c:catAx>
      <c:valAx>
        <c:axId val="665191608"/>
        <c:scaling>
          <c:orientation val="minMax"/>
        </c:scaling>
        <c:axPos val="l"/>
        <c:majorGridlines/>
        <c:numFmt formatCode="0.00000000" sourceLinked="1"/>
        <c:tickLblPos val="nextTo"/>
        <c:crossAx val="504817128"/>
        <c:crosses val="autoZero"/>
        <c:crossBetween val="between"/>
      </c:valAx>
    </c:plotArea>
    <c:legend>
      <c:legendPos val="r"/>
      <c:layout/>
    </c:legend>
    <c:plotVisOnly val="1"/>
  </c:chart>
  <c:externalData r:id="rId1"/>
</c:chartSpace>
</file>

<file path=ppt/charts/chart18.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Data!$U$2</c:f>
              <c:strCache>
                <c:ptCount val="1"/>
                <c:pt idx="0">
                  <c:v>Taiwan XA</c:v>
                </c:pt>
              </c:strCache>
            </c:strRef>
          </c:tx>
          <c:marker>
            <c:symbol val="none"/>
          </c:marker>
          <c:val>
            <c:numRef>
              <c:f>Data!$U$3:$U$11</c:f>
              <c:numCache>
                <c:formatCode>0.00000000</c:formatCode>
                <c:ptCount val="9"/>
                <c:pt idx="0">
                  <c:v>31.2692917</c:v>
                </c:pt>
                <c:pt idx="1">
                  <c:v>33.8256583</c:v>
                </c:pt>
                <c:pt idx="2">
                  <c:v>34.544675</c:v>
                </c:pt>
                <c:pt idx="3">
                  <c:v>34.4047667</c:v>
                </c:pt>
                <c:pt idx="4">
                  <c:v>33.3805167</c:v>
                </c:pt>
                <c:pt idx="5">
                  <c:v>32.1413417</c:v>
                </c:pt>
                <c:pt idx="6">
                  <c:v>32.50955</c:v>
                </c:pt>
                <c:pt idx="7">
                  <c:v>32.85026669999999</c:v>
                </c:pt>
                <c:pt idx="8">
                  <c:v>31.5296167</c:v>
                </c:pt>
              </c:numCache>
            </c:numRef>
          </c:val>
        </c:ser>
        <c:marker val="1"/>
        <c:axId val="691101368"/>
        <c:axId val="651327976"/>
      </c:lineChart>
      <c:catAx>
        <c:axId val="691101368"/>
        <c:scaling>
          <c:orientation val="minMax"/>
        </c:scaling>
        <c:axPos val="b"/>
        <c:tickLblPos val="nextTo"/>
        <c:crossAx val="651327976"/>
        <c:crosses val="autoZero"/>
        <c:auto val="1"/>
        <c:lblAlgn val="ctr"/>
        <c:lblOffset val="100"/>
      </c:catAx>
      <c:valAx>
        <c:axId val="651327976"/>
        <c:scaling>
          <c:orientation val="minMax"/>
        </c:scaling>
        <c:axPos val="l"/>
        <c:majorGridlines/>
        <c:numFmt formatCode="0.00000000" sourceLinked="1"/>
        <c:tickLblPos val="nextTo"/>
        <c:crossAx val="691101368"/>
        <c:crosses val="autoZero"/>
        <c:crossBetween val="between"/>
      </c:valAx>
    </c:plotArea>
    <c:legend>
      <c:legendPos val="r"/>
      <c:layout/>
    </c:legend>
    <c:plotVisOnly val="1"/>
  </c:chart>
  <c:externalData r:id="rId1"/>
</c:chartSpace>
</file>

<file path=ppt/charts/chart19.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Data!$H$2</c:f>
              <c:strCache>
                <c:ptCount val="1"/>
                <c:pt idx="0">
                  <c:v>Thailand FDI</c:v>
                </c:pt>
              </c:strCache>
            </c:strRef>
          </c:tx>
          <c:marker>
            <c:symbol val="none"/>
          </c:marker>
          <c:val>
            <c:numRef>
              <c:f>Data!$H$3:$H$11</c:f>
              <c:numCache>
                <c:formatCode>#,##0</c:formatCode>
                <c:ptCount val="9"/>
                <c:pt idx="0">
                  <c:v>2.627E9</c:v>
                </c:pt>
                <c:pt idx="1">
                  <c:v>2.931E9</c:v>
                </c:pt>
                <c:pt idx="2">
                  <c:v>2.837E9</c:v>
                </c:pt>
                <c:pt idx="3">
                  <c:v>3.223E9</c:v>
                </c:pt>
                <c:pt idx="4">
                  <c:v>3.745E9</c:v>
                </c:pt>
                <c:pt idx="5">
                  <c:v>4.221E9</c:v>
                </c:pt>
                <c:pt idx="6">
                  <c:v>4.905E9</c:v>
                </c:pt>
                <c:pt idx="7">
                  <c:v>4.716E9</c:v>
                </c:pt>
                <c:pt idx="8">
                  <c:v>4.945E9</c:v>
                </c:pt>
              </c:numCache>
            </c:numRef>
          </c:val>
        </c:ser>
        <c:marker val="1"/>
        <c:axId val="690302024"/>
        <c:axId val="651812392"/>
      </c:lineChart>
      <c:catAx>
        <c:axId val="690302024"/>
        <c:scaling>
          <c:orientation val="minMax"/>
        </c:scaling>
        <c:axPos val="b"/>
        <c:tickLblPos val="nextTo"/>
        <c:crossAx val="651812392"/>
        <c:crosses val="autoZero"/>
        <c:auto val="1"/>
        <c:lblAlgn val="ctr"/>
        <c:lblOffset val="100"/>
      </c:catAx>
      <c:valAx>
        <c:axId val="651812392"/>
        <c:scaling>
          <c:orientation val="minMax"/>
        </c:scaling>
        <c:axPos val="l"/>
        <c:majorGridlines/>
        <c:numFmt formatCode="#,##0" sourceLinked="1"/>
        <c:tickLblPos val="nextTo"/>
        <c:crossAx val="690302024"/>
        <c:crosses val="autoZero"/>
        <c:crossBetween val="between"/>
      </c:valAx>
    </c:plotArea>
    <c:legend>
      <c:legendPos val="r"/>
      <c:layout/>
    </c:legend>
    <c:plotVisOnly val="1"/>
  </c:chart>
  <c:externalData r:id="rId1"/>
</c:chartSpace>
</file>

<file path=ppt/charts/chart20.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Data!$O$2</c:f>
              <c:strCache>
                <c:ptCount val="1"/>
                <c:pt idx="0">
                  <c:v>Thailand XV</c:v>
                </c:pt>
              </c:strCache>
            </c:strRef>
          </c:tx>
          <c:marker>
            <c:symbol val="none"/>
          </c:marker>
          <c:val>
            <c:numRef>
              <c:f>Data!$O$3:$O$11</c:f>
              <c:numCache>
                <c:formatCode>0.00000000</c:formatCode>
                <c:ptCount val="9"/>
                <c:pt idx="0">
                  <c:v>2.38291351</c:v>
                </c:pt>
                <c:pt idx="1">
                  <c:v>0.95037149</c:v>
                </c:pt>
                <c:pt idx="2">
                  <c:v>0.81112687</c:v>
                </c:pt>
                <c:pt idx="3">
                  <c:v>1.26217849</c:v>
                </c:pt>
                <c:pt idx="4">
                  <c:v>0.95816482</c:v>
                </c:pt>
                <c:pt idx="5">
                  <c:v>1.15601273</c:v>
                </c:pt>
                <c:pt idx="6">
                  <c:v>1.11327099</c:v>
                </c:pt>
                <c:pt idx="7">
                  <c:v>1.39202375</c:v>
                </c:pt>
                <c:pt idx="8">
                  <c:v>1.6166926</c:v>
                </c:pt>
              </c:numCache>
            </c:numRef>
          </c:val>
        </c:ser>
        <c:marker val="1"/>
        <c:axId val="670577768"/>
        <c:axId val="69364280"/>
      </c:lineChart>
      <c:catAx>
        <c:axId val="670577768"/>
        <c:scaling>
          <c:orientation val="minMax"/>
        </c:scaling>
        <c:axPos val="b"/>
        <c:tickLblPos val="nextTo"/>
        <c:crossAx val="69364280"/>
        <c:crosses val="autoZero"/>
        <c:auto val="1"/>
        <c:lblAlgn val="ctr"/>
        <c:lblOffset val="100"/>
      </c:catAx>
      <c:valAx>
        <c:axId val="69364280"/>
        <c:scaling>
          <c:orientation val="minMax"/>
        </c:scaling>
        <c:axPos val="l"/>
        <c:majorGridlines/>
        <c:numFmt formatCode="0.00000000" sourceLinked="1"/>
        <c:tickLblPos val="nextTo"/>
        <c:crossAx val="670577768"/>
        <c:crosses val="autoZero"/>
        <c:crossBetween val="between"/>
      </c:valAx>
    </c:plotArea>
    <c:legend>
      <c:legendPos val="r"/>
      <c:layout/>
    </c:legend>
    <c:plotVisOnly val="1"/>
  </c:chart>
  <c:externalData r:id="rId1"/>
</c:chartSpace>
</file>

<file path=ppt/charts/chart21.xml><?xml version="1.0" encoding="utf-8"?>
<c:chartSpace xmlns:c="http://schemas.openxmlformats.org/drawingml/2006/chart" xmlns:a="http://schemas.openxmlformats.org/drawingml/2006/main" xmlns:r="http://schemas.openxmlformats.org/officeDocument/2006/relationships">
  <c:date1904 val="1"/>
  <c:lang val="en-US"/>
  <c:style val="18"/>
  <c:chart>
    <c:title>
      <c:layout/>
    </c:title>
    <c:plotArea>
      <c:layout/>
      <c:lineChart>
        <c:grouping val="standard"/>
        <c:ser>
          <c:idx val="0"/>
          <c:order val="0"/>
          <c:tx>
            <c:strRef>
              <c:f>Data!$V$2</c:f>
              <c:strCache>
                <c:ptCount val="1"/>
                <c:pt idx="0">
                  <c:v>Thailand XA</c:v>
                </c:pt>
              </c:strCache>
            </c:strRef>
          </c:tx>
          <c:marker>
            <c:symbol val="none"/>
          </c:marker>
          <c:val>
            <c:numRef>
              <c:f>Data!$V$3:$V$11</c:f>
              <c:numCache>
                <c:formatCode>0.00000000</c:formatCode>
                <c:ptCount val="9"/>
                <c:pt idx="0">
                  <c:v>40.2218417</c:v>
                </c:pt>
                <c:pt idx="1">
                  <c:v>44.508175</c:v>
                </c:pt>
                <c:pt idx="2">
                  <c:v>43.0322333</c:v>
                </c:pt>
                <c:pt idx="3">
                  <c:v>41.553975</c:v>
                </c:pt>
                <c:pt idx="4">
                  <c:v>40.2758917</c:v>
                </c:pt>
                <c:pt idx="5">
                  <c:v>40.24585</c:v>
                </c:pt>
                <c:pt idx="6">
                  <c:v>37.88749169999999</c:v>
                </c:pt>
                <c:pt idx="7">
                  <c:v>32.219675</c:v>
                </c:pt>
                <c:pt idx="8">
                  <c:v>32.9634167</c:v>
                </c:pt>
              </c:numCache>
            </c:numRef>
          </c:val>
        </c:ser>
        <c:marker val="1"/>
        <c:axId val="671049752"/>
        <c:axId val="690821464"/>
      </c:lineChart>
      <c:catAx>
        <c:axId val="671049752"/>
        <c:scaling>
          <c:orientation val="minMax"/>
        </c:scaling>
        <c:axPos val="b"/>
        <c:tickLblPos val="nextTo"/>
        <c:crossAx val="690821464"/>
        <c:crosses val="autoZero"/>
        <c:auto val="1"/>
        <c:lblAlgn val="ctr"/>
        <c:lblOffset val="100"/>
      </c:catAx>
      <c:valAx>
        <c:axId val="690821464"/>
        <c:scaling>
          <c:orientation val="minMax"/>
        </c:scaling>
        <c:axPos val="l"/>
        <c:majorGridlines/>
        <c:numFmt formatCode="0.00000000" sourceLinked="1"/>
        <c:tickLblPos val="nextTo"/>
        <c:crossAx val="671049752"/>
        <c:crosses val="autoZero"/>
        <c:crossBetween val="between"/>
      </c:valAx>
    </c:plotArea>
    <c:legend>
      <c:legendPos val="r"/>
      <c:layout/>
    </c:legend>
    <c:plotVisOnly val="1"/>
  </c:chart>
  <c:externalData r:id="rId1"/>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grpSp>
        <p:nvGrpSpPr>
          <p:cNvPr id="6" name="Group 10"/>
          <p:cNvGrpSpPr/>
          <p:nvPr/>
        </p:nvGrpSpPr>
        <p:grpSpPr>
          <a:xfrm>
            <a:off x="-1" y="3379694"/>
            <a:ext cx="7543801" cy="2604247"/>
            <a:chOff x="-1" y="3379694"/>
            <a:chExt cx="7543801" cy="2604247"/>
          </a:xfrm>
        </p:grpSpPr>
        <p:grpSp>
          <p:nvGrpSpPr>
            <p:cNvPr id="7" name="Group 11"/>
            <p:cNvGrpSpPr/>
            <p:nvPr/>
          </p:nvGrpSpPr>
          <p:grpSpPr>
            <a:xfrm>
              <a:off x="-1" y="3379694"/>
              <a:ext cx="7543801" cy="2604247"/>
              <a:chOff x="-1" y="3379694"/>
              <a:chExt cx="7543801" cy="2604247"/>
            </a:xfrm>
          </p:grpSpPr>
          <p:sp>
            <p:nvSpPr>
              <p:cNvPr id="15" name="Snip Single Corner Rectangle 14"/>
              <p:cNvSpPr/>
              <p:nvPr/>
            </p:nvSpPr>
            <p:spPr>
              <a:xfrm flipV="1">
                <a:off x="-1" y="3393141"/>
                <a:ext cx="7543800" cy="2590800"/>
              </a:xfrm>
              <a:prstGeom prst="snip1Rect">
                <a:avLst>
                  <a:gd name="adj" fmla="val 737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6" name="Straight Connector 15"/>
              <p:cNvCxnSpPr/>
              <p:nvPr/>
            </p:nvCxnSpPr>
            <p:spPr>
              <a:xfrm>
                <a:off x="0" y="3379694"/>
                <a:ext cx="7543800" cy="237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3" name="Teardrop 12"/>
            <p:cNvSpPr/>
            <p:nvPr/>
          </p:nvSpPr>
          <p:spPr>
            <a:xfrm>
              <a:off x="6817659" y="3621741"/>
              <a:ext cx="394447" cy="394447"/>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1371600" y="3913281"/>
            <a:ext cx="5867400" cy="1470025"/>
          </a:xfrm>
        </p:spPr>
        <p:txBody>
          <a:bodyPr>
            <a:normAutofit/>
          </a:bodyPr>
          <a:lstStyle>
            <a:lvl1pPr algn="r">
              <a:defRPr sz="4600"/>
            </a:lvl1pPr>
          </a:lstStyle>
          <a:p>
            <a:r>
              <a:rPr lang="en-US" smtClean="0"/>
              <a:t>Click to edit Master title style</a:t>
            </a:r>
            <a:endParaRPr/>
          </a:p>
        </p:txBody>
      </p:sp>
      <p:sp>
        <p:nvSpPr>
          <p:cNvPr id="3" name="Subtitle 2"/>
          <p:cNvSpPr>
            <a:spLocks noGrp="1"/>
          </p:cNvSpPr>
          <p:nvPr>
            <p:ph type="subTitle" idx="1"/>
          </p:nvPr>
        </p:nvSpPr>
        <p:spPr>
          <a:xfrm>
            <a:off x="1371600" y="5396753"/>
            <a:ext cx="5867400" cy="573741"/>
          </a:xfrm>
        </p:spPr>
        <p:txBody>
          <a:bodyPr>
            <a:normAutofit/>
          </a:bodyPr>
          <a:lstStyle>
            <a:lvl1pPr marL="0" indent="0" algn="r">
              <a:spcBef>
                <a:spcPct val="0"/>
              </a:spcBef>
              <a:buNone/>
              <a:defRPr sz="1400">
                <a:solidFill>
                  <a:schemeClr val="tx1">
                    <a:lumMod val="90000"/>
                    <a:lumOff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rot="16200000">
            <a:off x="-734076" y="4503737"/>
            <a:ext cx="2057400" cy="365125"/>
          </a:xfrm>
        </p:spPr>
        <p:txBody>
          <a:bodyPr lIns="91440" tIns="0" bIns="0" anchor="b" anchorCtr="0"/>
          <a:lstStyle>
            <a:lvl1pPr>
              <a:defRPr sz="1400" b="1">
                <a:solidFill>
                  <a:schemeClr val="bg1">
                    <a:lumMod val="50000"/>
                  </a:schemeClr>
                </a:solidFill>
              </a:defRPr>
            </a:lvl1pPr>
          </a:lstStyle>
          <a:p>
            <a:fld id="{31D93A85-1110-8E4D-A791-1973608C3B8D}" type="datetimeFigureOut">
              <a:rPr lang="en-US" smtClean="0"/>
              <a:pPr/>
              <a:t>3/1/10</a:t>
            </a:fld>
            <a:endParaRPr lang="en-US"/>
          </a:p>
        </p:txBody>
      </p:sp>
      <p:sp>
        <p:nvSpPr>
          <p:cNvPr id="5" name="Footer Placeholder 4"/>
          <p:cNvSpPr>
            <a:spLocks noGrp="1"/>
          </p:cNvSpPr>
          <p:nvPr>
            <p:ph type="ftr" sz="quarter" idx="11"/>
          </p:nvPr>
        </p:nvSpPr>
        <p:spPr>
          <a:xfrm rot="16200000">
            <a:off x="-356811" y="4503737"/>
            <a:ext cx="2057397" cy="365125"/>
          </a:xfrm>
        </p:spPr>
        <p:txBody>
          <a:bodyPr lIns="91440" tIns="0" bIns="0" anchor="t" anchorCtr="0"/>
          <a:lstStyle>
            <a:lvl1pPr algn="l">
              <a:defRPr b="1">
                <a:solidFill>
                  <a:schemeClr val="bg1">
                    <a:lumMod val="75000"/>
                  </a:schemeClr>
                </a:solidFill>
              </a:defRPr>
            </a:lvl1p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9" name="Snip Diagonal Corner Rectangle 8"/>
          <p:cNvSpPr/>
          <p:nvPr/>
        </p:nvSpPr>
        <p:spPr>
          <a:xfrm flipV="1">
            <a:off x="228600" y="1707776"/>
            <a:ext cx="8686800" cy="4908176"/>
          </a:xfrm>
          <a:prstGeom prst="snip2DiagRect">
            <a:avLst>
              <a:gd name="adj1" fmla="val 0"/>
              <a:gd name="adj2" fmla="val 400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Snip Diagonal Corner Rectangle 9"/>
          <p:cNvSpPr/>
          <p:nvPr/>
        </p:nvSpPr>
        <p:spPr>
          <a:xfrm flipV="1">
            <a:off x="228600" y="228597"/>
            <a:ext cx="8686800" cy="1277473"/>
          </a:xfrm>
          <a:prstGeom prst="snip2DiagRect">
            <a:avLst>
              <a:gd name="adj1" fmla="val 0"/>
              <a:gd name="adj2" fmla="val 1167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31D93A85-1110-8E4D-A791-1973608C3B8D}" type="datetimeFigureOut">
              <a:rPr lang="en-US" smtClean="0"/>
              <a:pPr/>
              <a:t>3/1/10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CED7D7-7D24-C846-AB3E-432FF7E6319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spTree>
      <p:nvGrpSpPr>
        <p:cNvPr id="1" name=""/>
        <p:cNvGrpSpPr/>
        <p:nvPr/>
      </p:nvGrpSpPr>
      <p:grpSpPr>
        <a:xfrm>
          <a:off x="0" y="0"/>
          <a:ext cx="0" cy="0"/>
          <a:chOff x="0" y="0"/>
          <a:chExt cx="0" cy="0"/>
        </a:xfrm>
      </p:grpSpPr>
      <p:grpSp>
        <p:nvGrpSpPr>
          <p:cNvPr id="6" name="Group 14"/>
          <p:cNvGrpSpPr/>
          <p:nvPr/>
        </p:nvGrpSpPr>
        <p:grpSpPr>
          <a:xfrm>
            <a:off x="-1" y="3379694"/>
            <a:ext cx="7543801" cy="2604247"/>
            <a:chOff x="-1" y="3379694"/>
            <a:chExt cx="7543801" cy="2604247"/>
          </a:xfrm>
        </p:grpSpPr>
        <p:grpSp>
          <p:nvGrpSpPr>
            <p:cNvPr id="7" name="Group 11"/>
            <p:cNvGrpSpPr/>
            <p:nvPr/>
          </p:nvGrpSpPr>
          <p:grpSpPr>
            <a:xfrm>
              <a:off x="-1" y="3379694"/>
              <a:ext cx="7543801" cy="2604247"/>
              <a:chOff x="-1" y="3379694"/>
              <a:chExt cx="7543801" cy="2604247"/>
            </a:xfrm>
          </p:grpSpPr>
          <p:sp>
            <p:nvSpPr>
              <p:cNvPr id="17" name="Snip Single Corner Rectangle 16"/>
              <p:cNvSpPr/>
              <p:nvPr/>
            </p:nvSpPr>
            <p:spPr>
              <a:xfrm flipV="1">
                <a:off x="-1" y="3393141"/>
                <a:ext cx="7543800" cy="2590800"/>
              </a:xfrm>
              <a:prstGeom prst="snip1Rect">
                <a:avLst>
                  <a:gd name="adj" fmla="val 737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8" name="Straight Connector 17"/>
              <p:cNvCxnSpPr/>
              <p:nvPr/>
            </p:nvCxnSpPr>
            <p:spPr>
              <a:xfrm>
                <a:off x="0" y="3379694"/>
                <a:ext cx="7543800" cy="237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 name="Teardrop 15"/>
            <p:cNvSpPr/>
            <p:nvPr/>
          </p:nvSpPr>
          <p:spPr>
            <a:xfrm>
              <a:off x="6817659" y="3621741"/>
              <a:ext cx="394447" cy="394447"/>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1371600" y="3913281"/>
            <a:ext cx="5867400" cy="1470025"/>
          </a:xfrm>
        </p:spPr>
        <p:txBody>
          <a:bodyPr>
            <a:normAutofit/>
          </a:bodyPr>
          <a:lstStyle>
            <a:lvl1pPr algn="r">
              <a:defRPr sz="4600"/>
            </a:lvl1pPr>
          </a:lstStyle>
          <a:p>
            <a:r>
              <a:rPr lang="en-US" smtClean="0"/>
              <a:t>Click to edit Master title style</a:t>
            </a:r>
            <a:endParaRPr/>
          </a:p>
        </p:txBody>
      </p:sp>
      <p:sp>
        <p:nvSpPr>
          <p:cNvPr id="3" name="Subtitle 2"/>
          <p:cNvSpPr>
            <a:spLocks noGrp="1"/>
          </p:cNvSpPr>
          <p:nvPr>
            <p:ph type="subTitle" idx="1"/>
          </p:nvPr>
        </p:nvSpPr>
        <p:spPr>
          <a:xfrm>
            <a:off x="1371600" y="5396753"/>
            <a:ext cx="5867400" cy="573741"/>
          </a:xfrm>
        </p:spPr>
        <p:txBody>
          <a:bodyPr>
            <a:normAutofit/>
          </a:bodyPr>
          <a:lstStyle>
            <a:lvl1pPr marL="0" indent="0" algn="r">
              <a:spcBef>
                <a:spcPct val="0"/>
              </a:spcBef>
              <a:buNone/>
              <a:defRPr sz="1400">
                <a:solidFill>
                  <a:schemeClr val="tx1">
                    <a:lumMod val="90000"/>
                    <a:lumOff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rot="16200000">
            <a:off x="-734076" y="4503737"/>
            <a:ext cx="2057400" cy="365125"/>
          </a:xfrm>
        </p:spPr>
        <p:txBody>
          <a:bodyPr lIns="91440" tIns="0" bIns="0" anchor="b" anchorCtr="0"/>
          <a:lstStyle>
            <a:lvl1pPr>
              <a:defRPr sz="1400" b="1">
                <a:solidFill>
                  <a:schemeClr val="bg1">
                    <a:lumMod val="50000"/>
                  </a:schemeClr>
                </a:solidFill>
              </a:defRPr>
            </a:lvl1pPr>
          </a:lstStyle>
          <a:p>
            <a:fld id="{31D93A85-1110-8E4D-A791-1973608C3B8D}" type="datetimeFigureOut">
              <a:rPr lang="en-US" smtClean="0"/>
              <a:pPr/>
              <a:t>3/1/10</a:t>
            </a:fld>
            <a:endParaRPr lang="en-US"/>
          </a:p>
        </p:txBody>
      </p:sp>
      <p:sp>
        <p:nvSpPr>
          <p:cNvPr id="5" name="Footer Placeholder 4"/>
          <p:cNvSpPr>
            <a:spLocks noGrp="1"/>
          </p:cNvSpPr>
          <p:nvPr>
            <p:ph type="ftr" sz="quarter" idx="11"/>
          </p:nvPr>
        </p:nvSpPr>
        <p:spPr>
          <a:xfrm rot="16200000">
            <a:off x="-356811" y="4503737"/>
            <a:ext cx="2057397" cy="365125"/>
          </a:xfrm>
        </p:spPr>
        <p:txBody>
          <a:bodyPr lIns="91440" tIns="0" bIns="0" anchor="t" anchorCtr="0"/>
          <a:lstStyle>
            <a:lvl1pPr algn="l">
              <a:defRPr b="1">
                <a:solidFill>
                  <a:schemeClr val="bg1">
                    <a:lumMod val="75000"/>
                  </a:schemeClr>
                </a:solidFill>
              </a:defRPr>
            </a:lvl1pPr>
          </a:lstStyle>
          <a:p>
            <a:endParaRPr lang="en-US"/>
          </a:p>
        </p:txBody>
      </p:sp>
      <p:sp>
        <p:nvSpPr>
          <p:cNvPr id="12" name="Picture Placeholder 11"/>
          <p:cNvSpPr>
            <a:spLocks noGrp="1"/>
          </p:cNvSpPr>
          <p:nvPr>
            <p:ph type="pic" sz="quarter" idx="12"/>
          </p:nvPr>
        </p:nvSpPr>
        <p:spPr>
          <a:xfrm>
            <a:off x="0" y="676835"/>
            <a:ext cx="7543800" cy="2587752"/>
          </a:xfrm>
          <a:effectLst>
            <a:outerShdw blurRad="50800" dist="63500" dir="2700000" algn="tl" rotWithShape="0">
              <a:prstClr val="black">
                <a:alpha val="50000"/>
              </a:prstClr>
            </a:outerShdw>
          </a:effectLst>
        </p:spPr>
        <p:txBody>
          <a:bodyPr>
            <a:normAutofit/>
          </a:bodyPr>
          <a:lstStyle>
            <a:lvl1pPr marL="0" indent="0">
              <a:buNone/>
              <a:defRPr sz="1800"/>
            </a:lvl1pPr>
          </a:lstStyle>
          <a:p>
            <a:r>
              <a:rPr lang="en-US" smtClean="0"/>
              <a:t>Click icon to add picture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grpSp>
        <p:nvGrpSpPr>
          <p:cNvPr id="6" name="Group 6"/>
          <p:cNvGrpSpPr/>
          <p:nvPr/>
        </p:nvGrpSpPr>
        <p:grpSpPr>
          <a:xfrm flipH="1">
            <a:off x="1600199" y="2126877"/>
            <a:ext cx="7543801" cy="2604247"/>
            <a:chOff x="-1" y="3379694"/>
            <a:chExt cx="7543801" cy="2604247"/>
          </a:xfrm>
        </p:grpSpPr>
        <p:grpSp>
          <p:nvGrpSpPr>
            <p:cNvPr id="7" name="Group 11"/>
            <p:cNvGrpSpPr/>
            <p:nvPr/>
          </p:nvGrpSpPr>
          <p:grpSpPr>
            <a:xfrm>
              <a:off x="-1" y="3379694"/>
              <a:ext cx="7543801" cy="2604247"/>
              <a:chOff x="-1" y="3379694"/>
              <a:chExt cx="7543801" cy="2604247"/>
            </a:xfrm>
          </p:grpSpPr>
          <p:sp>
            <p:nvSpPr>
              <p:cNvPr id="10" name="Snip Single Corner Rectangle 9"/>
              <p:cNvSpPr/>
              <p:nvPr/>
            </p:nvSpPr>
            <p:spPr>
              <a:xfrm flipV="1">
                <a:off x="-1" y="3393141"/>
                <a:ext cx="7543800" cy="2590800"/>
              </a:xfrm>
              <a:prstGeom prst="snip1Rect">
                <a:avLst>
                  <a:gd name="adj" fmla="val 737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1" name="Straight Connector 10"/>
              <p:cNvCxnSpPr/>
              <p:nvPr/>
            </p:nvCxnSpPr>
            <p:spPr>
              <a:xfrm>
                <a:off x="0" y="3379694"/>
                <a:ext cx="7543800" cy="237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9" name="Teardrop 8"/>
            <p:cNvSpPr/>
            <p:nvPr/>
          </p:nvSpPr>
          <p:spPr>
            <a:xfrm flipH="1">
              <a:off x="228599" y="3621741"/>
              <a:ext cx="394447" cy="394447"/>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1736105" y="2653553"/>
            <a:ext cx="5870448" cy="14721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tx1">
                    <a:lumMod val="90000"/>
                    <a:lumOff val="10000"/>
                  </a:schemeClr>
                </a:solidFill>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1736105" y="4134881"/>
            <a:ext cx="5870448" cy="576072"/>
          </a:xfrm>
        </p:spPr>
        <p:txBody>
          <a:bodyPr vert="horz" lIns="91440" tIns="45720" rIns="91440" bIns="45720" rtlCol="0">
            <a:normAutofit/>
          </a:bodyPr>
          <a:lstStyle>
            <a:lvl1pPr marL="0" indent="0" algn="l" defTabSz="914400" rtl="0" eaLnBrk="1" latinLnBrk="0" hangingPunct="1">
              <a:spcBef>
                <a:spcPts val="300"/>
              </a:spcBef>
              <a:buClr>
                <a:schemeClr val="accent1"/>
              </a:buClr>
              <a:buSzPct val="90000"/>
              <a:buFont typeface="Wingdings 2" pitchFamily="18" charset="2"/>
              <a:buNone/>
              <a:defRPr sz="1400" kern="1200">
                <a:solidFill>
                  <a:schemeClr val="tx1">
                    <a:lumMod val="90000"/>
                    <a:lumOff val="10000"/>
                  </a:schemeClr>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a:xfrm rot="16200000">
            <a:off x="8033590" y="3475037"/>
            <a:ext cx="1828801" cy="365125"/>
          </a:xfrm>
        </p:spPr>
        <p:txBody>
          <a:bodyPr vert="horz" lIns="91440" tIns="0" rIns="91440" bIns="0" rtlCol="0" anchor="t" anchorCtr="0"/>
          <a:lstStyle>
            <a:lvl1pPr marL="0" algn="l" defTabSz="914400" rtl="0" eaLnBrk="1" latinLnBrk="0" hangingPunct="1">
              <a:defRPr sz="1100" b="1" kern="1200">
                <a:solidFill>
                  <a:schemeClr val="bg1">
                    <a:lumMod val="75000"/>
                  </a:schemeClr>
                </a:solidFill>
                <a:latin typeface="+mn-lt"/>
                <a:ea typeface="+mn-ea"/>
                <a:cs typeface="+mn-cs"/>
              </a:defRPr>
            </a:lvl1pPr>
          </a:lstStyle>
          <a:p>
            <a:endParaRPr lang="en-US"/>
          </a:p>
        </p:txBody>
      </p:sp>
      <p:sp>
        <p:nvSpPr>
          <p:cNvPr id="4" name="Date Placeholder 3"/>
          <p:cNvSpPr>
            <a:spLocks noGrp="1"/>
          </p:cNvSpPr>
          <p:nvPr>
            <p:ph type="dt" sz="half" idx="10"/>
          </p:nvPr>
        </p:nvSpPr>
        <p:spPr>
          <a:xfrm rot="16200000">
            <a:off x="7658009" y="3475037"/>
            <a:ext cx="1828800" cy="365125"/>
          </a:xfrm>
        </p:spPr>
        <p:txBody>
          <a:bodyPr vert="horz" lIns="91440" tIns="0" rIns="91440" bIns="0" rtlCol="0" anchor="b" anchorCtr="0"/>
          <a:lstStyle>
            <a:lvl1pPr marL="0" algn="l" defTabSz="914400" rtl="0" eaLnBrk="1" latinLnBrk="0" hangingPunct="1">
              <a:defRPr sz="1400" b="1" kern="1200">
                <a:solidFill>
                  <a:schemeClr val="bg1">
                    <a:lumMod val="50000"/>
                  </a:schemeClr>
                </a:solidFill>
                <a:latin typeface="+mn-lt"/>
                <a:ea typeface="+mn-ea"/>
                <a:cs typeface="+mn-cs"/>
              </a:defRPr>
            </a:lvl1pPr>
          </a:lstStyle>
          <a:p>
            <a:fld id="{31D93A85-1110-8E4D-A791-1973608C3B8D}" type="datetimeFigureOut">
              <a:rPr lang="en-US" smtClean="0"/>
              <a:pPr/>
              <a:t>3/1/10</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11" name="Snip Diagonal Corner Rectangle 10"/>
          <p:cNvSpPr/>
          <p:nvPr/>
        </p:nvSpPr>
        <p:spPr>
          <a:xfrm flipV="1">
            <a:off x="228600" y="1707776"/>
            <a:ext cx="8686800" cy="4908176"/>
          </a:xfrm>
          <a:prstGeom prst="snip2DiagRect">
            <a:avLst>
              <a:gd name="adj1" fmla="val 0"/>
              <a:gd name="adj2" fmla="val 400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Snip Diagonal Corner Rectangle 11"/>
          <p:cNvSpPr/>
          <p:nvPr/>
        </p:nvSpPr>
        <p:spPr>
          <a:xfrm flipV="1">
            <a:off x="228600" y="228597"/>
            <a:ext cx="8686800" cy="1277473"/>
          </a:xfrm>
          <a:prstGeom prst="snip2DiagRect">
            <a:avLst>
              <a:gd name="adj1" fmla="val 0"/>
              <a:gd name="adj2" fmla="val 1167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79463" y="295833"/>
            <a:ext cx="7583488"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779461" y="1981201"/>
            <a:ext cx="365760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05351" y="1981201"/>
            <a:ext cx="365760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31D93A85-1110-8E4D-A791-1973608C3B8D}" type="datetimeFigureOut">
              <a:rPr lang="en-US" smtClean="0"/>
              <a:pPr/>
              <a:t>3/1/10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CED7D7-7D24-C846-AB3E-432FF7E6319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12" name="Snip Diagonal Corner Rectangle 11"/>
          <p:cNvSpPr/>
          <p:nvPr/>
        </p:nvSpPr>
        <p:spPr>
          <a:xfrm flipV="1">
            <a:off x="228600" y="1707776"/>
            <a:ext cx="8686800" cy="4908176"/>
          </a:xfrm>
          <a:prstGeom prst="snip2DiagRect">
            <a:avLst>
              <a:gd name="adj1" fmla="val 0"/>
              <a:gd name="adj2" fmla="val 400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Snip Diagonal Corner Rectangle 12"/>
          <p:cNvSpPr/>
          <p:nvPr/>
        </p:nvSpPr>
        <p:spPr>
          <a:xfrm flipV="1">
            <a:off x="228600" y="228597"/>
            <a:ext cx="8686800" cy="1277473"/>
          </a:xfrm>
          <a:prstGeom prst="snip2DiagRect">
            <a:avLst>
              <a:gd name="adj1" fmla="val 0"/>
              <a:gd name="adj2" fmla="val 1167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79463" y="295833"/>
            <a:ext cx="7583488" cy="1143000"/>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9463" y="1852426"/>
            <a:ext cx="3657600" cy="868362"/>
          </a:xfrm>
        </p:spPr>
        <p:txBody>
          <a:bodyPr anchor="ctr" anchorCtr="0">
            <a:noAutofit/>
          </a:bodyPr>
          <a:lstStyle>
            <a:lvl1pPr marL="0" indent="0" algn="ctr">
              <a:spcBef>
                <a:spcPct val="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9463" y="2743200"/>
            <a:ext cx="3657600" cy="3213100"/>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05351" y="1852426"/>
            <a:ext cx="3657600" cy="868362"/>
          </a:xfrm>
        </p:spPr>
        <p:txBody>
          <a:bodyPr anchor="ctr" anchorCtr="0">
            <a:noAutofit/>
          </a:bodyPr>
          <a:lstStyle>
            <a:lvl1pPr marL="0" indent="0" algn="ctr">
              <a:spcBef>
                <a:spcPct val="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05351" y="2743200"/>
            <a:ext cx="3657600" cy="3213100"/>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31D93A85-1110-8E4D-A791-1973608C3B8D}" type="datetimeFigureOut">
              <a:rPr lang="en-US" smtClean="0"/>
              <a:pPr/>
              <a:t>3/1/10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CED7D7-7D24-C846-AB3E-432FF7E6319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9" name="Snip Diagonal Corner Rectangle 8"/>
          <p:cNvSpPr/>
          <p:nvPr/>
        </p:nvSpPr>
        <p:spPr>
          <a:xfrm flipV="1">
            <a:off x="228600" y="1707776"/>
            <a:ext cx="8686800" cy="4908176"/>
          </a:xfrm>
          <a:prstGeom prst="snip2DiagRect">
            <a:avLst>
              <a:gd name="adj1" fmla="val 0"/>
              <a:gd name="adj2" fmla="val 400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Snip Diagonal Corner Rectangle 9"/>
          <p:cNvSpPr/>
          <p:nvPr/>
        </p:nvSpPr>
        <p:spPr>
          <a:xfrm flipV="1">
            <a:off x="228600" y="228597"/>
            <a:ext cx="8686800" cy="1277473"/>
          </a:xfrm>
          <a:prstGeom prst="snip2DiagRect">
            <a:avLst>
              <a:gd name="adj1" fmla="val 0"/>
              <a:gd name="adj2" fmla="val 1167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31D93A85-1110-8E4D-A791-1973608C3B8D}" type="datetimeFigureOut">
              <a:rPr lang="en-US" smtClean="0"/>
              <a:pPr/>
              <a:t>3/1/10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CED7D7-7D24-C846-AB3E-432FF7E6319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6" name="Snip Diagonal Corner Rectangle 5"/>
          <p:cNvSpPr/>
          <p:nvPr/>
        </p:nvSpPr>
        <p:spPr>
          <a:xfrm flipV="1">
            <a:off x="228600" y="228600"/>
            <a:ext cx="8686800" cy="6387352"/>
          </a:xfrm>
          <a:prstGeom prst="snip2DiagRect">
            <a:avLst>
              <a:gd name="adj1" fmla="val 0"/>
              <a:gd name="adj2" fmla="val 252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31D93A85-1110-8E4D-A791-1973608C3B8D}" type="datetimeFigureOut">
              <a:rPr lang="en-US" smtClean="0"/>
              <a:pPr/>
              <a:t>3/1/10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CED7D7-7D24-C846-AB3E-432FF7E6319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8" name="Group 11"/>
          <p:cNvGrpSpPr/>
          <p:nvPr/>
        </p:nvGrpSpPr>
        <p:grpSpPr>
          <a:xfrm>
            <a:off x="228600" y="228600"/>
            <a:ext cx="4251960" cy="6387352"/>
            <a:chOff x="228600" y="228600"/>
            <a:chExt cx="4251960" cy="6387352"/>
          </a:xfrm>
        </p:grpSpPr>
        <p:sp>
          <p:nvSpPr>
            <p:cNvPr id="13" name="Snip Diagonal Corner Rectangle 12"/>
            <p:cNvSpPr/>
            <p:nvPr/>
          </p:nvSpPr>
          <p:spPr>
            <a:xfrm flipV="1">
              <a:off x="228600" y="228600"/>
              <a:ext cx="4251960" cy="6387352"/>
            </a:xfrm>
            <a:prstGeom prst="snip2DiagRect">
              <a:avLst>
                <a:gd name="adj1" fmla="val 0"/>
                <a:gd name="adj2" fmla="val 379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Teardrop 13"/>
            <p:cNvSpPr>
              <a:spLocks noChangeAspect="1"/>
            </p:cNvSpPr>
            <p:nvPr/>
          </p:nvSpPr>
          <p:spPr>
            <a:xfrm>
              <a:off x="3886200" y="432548"/>
              <a:ext cx="355002" cy="355002"/>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5" name="Snip Diagonal Corner Rectangle 14"/>
          <p:cNvSpPr/>
          <p:nvPr/>
        </p:nvSpPr>
        <p:spPr>
          <a:xfrm flipV="1">
            <a:off x="4648200" y="228600"/>
            <a:ext cx="4251960" cy="6387352"/>
          </a:xfrm>
          <a:prstGeom prst="snip2DiagRect">
            <a:avLst>
              <a:gd name="adj1" fmla="val 0"/>
              <a:gd name="adj2" fmla="val 379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25780" y="2177303"/>
            <a:ext cx="3657600" cy="1162050"/>
          </a:xfrm>
        </p:spPr>
        <p:txBody>
          <a:bodyPr anchor="b">
            <a:normAutofit/>
          </a:bodyPr>
          <a:lstStyle>
            <a:lvl1pPr algn="l">
              <a:defRPr sz="3000" b="0">
                <a:solidFill>
                  <a:schemeClr val="accent1"/>
                </a:solidFill>
              </a:defRPr>
            </a:lvl1pPr>
          </a:lstStyle>
          <a:p>
            <a:r>
              <a:rPr lang="en-US" smtClean="0"/>
              <a:t>Click to edit Master title style</a:t>
            </a:r>
            <a:endParaRPr/>
          </a:p>
        </p:txBody>
      </p:sp>
      <p:sp>
        <p:nvSpPr>
          <p:cNvPr id="3" name="Content Placeholder 2"/>
          <p:cNvSpPr>
            <a:spLocks noGrp="1"/>
          </p:cNvSpPr>
          <p:nvPr>
            <p:ph idx="1"/>
          </p:nvPr>
        </p:nvSpPr>
        <p:spPr>
          <a:xfrm>
            <a:off x="4945380" y="609600"/>
            <a:ext cx="3657600" cy="5334000"/>
          </a:xfrm>
        </p:spPr>
        <p:txBody>
          <a:bodyPr>
            <a:normAutofit/>
          </a:bodyPr>
          <a:lstStyle>
            <a:lvl1pPr>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525780" y="3352799"/>
            <a:ext cx="3657600" cy="2590801"/>
          </a:xfrm>
        </p:spPr>
        <p:txBody>
          <a:bodyPr>
            <a:normAutofit/>
          </a:bodyPr>
          <a:lstStyle>
            <a:lvl1pPr marL="0" indent="0">
              <a:lnSpc>
                <a:spcPct val="110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62000" y="6297706"/>
            <a:ext cx="1295400" cy="365125"/>
          </a:xfrm>
        </p:spPr>
        <p:txBody>
          <a:bodyPr/>
          <a:lstStyle/>
          <a:p>
            <a:fld id="{31D93A85-1110-8E4D-A791-1973608C3B8D}" type="datetimeFigureOut">
              <a:rPr lang="en-US" smtClean="0"/>
              <a:pPr/>
              <a:t>3/1/10</a:t>
            </a:fld>
            <a:endParaRPr lang="en-US"/>
          </a:p>
        </p:txBody>
      </p:sp>
      <p:sp>
        <p:nvSpPr>
          <p:cNvPr id="6" name="Footer Placeholder 5"/>
          <p:cNvSpPr>
            <a:spLocks noGrp="1"/>
          </p:cNvSpPr>
          <p:nvPr>
            <p:ph type="ftr" sz="quarter" idx="11"/>
          </p:nvPr>
        </p:nvSpPr>
        <p:spPr>
          <a:xfrm>
            <a:off x="2057400" y="6297706"/>
            <a:ext cx="2339788" cy="365125"/>
          </a:xfrm>
        </p:spPr>
        <p:txBody>
          <a:bodyPr/>
          <a:lstStyle/>
          <a:p>
            <a:endParaRPr lang="en-US"/>
          </a:p>
        </p:txBody>
      </p:sp>
      <p:sp>
        <p:nvSpPr>
          <p:cNvPr id="7" name="Slide Number Placeholder 6"/>
          <p:cNvSpPr>
            <a:spLocks noGrp="1"/>
          </p:cNvSpPr>
          <p:nvPr>
            <p:ph type="sldNum" sz="quarter" idx="12"/>
          </p:nvPr>
        </p:nvSpPr>
        <p:spPr>
          <a:xfrm>
            <a:off x="304800" y="6297706"/>
            <a:ext cx="443753" cy="365125"/>
          </a:xfrm>
        </p:spPr>
        <p:txBody>
          <a:bodyPr/>
          <a:lstStyle>
            <a:lvl1pPr algn="l">
              <a:defRPr/>
            </a:lvl1pPr>
          </a:lstStyle>
          <a:p>
            <a:fld id="{37CED7D7-7D24-C846-AB3E-432FF7E6319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grpSp>
        <p:nvGrpSpPr>
          <p:cNvPr id="8" name="Group 10"/>
          <p:cNvGrpSpPr/>
          <p:nvPr/>
        </p:nvGrpSpPr>
        <p:grpSpPr>
          <a:xfrm>
            <a:off x="228600" y="228600"/>
            <a:ext cx="4251960" cy="6387352"/>
            <a:chOff x="228600" y="228600"/>
            <a:chExt cx="4251960" cy="6387352"/>
          </a:xfrm>
        </p:grpSpPr>
        <p:sp>
          <p:nvSpPr>
            <p:cNvPr id="12" name="Snip Diagonal Corner Rectangle 11"/>
            <p:cNvSpPr/>
            <p:nvPr/>
          </p:nvSpPr>
          <p:spPr>
            <a:xfrm flipV="1">
              <a:off x="228600" y="228600"/>
              <a:ext cx="4251960" cy="6387352"/>
            </a:xfrm>
            <a:prstGeom prst="snip2DiagRect">
              <a:avLst>
                <a:gd name="adj1" fmla="val 0"/>
                <a:gd name="adj2" fmla="val 379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Teardrop 12"/>
            <p:cNvSpPr>
              <a:spLocks noChangeAspect="1"/>
            </p:cNvSpPr>
            <p:nvPr/>
          </p:nvSpPr>
          <p:spPr>
            <a:xfrm>
              <a:off x="3886200" y="432548"/>
              <a:ext cx="355002" cy="355002"/>
            </a:xfrm>
            <a:prstGeom prst="teardrop">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530352" y="2176272"/>
            <a:ext cx="3657600" cy="1161288"/>
          </a:xfrm>
        </p:spPr>
        <p:txBody>
          <a:bodyPr vert="horz" lIns="91440" tIns="45720" rIns="91440" bIns="45720" rtlCol="0" anchor="b" anchorCtr="0">
            <a:normAutofit/>
          </a:bodyPr>
          <a:lstStyle>
            <a:lvl1pPr algn="l" defTabSz="914400" rtl="0" eaLnBrk="1" latinLnBrk="0" hangingPunct="1">
              <a:spcBef>
                <a:spcPct val="0"/>
              </a:spcBef>
              <a:buNone/>
              <a:defRPr sz="3000" b="0" kern="1200">
                <a:solidFill>
                  <a:schemeClr val="accent1"/>
                </a:solidFill>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flipH="1">
            <a:off x="4654475" y="228600"/>
            <a:ext cx="4251960" cy="6391656"/>
          </a:xfrm>
          <a:prstGeom prst="snip2DiagRect">
            <a:avLst>
              <a:gd name="adj1" fmla="val 0"/>
              <a:gd name="adj2" fmla="val 4017"/>
            </a:avLst>
          </a:prstGeom>
          <a:effectLst>
            <a:outerShdw blurRad="50800" dist="63500" dir="2700000" algn="tl"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buClr>
              <a:buSzPct val="90000"/>
              <a:buFont typeface="Wingdings 2" pitchFamily="18" charset="2"/>
              <a:buNone/>
              <a:defRPr sz="1800" kern="1200">
                <a:solidFill>
                  <a:schemeClr val="tx1">
                    <a:lumMod val="90000"/>
                    <a:lumOff val="10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530352" y="3342401"/>
            <a:ext cx="3657600" cy="2595282"/>
          </a:xfrm>
        </p:spPr>
        <p:txBody>
          <a:bodyPr>
            <a:normAutofit/>
          </a:bodyPr>
          <a:lstStyle>
            <a:lvl1pPr marL="0" indent="0">
              <a:lnSpc>
                <a:spcPct val="110000"/>
              </a:lnSpc>
              <a:buNone/>
              <a:defRPr sz="1800" kern="1200">
                <a:solidFill>
                  <a:schemeClr val="tx1">
                    <a:lumMod val="90000"/>
                    <a:lumOff val="10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58952" y="6300216"/>
            <a:ext cx="1298448" cy="365125"/>
          </a:xfrm>
        </p:spPr>
        <p:txBody>
          <a:bodyPr/>
          <a:lstStyle/>
          <a:p>
            <a:fld id="{31D93A85-1110-8E4D-A791-1973608C3B8D}" type="datetimeFigureOut">
              <a:rPr lang="en-US" smtClean="0"/>
              <a:pPr/>
              <a:t>3/1/10</a:t>
            </a:fld>
            <a:endParaRPr lang="en-US"/>
          </a:p>
        </p:txBody>
      </p:sp>
      <p:sp>
        <p:nvSpPr>
          <p:cNvPr id="6" name="Footer Placeholder 5"/>
          <p:cNvSpPr>
            <a:spLocks noGrp="1"/>
          </p:cNvSpPr>
          <p:nvPr>
            <p:ph type="ftr" sz="quarter" idx="11"/>
          </p:nvPr>
        </p:nvSpPr>
        <p:spPr>
          <a:xfrm>
            <a:off x="2057400" y="6300216"/>
            <a:ext cx="2340864" cy="365125"/>
          </a:xfrm>
        </p:spPr>
        <p:txBody>
          <a:bodyPr/>
          <a:lstStyle/>
          <a:p>
            <a:endParaRPr lang="en-US"/>
          </a:p>
        </p:txBody>
      </p:sp>
      <p:sp>
        <p:nvSpPr>
          <p:cNvPr id="7" name="Slide Number Placeholder 6"/>
          <p:cNvSpPr>
            <a:spLocks noGrp="1"/>
          </p:cNvSpPr>
          <p:nvPr>
            <p:ph type="sldNum" sz="quarter" idx="12"/>
          </p:nvPr>
        </p:nvSpPr>
        <p:spPr>
          <a:xfrm>
            <a:off x="301752" y="6300216"/>
            <a:ext cx="448056" cy="365125"/>
          </a:xfrm>
        </p:spPr>
        <p:txBody>
          <a:bodyPr/>
          <a:lstStyle>
            <a:lvl1pPr algn="l">
              <a:defRPr/>
            </a:lvl1pPr>
          </a:lstStyle>
          <a:p>
            <a:fld id="{37CED7D7-7D24-C846-AB3E-432FF7E6319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Picture above Caption">
    <p:spTree>
      <p:nvGrpSpPr>
        <p:cNvPr id="1" name=""/>
        <p:cNvGrpSpPr/>
        <p:nvPr/>
      </p:nvGrpSpPr>
      <p:grpSpPr>
        <a:xfrm>
          <a:off x="0" y="0"/>
          <a:ext cx="0" cy="0"/>
          <a:chOff x="0" y="0"/>
          <a:chExt cx="0" cy="0"/>
        </a:xfrm>
      </p:grpSpPr>
      <p:sp>
        <p:nvSpPr>
          <p:cNvPr id="9" name="Snip Diagonal Corner Rectangle 8"/>
          <p:cNvSpPr/>
          <p:nvPr/>
        </p:nvSpPr>
        <p:spPr>
          <a:xfrm flipV="1">
            <a:off x="228600" y="4648200"/>
            <a:ext cx="8686800" cy="1963271"/>
          </a:xfrm>
          <a:prstGeom prst="snip2DiagRect">
            <a:avLst>
              <a:gd name="adj1" fmla="val 0"/>
              <a:gd name="adj2" fmla="val 937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57200" y="4648200"/>
            <a:ext cx="8153400" cy="609600"/>
          </a:xfrm>
        </p:spPr>
        <p:txBody>
          <a:bodyPr vert="horz" lIns="91440" tIns="45720" rIns="91440" bIns="45720" rtlCol="0" anchor="b" anchorCtr="0">
            <a:normAutofit/>
          </a:bodyPr>
          <a:lstStyle>
            <a:lvl1pPr algn="l" defTabSz="914400" rtl="0" eaLnBrk="1" latinLnBrk="0" hangingPunct="1">
              <a:spcBef>
                <a:spcPct val="0"/>
              </a:spcBef>
              <a:buNone/>
              <a:defRPr sz="3000" b="0" kern="1200">
                <a:solidFill>
                  <a:schemeClr val="accent1"/>
                </a:solidFill>
                <a:latin typeface="+mj-lt"/>
                <a:ea typeface="+mj-ea"/>
                <a:cs typeface="+mj-cs"/>
              </a:defRPr>
            </a:lvl1pPr>
          </a:lstStyle>
          <a:p>
            <a:r>
              <a:rPr lang="en-US" smtClean="0"/>
              <a:t>Click to edit Master title style</a:t>
            </a:r>
            <a:endParaRPr/>
          </a:p>
        </p:txBody>
      </p:sp>
      <p:sp>
        <p:nvSpPr>
          <p:cNvPr id="3" name="Date Placeholder 2"/>
          <p:cNvSpPr>
            <a:spLocks noGrp="1"/>
          </p:cNvSpPr>
          <p:nvPr>
            <p:ph type="dt" sz="half" idx="10"/>
          </p:nvPr>
        </p:nvSpPr>
        <p:spPr/>
        <p:txBody>
          <a:bodyPr/>
          <a:lstStyle/>
          <a:p>
            <a:fld id="{31D93A85-1110-8E4D-A791-1973608C3B8D}" type="datetimeFigureOut">
              <a:rPr lang="en-US" smtClean="0"/>
              <a:pPr/>
              <a:t>3/1/10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CED7D7-7D24-C846-AB3E-432FF7E63195}" type="slidenum">
              <a:rPr lang="en-US" smtClean="0"/>
              <a:pPr/>
              <a:t>‹#›</a:t>
            </a:fld>
            <a:endParaRPr lang="en-US"/>
          </a:p>
        </p:txBody>
      </p:sp>
      <p:sp>
        <p:nvSpPr>
          <p:cNvPr id="7" name="Text Placeholder 3"/>
          <p:cNvSpPr>
            <a:spLocks noGrp="1"/>
          </p:cNvSpPr>
          <p:nvPr>
            <p:ph type="body" sz="half" idx="2"/>
          </p:nvPr>
        </p:nvSpPr>
        <p:spPr>
          <a:xfrm>
            <a:off x="457200" y="5257799"/>
            <a:ext cx="8156448" cy="820272"/>
          </a:xfrm>
        </p:spPr>
        <p:txBody>
          <a:bodyPr>
            <a:normAutofit/>
          </a:bodyPr>
          <a:lstStyle>
            <a:lvl1pPr marL="0" indent="0">
              <a:lnSpc>
                <a:spcPct val="110000"/>
              </a:lnSpc>
              <a:spcBef>
                <a:spcPct val="0"/>
              </a:spcBef>
              <a:buNone/>
              <a:defRPr sz="1800" kern="1200">
                <a:solidFill>
                  <a:schemeClr val="tx1">
                    <a:lumMod val="90000"/>
                    <a:lumOff val="10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Picture Placeholder 2"/>
          <p:cNvSpPr>
            <a:spLocks noGrp="1"/>
          </p:cNvSpPr>
          <p:nvPr>
            <p:ph type="pic" idx="1"/>
          </p:nvPr>
        </p:nvSpPr>
        <p:spPr>
          <a:xfrm flipH="1">
            <a:off x="228600" y="228600"/>
            <a:ext cx="8677835" cy="4267200"/>
          </a:xfrm>
          <a:prstGeom prst="snip2DiagRect">
            <a:avLst>
              <a:gd name="adj1" fmla="val 0"/>
              <a:gd name="adj2" fmla="val 4332"/>
            </a:avLst>
          </a:prstGeom>
          <a:effectLst>
            <a:outerShdw blurRad="50800" dist="63500" dir="2700000" algn="tl"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buClr>
              <a:buSzPct val="90000"/>
              <a:buFont typeface="Wingdings 2" pitchFamily="18" charset="2"/>
              <a:buNone/>
              <a:defRPr sz="1800" kern="1200">
                <a:solidFill>
                  <a:schemeClr val="tx1">
                    <a:lumMod val="90000"/>
                    <a:lumOff val="10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Closin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1D93A85-1110-8E4D-A791-1973608C3B8D}" type="datetimeFigureOut">
              <a:rPr lang="en-US" smtClean="0"/>
              <a:pPr/>
              <a:t>3/1/10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CED7D7-7D24-C846-AB3E-432FF7E63195}"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9" name="Snip Diagonal Corner Rectangle 8"/>
          <p:cNvSpPr/>
          <p:nvPr/>
        </p:nvSpPr>
        <p:spPr>
          <a:xfrm flipV="1">
            <a:off x="228600" y="1707776"/>
            <a:ext cx="8686800" cy="4908176"/>
          </a:xfrm>
          <a:prstGeom prst="snip2DiagRect">
            <a:avLst>
              <a:gd name="adj1" fmla="val 0"/>
              <a:gd name="adj2" fmla="val 4003"/>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Snip Diagonal Corner Rectangle 9"/>
          <p:cNvSpPr/>
          <p:nvPr/>
        </p:nvSpPr>
        <p:spPr>
          <a:xfrm flipV="1">
            <a:off x="228600" y="228597"/>
            <a:ext cx="8686800" cy="1277473"/>
          </a:xfrm>
          <a:prstGeom prst="snip2DiagRect">
            <a:avLst>
              <a:gd name="adj1" fmla="val 0"/>
              <a:gd name="adj2" fmla="val 11674"/>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31D93A85-1110-8E4D-A791-1973608C3B8D}" type="datetimeFigureOut">
              <a:rPr lang="en-US" smtClean="0"/>
              <a:pPr/>
              <a:t>3/1/10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CED7D7-7D24-C846-AB3E-432FF7E63195}"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8" name="Snip Diagonal Corner Rectangle 7"/>
          <p:cNvSpPr/>
          <p:nvPr/>
        </p:nvSpPr>
        <p:spPr>
          <a:xfrm flipV="1">
            <a:off x="228600" y="228600"/>
            <a:ext cx="8686800" cy="6387352"/>
          </a:xfrm>
          <a:prstGeom prst="snip2DiagRect">
            <a:avLst>
              <a:gd name="adj1" fmla="val 0"/>
              <a:gd name="adj2" fmla="val 252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467600" y="838201"/>
            <a:ext cx="1219200" cy="51054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779462" y="838201"/>
            <a:ext cx="6307138" cy="5105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31D93A85-1110-8E4D-A791-1973608C3B8D}" type="datetimeFigureOut">
              <a:rPr lang="en-US" smtClean="0"/>
              <a:pPr/>
              <a:t>3/1/10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CED7D7-7D24-C846-AB3E-432FF7E6319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9463" y="295833"/>
            <a:ext cx="7583488" cy="1143000"/>
          </a:xfrm>
          <a:prstGeom prst="rect">
            <a:avLst/>
          </a:prstGeom>
        </p:spPr>
        <p:txBody>
          <a:bodyPr vert="horz" lIns="91440" tIns="45720" rIns="91440" bIns="45720" rtlCol="0" anchor="b" anchorCtr="0">
            <a:normAutofit/>
          </a:bodyPr>
          <a:lstStyle/>
          <a:p>
            <a:r>
              <a:rPr lang="en-US" smtClean="0"/>
              <a:t>Click to edit Master title style</a:t>
            </a:r>
            <a:endParaRPr/>
          </a:p>
        </p:txBody>
      </p:sp>
      <p:sp>
        <p:nvSpPr>
          <p:cNvPr id="3" name="Text Placeholder 2"/>
          <p:cNvSpPr>
            <a:spLocks noGrp="1"/>
          </p:cNvSpPr>
          <p:nvPr>
            <p:ph type="body" idx="1"/>
          </p:nvPr>
        </p:nvSpPr>
        <p:spPr>
          <a:xfrm>
            <a:off x="779463" y="1949824"/>
            <a:ext cx="7583488" cy="400722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228600" y="6243918"/>
            <a:ext cx="2133600"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fld id="{31D93A85-1110-8E4D-A791-1973608C3B8D}" type="datetimeFigureOut">
              <a:rPr lang="en-US" smtClean="0"/>
              <a:pPr/>
              <a:t>3/1/10</a:t>
            </a:fld>
            <a:endParaRPr lang="en-US"/>
          </a:p>
        </p:txBody>
      </p:sp>
      <p:sp>
        <p:nvSpPr>
          <p:cNvPr id="5" name="Footer Placeholder 4"/>
          <p:cNvSpPr>
            <a:spLocks noGrp="1"/>
          </p:cNvSpPr>
          <p:nvPr>
            <p:ph type="ftr" sz="quarter" idx="3"/>
          </p:nvPr>
        </p:nvSpPr>
        <p:spPr>
          <a:xfrm>
            <a:off x="5867400" y="6248400"/>
            <a:ext cx="2895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4305300" y="6248400"/>
            <a:ext cx="533400" cy="365125"/>
          </a:xfrm>
          <a:prstGeom prst="rect">
            <a:avLst/>
          </a:prstGeom>
        </p:spPr>
        <p:txBody>
          <a:bodyPr vert="horz" lIns="91440" tIns="45720" rIns="91440" bIns="45720" rtlCol="0" anchor="ctr"/>
          <a:lstStyle>
            <a:lvl1pPr algn="ctr">
              <a:defRPr sz="1100" b="1">
                <a:solidFill>
                  <a:schemeClr val="bg1">
                    <a:lumMod val="65000"/>
                  </a:schemeClr>
                </a:solidFill>
              </a:defRPr>
            </a:lvl1pPr>
          </a:lstStyle>
          <a:p>
            <a:fld id="{37CED7D7-7D24-C846-AB3E-432FF7E63195}"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 id="2147483933" r:id="rId13"/>
    <p:sldLayoutId id="2147483934" r:id="rId14"/>
  </p:sldLayoutIdLst>
  <p:txStyles>
    <p:titleStyle>
      <a:lvl1pPr algn="l" defTabSz="914400" rtl="0" eaLnBrk="1" latinLnBrk="0" hangingPunct="1">
        <a:spcBef>
          <a:spcPct val="0"/>
        </a:spcBef>
        <a:buNone/>
        <a:defRPr sz="3800" kern="1200">
          <a:solidFill>
            <a:schemeClr val="tx1">
              <a:lumMod val="90000"/>
              <a:lumOff val="10000"/>
            </a:schemeClr>
          </a:solidFill>
          <a:latin typeface="+mj-lt"/>
          <a:ea typeface="+mj-ea"/>
          <a:cs typeface="+mj-cs"/>
        </a:defRPr>
      </a:lvl1pPr>
    </p:titleStyle>
    <p:bodyStyle>
      <a:lvl1pPr marL="342900" indent="-342900" algn="l" defTabSz="914400" rtl="0" eaLnBrk="1" latinLnBrk="0" hangingPunct="1">
        <a:spcBef>
          <a:spcPts val="2000"/>
        </a:spcBef>
        <a:buClr>
          <a:schemeClr val="accent1"/>
        </a:buClr>
        <a:buSzPct val="90000"/>
        <a:buFont typeface="Wingdings 2" pitchFamily="18" charset="2"/>
        <a:buChar char=""/>
        <a:defRPr sz="2200" kern="1200">
          <a:solidFill>
            <a:schemeClr val="tx1">
              <a:lumMod val="90000"/>
              <a:lumOff val="10000"/>
            </a:schemeClr>
          </a:solidFill>
          <a:latin typeface="+mn-lt"/>
          <a:ea typeface="+mn-ea"/>
          <a:cs typeface="+mn-cs"/>
        </a:defRPr>
      </a:lvl1pPr>
      <a:lvl2pPr marL="685800" indent="-336550" algn="l" defTabSz="914400" rtl="0" eaLnBrk="1" latinLnBrk="0" hangingPunct="1">
        <a:spcBef>
          <a:spcPts val="600"/>
        </a:spcBef>
        <a:buClr>
          <a:schemeClr val="accent1"/>
        </a:buClr>
        <a:buSzPct val="90000"/>
        <a:buFont typeface="Wingdings 2" pitchFamily="18" charset="2"/>
        <a:buChar char=""/>
        <a:defRPr sz="2000" kern="1200">
          <a:solidFill>
            <a:schemeClr val="tx1">
              <a:lumMod val="90000"/>
              <a:lumOff val="10000"/>
            </a:schemeClr>
          </a:solidFill>
          <a:latin typeface="+mn-lt"/>
          <a:ea typeface="+mn-ea"/>
          <a:cs typeface="+mn-cs"/>
        </a:defRPr>
      </a:lvl2pPr>
      <a:lvl3pPr marL="1035050" indent="-349250" algn="l" defTabSz="914400" rtl="0" eaLnBrk="1" latinLnBrk="0" hangingPunct="1">
        <a:spcBef>
          <a:spcPts val="600"/>
        </a:spcBef>
        <a:buClr>
          <a:schemeClr val="accent1"/>
        </a:buClr>
        <a:buSzPct val="90000"/>
        <a:buFont typeface="Wingdings 2" pitchFamily="18" charset="2"/>
        <a:buChar char=""/>
        <a:defRPr sz="1800" kern="1200">
          <a:solidFill>
            <a:schemeClr val="tx1">
              <a:lumMod val="90000"/>
              <a:lumOff val="10000"/>
            </a:schemeClr>
          </a:solidFill>
          <a:latin typeface="+mn-lt"/>
          <a:ea typeface="+mn-ea"/>
          <a:cs typeface="+mn-cs"/>
        </a:defRPr>
      </a:lvl3pPr>
      <a:lvl4pPr marL="1371600" indent="-336550" algn="l" defTabSz="914400" rtl="0" eaLnBrk="1" latinLnBrk="0" hangingPunct="1">
        <a:spcBef>
          <a:spcPts val="600"/>
        </a:spcBef>
        <a:buClr>
          <a:schemeClr val="accent1"/>
        </a:buClr>
        <a:buSzPct val="90000"/>
        <a:buFont typeface="Wingdings 2" pitchFamily="18" charset="2"/>
        <a:buChar char=""/>
        <a:defRPr sz="1800" kern="1200">
          <a:solidFill>
            <a:schemeClr val="tx1">
              <a:lumMod val="90000"/>
              <a:lumOff val="10000"/>
            </a:schemeClr>
          </a:solidFill>
          <a:latin typeface="+mn-lt"/>
          <a:ea typeface="+mn-ea"/>
          <a:cs typeface="+mn-cs"/>
        </a:defRPr>
      </a:lvl4pPr>
      <a:lvl5pPr marL="1720850" indent="-349250" algn="l" defTabSz="914400" rtl="0" eaLnBrk="1" latinLnBrk="0" hangingPunct="1">
        <a:spcBef>
          <a:spcPts val="600"/>
        </a:spcBef>
        <a:buClr>
          <a:schemeClr val="accent1"/>
        </a:buClr>
        <a:buSzPct val="90000"/>
        <a:buFont typeface="Wingdings 2" pitchFamily="18" charset="2"/>
        <a:buChar char=""/>
        <a:defRPr sz="1800" kern="1200">
          <a:solidFill>
            <a:schemeClr val="tx1">
              <a:lumMod val="90000"/>
              <a:lumOff val="1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4" Type="http://schemas.openxmlformats.org/officeDocument/2006/relationships/chart" Target="../charts/chart3.xml"/><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4" Type="http://schemas.openxmlformats.org/officeDocument/2006/relationships/chart" Target="../charts/chart6.xml"/><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4" Type="http://schemas.openxmlformats.org/officeDocument/2006/relationships/chart" Target="../charts/chart9.xml"/><Relationship Id="rId1" Type="http://schemas.openxmlformats.org/officeDocument/2006/relationships/slideLayout" Target="../slideLayouts/slideLayout2.xml"/><Relationship Id="rId2" Type="http://schemas.openxmlformats.org/officeDocument/2006/relationships/chart" Target="../charts/chart7.xml"/></Relationships>
</file>

<file path=ppt/slides/_rels/slide9.xml.rels><?xml version="1.0" encoding="UTF-8" standalone="yes"?>
<Relationships xmlns="http://schemas.openxmlformats.org/package/2006/relationships"><Relationship Id="rId3" Type="http://schemas.openxmlformats.org/officeDocument/2006/relationships/chart" Target="../charts/chart11.xml"/><Relationship Id="rId4" Type="http://schemas.openxmlformats.org/officeDocument/2006/relationships/chart" Target="../charts/chart12.xml"/><Relationship Id="rId1" Type="http://schemas.openxmlformats.org/officeDocument/2006/relationships/slideLayout" Target="../slideLayouts/slideLayout2.xml"/><Relationship Id="rId2" Type="http://schemas.openxmlformats.org/officeDocument/2006/relationships/chart" Target="../charts/chart10.xml"/></Relationships>
</file>

<file path=ppt/slides/_rels/slide10.xml.rels><?xml version="1.0" encoding="UTF-8" standalone="yes"?>
<Relationships xmlns="http://schemas.openxmlformats.org/package/2006/relationships"><Relationship Id="rId3" Type="http://schemas.openxmlformats.org/officeDocument/2006/relationships/chart" Target="../charts/chart14.xml"/><Relationship Id="rId4" Type="http://schemas.openxmlformats.org/officeDocument/2006/relationships/chart" Target="../charts/chart15.xml"/><Relationship Id="rId1" Type="http://schemas.openxmlformats.org/officeDocument/2006/relationships/slideLayout" Target="../slideLayouts/slideLayout2.xml"/><Relationship Id="rId2" Type="http://schemas.openxmlformats.org/officeDocument/2006/relationships/chart" Target="../charts/chart13.xml"/></Relationships>
</file>

<file path=ppt/slides/_rels/slide11.xml.rels><?xml version="1.0" encoding="UTF-8" standalone="yes"?>
<Relationships xmlns="http://schemas.openxmlformats.org/package/2006/relationships"><Relationship Id="rId3" Type="http://schemas.openxmlformats.org/officeDocument/2006/relationships/chart" Target="../charts/chart17.xml"/><Relationship Id="rId4" Type="http://schemas.openxmlformats.org/officeDocument/2006/relationships/chart" Target="../charts/chart18.xml"/><Relationship Id="rId1" Type="http://schemas.openxmlformats.org/officeDocument/2006/relationships/slideLayout" Target="../slideLayouts/slideLayout2.xml"/><Relationship Id="rId2" Type="http://schemas.openxmlformats.org/officeDocument/2006/relationships/chart" Target="../charts/chart16.xml"/></Relationships>
</file>

<file path=ppt/slides/_rels/slide12.xml.rels><?xml version="1.0" encoding="UTF-8" standalone="yes"?>
<Relationships xmlns="http://schemas.openxmlformats.org/package/2006/relationships"><Relationship Id="rId3" Type="http://schemas.openxmlformats.org/officeDocument/2006/relationships/chart" Target="../charts/chart20.xml"/><Relationship Id="rId4" Type="http://schemas.openxmlformats.org/officeDocument/2006/relationships/chart" Target="../charts/chart21.xml"/><Relationship Id="rId1" Type="http://schemas.openxmlformats.org/officeDocument/2006/relationships/slideLayout" Target="../slideLayouts/slideLayout2.xml"/><Relationship Id="rId2" Type="http://schemas.openxmlformats.org/officeDocument/2006/relationships/chart" Target="../charts/char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The Effect of Exchange Rate Volatility on FDI</a:t>
            </a:r>
            <a:endParaRPr lang="en-US" dirty="0"/>
          </a:p>
        </p:txBody>
      </p:sp>
      <p:sp>
        <p:nvSpPr>
          <p:cNvPr id="3" name="Subtitle 2"/>
          <p:cNvSpPr>
            <a:spLocks noGrp="1"/>
          </p:cNvSpPr>
          <p:nvPr>
            <p:ph type="subTitle" idx="1"/>
          </p:nvPr>
        </p:nvSpPr>
        <p:spPr/>
        <p:txBody>
          <a:bodyPr>
            <a:normAutofit/>
          </a:bodyPr>
          <a:lstStyle/>
          <a:p>
            <a:r>
              <a:rPr lang="en-US" dirty="0" smtClean="0"/>
              <a:t>By: James Chiu</a:t>
            </a:r>
          </a:p>
          <a:p>
            <a:r>
              <a:rPr lang="en-US" dirty="0" smtClean="0"/>
              <a:t>Econ 249A –  March 1, 2010</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of Contents</a:t>
            </a:r>
            <a:endParaRPr lang="en-US" dirty="0"/>
          </a:p>
        </p:txBody>
      </p:sp>
      <p:sp>
        <p:nvSpPr>
          <p:cNvPr id="3" name="Content Placeholder 2"/>
          <p:cNvSpPr>
            <a:spLocks noGrp="1"/>
          </p:cNvSpPr>
          <p:nvPr>
            <p:ph idx="1"/>
          </p:nvPr>
        </p:nvSpPr>
        <p:spPr/>
        <p:txBody>
          <a:bodyPr/>
          <a:lstStyle/>
          <a:p>
            <a:r>
              <a:rPr lang="en-US" dirty="0" smtClean="0"/>
              <a:t>Introduction</a:t>
            </a:r>
          </a:p>
          <a:p>
            <a:r>
              <a:rPr lang="en-US" dirty="0" smtClean="0"/>
              <a:t>Literature Review</a:t>
            </a:r>
          </a:p>
          <a:p>
            <a:r>
              <a:rPr lang="en-US" dirty="0" smtClean="0"/>
              <a:t>Data</a:t>
            </a:r>
          </a:p>
          <a:p>
            <a:r>
              <a:rPr lang="en-US" dirty="0" smtClean="0"/>
              <a:t>Data Analysis</a:t>
            </a:r>
          </a:p>
          <a:p>
            <a:r>
              <a:rPr lang="en-US" dirty="0" smtClean="0"/>
              <a:t>Technical Analysis</a:t>
            </a:r>
          </a:p>
          <a:p>
            <a:r>
              <a:rPr lang="en-US" dirty="0" smtClean="0"/>
              <a:t>Conclusion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Foreign Direct Investment has become an increasingly important form of global business pursued by many multinational enterprises.</a:t>
            </a:r>
          </a:p>
          <a:p>
            <a:r>
              <a:rPr lang="en-US" dirty="0" smtClean="0"/>
              <a:t>This growth of Foreign Direct Investment has become a driving force of economic development in many growing countries through the benefits of technology transfer and increased productivity. </a:t>
            </a:r>
          </a:p>
          <a:p>
            <a:r>
              <a:rPr lang="en-US" dirty="0" smtClean="0"/>
              <a:t>For the investing firm Foreign Direct Investment allows for more efficient allocation of resources. </a:t>
            </a:r>
          </a:p>
          <a:p>
            <a:r>
              <a:rPr lang="en-US" dirty="0" smtClean="0"/>
              <a:t>As a result exchange rates can affect expected future profits of these multinational firms through uncertainty, which can have an adverse effect on Foreign Direct Investment decisions.</a:t>
            </a:r>
          </a:p>
          <a:p>
            <a:r>
              <a:rPr lang="en-US" dirty="0" smtClean="0"/>
              <a:t>Through my analysis I expect to see a positive correlation between host country depreciation and Foreign Direct Investment.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Literature Review</a:t>
            </a:r>
            <a:endParaRPr lang="en-US" dirty="0"/>
          </a:p>
        </p:txBody>
      </p:sp>
      <p:sp>
        <p:nvSpPr>
          <p:cNvPr id="3" name="Content Placeholder 2"/>
          <p:cNvSpPr>
            <a:spLocks noGrp="1"/>
          </p:cNvSpPr>
          <p:nvPr>
            <p:ph idx="1"/>
          </p:nvPr>
        </p:nvSpPr>
        <p:spPr/>
        <p:txBody>
          <a:bodyPr/>
          <a:lstStyle/>
          <a:p>
            <a:r>
              <a:rPr lang="en-US" dirty="0" smtClean="0"/>
              <a:t>Schmidt, Christian W., </a:t>
            </a:r>
            <a:r>
              <a:rPr lang="en-US" dirty="0" err="1" smtClean="0"/>
              <a:t>Broll</a:t>
            </a:r>
            <a:r>
              <a:rPr lang="en-US" dirty="0" smtClean="0"/>
              <a:t>, </a:t>
            </a:r>
            <a:r>
              <a:rPr lang="en-US" dirty="0" err="1" smtClean="0"/>
              <a:t>Udo</a:t>
            </a:r>
            <a:r>
              <a:rPr lang="en-US" dirty="0" smtClean="0"/>
              <a:t>. (2009) The Effect of Exchange Rate Risk on U.S. Foreign Direct Investment: An Empirical Analysis. </a:t>
            </a:r>
            <a:r>
              <a:rPr lang="en-US" i="1" dirty="0" smtClean="0"/>
              <a:t>Dresden Discussion Paper in Economics No. 09/08</a:t>
            </a:r>
            <a:r>
              <a:rPr lang="en-US" dirty="0" smtClean="0"/>
              <a:t>.</a:t>
            </a:r>
          </a:p>
          <a:p>
            <a:r>
              <a:rPr lang="en-US" dirty="0" smtClean="0"/>
              <a:t>Goldberg, Linda S. (2006).Exchange Rates and Foreign Direct Investment. </a:t>
            </a:r>
            <a:r>
              <a:rPr lang="en-US" i="1" dirty="0" smtClean="0"/>
              <a:t>Princeton Encyclopedia of the World Economy</a:t>
            </a:r>
            <a:r>
              <a:rPr lang="en-US" dirty="0" smtClean="0"/>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a:t>
            </a:r>
            <a:endParaRPr lang="en-US" dirty="0"/>
          </a:p>
        </p:txBody>
      </p:sp>
      <p:sp>
        <p:nvSpPr>
          <p:cNvPr id="3" name="Content Placeholder 2"/>
          <p:cNvSpPr>
            <a:spLocks noGrp="1"/>
          </p:cNvSpPr>
          <p:nvPr>
            <p:ph idx="1"/>
          </p:nvPr>
        </p:nvSpPr>
        <p:spPr/>
        <p:txBody>
          <a:bodyPr>
            <a:normAutofit/>
          </a:bodyPr>
          <a:lstStyle/>
          <a:p>
            <a:r>
              <a:rPr lang="en-US" dirty="0" smtClean="0"/>
              <a:t>Gathered Data for 7 countries in East and Southeast Asia including: China, Hong Kong, Japan, Korea, Singapore, Taiwan and Thailand.</a:t>
            </a:r>
          </a:p>
          <a:p>
            <a:r>
              <a:rPr lang="en-US" dirty="0" smtClean="0"/>
              <a:t>Foreign Direct Investment from the U.S. on a historical cost basis. From the Bureau of Economic Analysis. Specifically FDI in Manufacturing Sector.</a:t>
            </a:r>
          </a:p>
          <a:p>
            <a:r>
              <a:rPr lang="en-US" dirty="0" smtClean="0"/>
              <a:t>Monthly Average Exchange rates gathered from X-rates.com. </a:t>
            </a:r>
          </a:p>
          <a:p>
            <a:pPr lvl="2"/>
            <a:r>
              <a:rPr lang="en-US" dirty="0" smtClean="0"/>
              <a:t>Volatility and yearly averages calculated from 12 month data for years 2000-2008.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Analysis (China)</a:t>
            </a:r>
            <a:endParaRPr lang="en-US" dirty="0"/>
          </a:p>
        </p:txBody>
      </p:sp>
      <p:graphicFrame>
        <p:nvGraphicFramePr>
          <p:cNvPr id="7" name="Chart 6"/>
          <p:cNvGraphicFramePr/>
          <p:nvPr/>
        </p:nvGraphicFramePr>
        <p:xfrm>
          <a:off x="97337" y="159157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nvGraphicFramePr>
        <p:xfrm>
          <a:off x="4572000" y="159157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p:cNvGraphicFramePr/>
          <p:nvPr/>
        </p:nvGraphicFramePr>
        <p:xfrm>
          <a:off x="97337"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Analysis (Hong Kong)</a:t>
            </a:r>
            <a:endParaRPr lang="en-US" dirty="0"/>
          </a:p>
        </p:txBody>
      </p:sp>
      <p:graphicFrame>
        <p:nvGraphicFramePr>
          <p:cNvPr id="4" name="Chart 3"/>
          <p:cNvGraphicFramePr/>
          <p:nvPr/>
        </p:nvGraphicFramePr>
        <p:xfrm>
          <a:off x="228600" y="1803225"/>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p:cNvGraphicFramePr/>
          <p:nvPr/>
        </p:nvGraphicFramePr>
        <p:xfrm>
          <a:off x="4572000" y="180322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p:cNvGraphicFramePr/>
          <p:nvPr/>
        </p:nvGraphicFramePr>
        <p:xfrm>
          <a:off x="228600"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Analysis (Japan)</a:t>
            </a:r>
            <a:endParaRPr lang="en-US" dirty="0"/>
          </a:p>
        </p:txBody>
      </p:sp>
      <p:graphicFrame>
        <p:nvGraphicFramePr>
          <p:cNvPr id="4" name="Chart 3"/>
          <p:cNvGraphicFramePr/>
          <p:nvPr/>
        </p:nvGraphicFramePr>
        <p:xfrm>
          <a:off x="228600" y="17526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p:nvPr/>
        </p:nvGraphicFramePr>
        <p:xfrm>
          <a:off x="4533254" y="17526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p:nvPr/>
        </p:nvGraphicFramePr>
        <p:xfrm>
          <a:off x="228600" y="394585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Data Analysis (Republic of Korea)</a:t>
            </a:r>
            <a:endParaRPr lang="en-US" dirty="0"/>
          </a:p>
        </p:txBody>
      </p:sp>
      <p:graphicFrame>
        <p:nvGraphicFramePr>
          <p:cNvPr id="4" name="Chart 3"/>
          <p:cNvGraphicFramePr/>
          <p:nvPr/>
        </p:nvGraphicFramePr>
        <p:xfrm>
          <a:off x="228600" y="16002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p:nvPr/>
        </p:nvGraphicFramePr>
        <p:xfrm>
          <a:off x="4572000" y="16002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p:nvPr/>
        </p:nvGraphicFramePr>
        <p:xfrm>
          <a:off x="228600"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Analysis (Singapore)</a:t>
            </a:r>
            <a:endParaRPr lang="en-US" dirty="0"/>
          </a:p>
        </p:txBody>
      </p:sp>
      <p:graphicFrame>
        <p:nvGraphicFramePr>
          <p:cNvPr id="4" name="Chart 3"/>
          <p:cNvGraphicFramePr/>
          <p:nvPr/>
        </p:nvGraphicFramePr>
        <p:xfrm>
          <a:off x="152400" y="16764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p:nvPr/>
        </p:nvGraphicFramePr>
        <p:xfrm>
          <a:off x="4572000" y="16764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p:nvPr/>
        </p:nvGraphicFramePr>
        <p:xfrm>
          <a:off x="152400"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Analysis (Taiwan)</a:t>
            </a:r>
            <a:endParaRPr lang="en-US" dirty="0"/>
          </a:p>
        </p:txBody>
      </p:sp>
      <p:graphicFrame>
        <p:nvGraphicFramePr>
          <p:cNvPr id="4" name="Chart 3"/>
          <p:cNvGraphicFramePr/>
          <p:nvPr/>
        </p:nvGraphicFramePr>
        <p:xfrm>
          <a:off x="228600" y="16764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p:nvPr/>
        </p:nvGraphicFramePr>
        <p:xfrm>
          <a:off x="4572000" y="16764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p:nvPr/>
        </p:nvGraphicFramePr>
        <p:xfrm>
          <a:off x="228600"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Analysis (Thailand)</a:t>
            </a:r>
            <a:endParaRPr lang="en-US" dirty="0"/>
          </a:p>
        </p:txBody>
      </p:sp>
      <p:graphicFrame>
        <p:nvGraphicFramePr>
          <p:cNvPr id="4" name="Chart 3"/>
          <p:cNvGraphicFramePr/>
          <p:nvPr/>
        </p:nvGraphicFramePr>
        <p:xfrm>
          <a:off x="228600" y="16764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p:nvPr/>
        </p:nvGraphicFramePr>
        <p:xfrm>
          <a:off x="4267200" y="16764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p:nvPr/>
        </p:nvGraphicFramePr>
        <p:xfrm>
          <a:off x="228600"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Technical Analysis</a:t>
            </a:r>
            <a:endParaRPr lang="en-US" dirty="0"/>
          </a:p>
        </p:txBody>
      </p:sp>
      <p:sp>
        <p:nvSpPr>
          <p:cNvPr id="3" name="Content Placeholder 2"/>
          <p:cNvSpPr>
            <a:spLocks noGrp="1"/>
          </p:cNvSpPr>
          <p:nvPr>
            <p:ph idx="1"/>
          </p:nvPr>
        </p:nvSpPr>
        <p:spPr/>
        <p:txBody>
          <a:bodyPr/>
          <a:lstStyle/>
          <a:p>
            <a:r>
              <a:rPr lang="en-US" dirty="0" smtClean="0"/>
              <a:t>Conceptual Framework</a:t>
            </a:r>
          </a:p>
          <a:p>
            <a:pPr lvl="1"/>
            <a:r>
              <a:rPr lang="en-US" dirty="0" err="1" smtClean="0"/>
              <a:t>LogFDI</a:t>
            </a:r>
            <a:r>
              <a:rPr lang="en-US" dirty="0" smtClean="0"/>
              <a:t> = ß0+ ß1AR(1) + ß2 XV +ß3 XA</a:t>
            </a:r>
          </a:p>
          <a:p>
            <a:pPr lvl="1"/>
            <a:r>
              <a:rPr lang="en-US" dirty="0" smtClean="0"/>
              <a:t>AR(1) = Autoregressive, Lag 1</a:t>
            </a:r>
          </a:p>
          <a:p>
            <a:pPr lvl="1"/>
            <a:r>
              <a:rPr lang="en-US" dirty="0" smtClean="0"/>
              <a:t>XV = Exchange Rate Volatility</a:t>
            </a:r>
          </a:p>
          <a:p>
            <a:pPr lvl="1"/>
            <a:r>
              <a:rPr lang="en-US" dirty="0" smtClean="0"/>
              <a:t>XA = Average Yearly Exchange Rate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Techinical</a:t>
            </a:r>
            <a:r>
              <a:rPr lang="en-US" dirty="0" smtClean="0"/>
              <a:t> Analysis Regression Output</a:t>
            </a:r>
            <a:endParaRPr lang="en-US" dirty="0"/>
          </a:p>
        </p:txBody>
      </p:sp>
      <p:pic>
        <p:nvPicPr>
          <p:cNvPr id="4" name="Content Placeholder 3" descr="Screen shot 2010-03-01 at 12.51.37 PM.png"/>
          <p:cNvPicPr>
            <a:picLocks noGrp="1" noChangeAspect="1"/>
          </p:cNvPicPr>
          <p:nvPr>
            <p:ph idx="1"/>
          </p:nvPr>
        </p:nvPicPr>
        <p:blipFill>
          <a:blip r:embed="rId2"/>
          <a:srcRect l="-53736" r="-53736"/>
          <a:stretch>
            <a:fillRect/>
          </a:stretch>
        </p:blipFill>
        <p:spPr>
          <a:xfrm>
            <a:off x="304800" y="1752600"/>
            <a:ext cx="8610599" cy="4876800"/>
          </a:xfr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Technical Analysis Highlighted</a:t>
            </a:r>
            <a:endParaRPr lang="en-US" dirty="0"/>
          </a:p>
        </p:txBody>
      </p:sp>
      <p:pic>
        <p:nvPicPr>
          <p:cNvPr id="6" name="Content Placeholder 5" descr="Screen shot 2010-03-01 at 1.14.54 PM.png"/>
          <p:cNvPicPr>
            <a:picLocks noGrp="1" noChangeAspect="1"/>
          </p:cNvPicPr>
          <p:nvPr>
            <p:ph idx="1"/>
          </p:nvPr>
        </p:nvPicPr>
        <p:blipFill>
          <a:blip r:embed="rId2"/>
          <a:srcRect l="-53710" r="-53710"/>
          <a:stretch>
            <a:fillRect/>
          </a:stretch>
        </p:blipFill>
        <p:spPr>
          <a:xfrm>
            <a:off x="228600" y="1676400"/>
            <a:ext cx="8686799" cy="4876800"/>
          </a:xfrm>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According to the data from the graphs it seems that the majority of the countries have an positive correlation for Foreign Direct Investment when there is an appreciation of the host currency and higher volatility. </a:t>
            </a:r>
          </a:p>
          <a:p>
            <a:r>
              <a:rPr lang="en-US" dirty="0" smtClean="0"/>
              <a:t>This result goes against interest rate parity conditions.</a:t>
            </a:r>
          </a:p>
          <a:p>
            <a:r>
              <a:rPr lang="en-US" dirty="0" smtClean="0"/>
              <a:t>But, according to the regression results, the majority of the exchange rate volatility and average exchange rate parameter estimates do not pass the 95% confidence interval.</a:t>
            </a:r>
          </a:p>
          <a:p>
            <a:r>
              <a:rPr lang="en-US" dirty="0" smtClean="0"/>
              <a:t>As a result these estimates do not clearly show that an appreciation in the host country exchange rate and higher volatility would increase Foreign Direct Investment.</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and Comments</a:t>
            </a:r>
            <a:endParaRPr lang="en-US" dirty="0"/>
          </a:p>
        </p:txBody>
      </p:sp>
      <p:sp>
        <p:nvSpPr>
          <p:cNvPr id="3" name="Content Placeholder 2"/>
          <p:cNvSpPr>
            <a:spLocks noGrp="1"/>
          </p:cNvSpPr>
          <p:nvPr>
            <p:ph idx="1"/>
          </p:nvPr>
        </p:nvSpPr>
        <p:spPr/>
        <p:txBody>
          <a:bodyPr>
            <a:normAutofit/>
          </a:bodyPr>
          <a:lstStyle/>
          <a:p>
            <a:pPr algn="ctr">
              <a:buNone/>
            </a:pPr>
            <a:r>
              <a:rPr lang="en-US" sz="20000" dirty="0" smtClean="0"/>
              <a:t>?</a:t>
            </a:r>
            <a:endParaRPr lang="en-US" sz="200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xel">
  <a:themeElements>
    <a:clrScheme name="Pixel">
      <a:dk1>
        <a:srgbClr val="FFFFFF"/>
      </a:dk1>
      <a:lt1>
        <a:srgbClr val="103154"/>
      </a:lt1>
      <a:dk2>
        <a:srgbClr val="0096FF"/>
      </a:dk2>
      <a:lt2>
        <a:srgbClr val="87FDFF"/>
      </a:lt2>
      <a:accent1>
        <a:srgbClr val="FF7F01"/>
      </a:accent1>
      <a:accent2>
        <a:srgbClr val="F1B015"/>
      </a:accent2>
      <a:accent3>
        <a:srgbClr val="FBEC85"/>
      </a:accent3>
      <a:accent4>
        <a:srgbClr val="D2C2F1"/>
      </a:accent4>
      <a:accent5>
        <a:srgbClr val="DA5AF4"/>
      </a:accent5>
      <a:accent6>
        <a:srgbClr val="9D09D1"/>
      </a:accent6>
      <a:hlink>
        <a:srgbClr val="1286C9"/>
      </a:hlink>
      <a:folHlink>
        <a:srgbClr val="A8C2E7"/>
      </a:folHlink>
    </a:clrScheme>
    <a:fontScheme name="Pixel">
      <a:majorFont>
        <a:latin typeface="Corbel"/>
        <a:ea typeface=""/>
        <a:cs typeface=""/>
        <a:font script="Jpan" typeface="メイリオ"/>
      </a:majorFont>
      <a:minorFont>
        <a:latin typeface="Corbel"/>
        <a:ea typeface=""/>
        <a:cs typeface=""/>
        <a:font script="Jpan" typeface="メイリオ"/>
      </a:minorFont>
    </a:fontScheme>
    <a:fmtScheme name="Pixel">
      <a:fillStyleLst>
        <a:solidFill>
          <a:schemeClr val="phClr"/>
        </a:solidFill>
        <a:solidFill>
          <a:schemeClr val="phClr">
            <a:satMod val="150000"/>
          </a:schemeClr>
        </a:solidFill>
        <a:solidFill>
          <a:schemeClr val="phClr">
            <a:shade val="80000"/>
            <a:lumMod val="90000"/>
          </a:scheme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50800" cap="flat" cmpd="sng" algn="ctr">
          <a:solidFill>
            <a:schemeClr val="phClr">
              <a:alpha val="80000"/>
            </a:schemeClr>
          </a:solidFill>
          <a:prstDash val="solid"/>
        </a:ln>
      </a:lnStyleLst>
      <a:effectStyleLst>
        <a:effectStyle>
          <a:effectLst/>
        </a:effectStyle>
        <a:effectStyle>
          <a:effectLst>
            <a:outerShdw blurRad="50800" dist="63500" dir="2700000" sx="102000" sy="102000" rotWithShape="0">
              <a:srgbClr val="000000">
                <a:alpha val="50000"/>
              </a:srgbClr>
            </a:outerShdw>
          </a:effectLst>
          <a:scene3d>
            <a:camera prst="orthographicFront">
              <a:rot lat="0" lon="0" rev="0"/>
            </a:camera>
            <a:lightRig rig="glow" dir="tl"/>
          </a:scene3d>
          <a:sp3d>
            <a:bevelT w="0" h="0"/>
          </a:sp3d>
        </a:effectStyle>
        <a:effectStyle>
          <a:effectLst>
            <a:outerShdw blurRad="63500" dist="38100" dir="3600000" sx="103000" sy="103000" rotWithShape="0">
              <a:srgbClr val="000000">
                <a:alpha val="60000"/>
              </a:srgbClr>
            </a:outerShdw>
          </a:effectLst>
          <a:scene3d>
            <a:camera prst="orthographicFront">
              <a:rot lat="0" lon="0" rev="0"/>
            </a:camera>
            <a:lightRig rig="flat" dir="t">
              <a:rot lat="0" lon="0" rev="5400000"/>
            </a:lightRig>
          </a:scene3d>
          <a:sp3d prstMaterial="softmetal">
            <a:bevelT w="63500" h="38100"/>
          </a:sp3d>
        </a:effectStyle>
      </a:effectStyleLst>
      <a:bgFillStyleLst>
        <a:solidFill>
          <a:schemeClr val="phClr"/>
        </a:solidFill>
        <a:gradFill rotWithShape="1">
          <a:gsLst>
            <a:gs pos="0">
              <a:schemeClr val="phClr">
                <a:tint val="100000"/>
                <a:shade val="95000"/>
                <a:satMod val="350000"/>
              </a:schemeClr>
            </a:gs>
            <a:gs pos="100000">
              <a:schemeClr val="phClr">
                <a:shade val="20000"/>
                <a:satMod val="150000"/>
              </a:schemeClr>
            </a:gs>
          </a:gsLst>
          <a:lin ang="5400000" scaled="0"/>
        </a:gradFill>
        <a:blipFill rotWithShape="1">
          <a:blip xmlns:r="http://schemas.openxmlformats.org/officeDocument/2006/relationships" r:embed="rId1">
            <a:duotone>
              <a:schemeClr val="phClr">
                <a:shade val="1000"/>
                <a:satMod val="400000"/>
              </a:schemeClr>
              <a:schemeClr val="phClr">
                <a:tint val="50000"/>
                <a:satMod val="4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Pixel.thmx</Template>
  <TotalTime>1039</TotalTime>
  <Words>530</Words>
  <Application>Microsoft Macintosh PowerPoint</Application>
  <PresentationFormat>On-screen Show (4:3)</PresentationFormat>
  <Paragraphs>67</Paragraphs>
  <Slides>17</Slides>
  <Notes>0</Notes>
  <HiddenSlides>0</HiddenSlides>
  <MMClips>0</MMClips>
  <ScaleCrop>false</ScaleCrop>
  <HeadingPairs>
    <vt:vector size="4" baseType="variant">
      <vt:variant>
        <vt:lpstr>Design Template</vt:lpstr>
      </vt:variant>
      <vt:variant>
        <vt:i4>1</vt:i4>
      </vt:variant>
      <vt:variant>
        <vt:lpstr>Slide Titles</vt:lpstr>
      </vt:variant>
      <vt:variant>
        <vt:i4>17</vt:i4>
      </vt:variant>
    </vt:vector>
  </HeadingPairs>
  <TitlesOfParts>
    <vt:vector size="18" baseType="lpstr">
      <vt:lpstr>Pixel</vt:lpstr>
      <vt:lpstr>The Effect of Exchange Rate Volatility on FDI</vt:lpstr>
      <vt:lpstr>Table of Contents</vt:lpstr>
      <vt:lpstr>Introduction</vt:lpstr>
      <vt:lpstr>Literature Review</vt:lpstr>
      <vt:lpstr>Data</vt:lpstr>
      <vt:lpstr>Data Analysis (China)</vt:lpstr>
      <vt:lpstr>Data Analysis (Hong Kong)</vt:lpstr>
      <vt:lpstr>Data Analysis (Japan)</vt:lpstr>
      <vt:lpstr>Data Analysis (Republic of Korea)</vt:lpstr>
      <vt:lpstr>Data Analysis (Singapore)</vt:lpstr>
      <vt:lpstr>Data Analysis (Taiwan)</vt:lpstr>
      <vt:lpstr>Data Analysis (Thailand)</vt:lpstr>
      <vt:lpstr>Technical Analysis</vt:lpstr>
      <vt:lpstr>Techinical Analysis Regression Output</vt:lpstr>
      <vt:lpstr>Technical Analysis Highlighted</vt:lpstr>
      <vt:lpstr>Conclusion</vt:lpstr>
      <vt:lpstr>Questions and Comments</vt:lpstr>
    </vt:vector>
  </TitlesOfParts>
  <Company>UCSC Student</Company>
  <LinksUpToDate>false</LinksUpToDate>
  <SharedDoc>false</SharedDoc>
  <HyperlinksChanged>false</HyperlinksChanged>
  <AppVersion>12.0256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Effect of Exchange Rate Volatility on FDI</dc:title>
  <dc:creator>JC</dc:creator>
  <cp:lastModifiedBy>JC</cp:lastModifiedBy>
  <cp:revision>5</cp:revision>
  <dcterms:created xsi:type="dcterms:W3CDTF">2010-03-01T21:12:10Z</dcterms:created>
  <dcterms:modified xsi:type="dcterms:W3CDTF">2010-03-01T21:16:06Z</dcterms:modified>
</cp:coreProperties>
</file>